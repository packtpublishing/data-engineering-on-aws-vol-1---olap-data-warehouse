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8"/>
  </p:normalViewPr>
  <p:slideViewPr>
    <p:cSldViewPr snapToGrid="0" snapToObjects="1">
      <p:cViewPr varScale="1">
        <p:scale>
          <a:sx n="90" d="100"/>
          <a:sy n="90" d="100"/>
        </p:scale>
        <p:origin x="2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ADFE-D307-714F-BCB1-39A4E266B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E4E51-E5D4-9348-A2A0-41F613A58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6AC4-9EB7-5B46-AF7D-CD5FDD58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2ECF8-0C0B-3F4B-B2A3-45C9893B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274D-D5D9-0042-A691-4B5F9C82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5ACD-2AFD-E844-AEBC-B103A046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226D-7AA7-5747-A426-47D430DF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6CD9F-2D12-C54F-BE38-2DE46037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0DD6C-EC99-4D48-9AAB-82D73C3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C043-8D88-8844-B37F-595BDD50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28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0083-7240-074E-A4ED-EC161D0A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C64B-8984-4945-AC4B-8673AFDCA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7B6D-E421-D544-A720-4692DCD1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47E83-6985-E145-9D59-AAB7F5CB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967D-41C1-7645-8252-77B061F4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9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BBBB-E4AD-E44A-AA1E-9159AF66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E8260-8FE5-4C4C-8387-B46AF5476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EB522-C037-D648-9754-4E3F18758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7A9A1-B860-3547-988F-0FC83CDB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D4CB7-074E-044D-B0FC-051FB382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43034-3755-7247-AC0C-8C498B04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3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1757-14CF-5749-A4E1-C8606358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4D034-E237-4743-A0BC-5835CD083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6D563-5F85-C44B-8321-1D8FA8410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1B0CD-5101-7346-9947-A64789DA3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2597A-FC49-E14E-A02E-926A190B6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DE657-A46E-9643-92BB-0786F721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45BC2-096F-0345-AE2A-5ECC03B7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7DBF2-B731-3B49-9A81-509397B9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0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975D-8976-F848-98B9-A136EE0F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48BCE-BA00-0842-8B3A-D3093C3E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74CE7-5F53-0649-BE10-41640E05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C3AA4-E1CD-084D-929A-2EA7916E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1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41E0D-E257-9C4D-8E58-4325240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85226-1852-D444-9D99-566A54AD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456CE-19E6-EC46-97BF-48B374D1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3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AAC0-A195-CB49-B85E-39BACD6D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D9CA-D2D6-FF44-9C43-1638964B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48787-8214-EE4E-9CC8-79A15E33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89B96-D63F-3548-B10C-C77DB87E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079FC-F7CD-AE43-8904-2A1D842D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192EB-299C-174B-93BB-C1BC11A9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3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1552-BDB4-5E47-8BF7-4D4F9004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DFC3B-83AF-6942-A5BF-BD6299F0F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A8784-6466-DD47-9D3C-A154B2C0D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FE462-0B5E-0846-8557-B4C57789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20A24-22F9-7744-98B4-C11ABE87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DFF8F-995D-A742-9A26-273C0A32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7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58FA-26F7-5F45-8DA1-50C5CBE7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9CD94-02FE-DF4D-B04D-F2981151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502C-37EB-E94B-922A-9D86CD8A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90590-4B88-9048-9653-9BA32574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44139-2710-1E40-B030-1BCF1E5F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1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DF969-72F6-D948-BD87-14B49EFC0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9AC3D-B30C-4E41-84C4-DDDE604DB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355E-8C94-3D45-8636-717B98B0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A300-9EBD-F74C-802A-7972186B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819D7-6012-454E-90B4-E50BF736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31F5F-F4D0-3046-85D3-3312E260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58F6-76BF-3948-8800-92B3D910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A016-FE76-EB43-AEDA-692A55B11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E9101-D032-5741-A8AE-84BE5F8F4BEC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5FC82-7110-FB45-9256-1DB7DC71F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0BF4-1761-4742-94CC-4B52C02F1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488A-2C15-784A-A29B-C7F6BD7DD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597" y="2252818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File Formats</a:t>
            </a:r>
          </a:p>
        </p:txBody>
      </p:sp>
    </p:spTree>
    <p:extLst>
      <p:ext uri="{BB962C8B-B14F-4D97-AF65-F5344CB8AC3E}">
        <p14:creationId xmlns:p14="http://schemas.microsoft.com/office/powerpoint/2010/main" val="91040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Parquet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CSV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51568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What is File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88"/>
            <a:ext cx="9720263" cy="50006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Encoding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Putting a sequence of characters in specialized format.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Converting data into a different format. Convert from one form to another.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File Format – How records are encoded in a file.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Types: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Parquet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CSV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JSON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ORC</a:t>
            </a:r>
          </a:p>
          <a:p>
            <a:pPr lvl="1"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02386-6737-8D4D-93A1-E0EA6690C698}"/>
              </a:ext>
            </a:extLst>
          </p:cNvPr>
          <p:cNvSpPr/>
          <p:nvPr/>
        </p:nvSpPr>
        <p:spPr>
          <a:xfrm>
            <a:off x="3971925" y="3714750"/>
            <a:ext cx="1400175" cy="571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Hadoop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4341D-7430-E341-8D74-78D7CAF97D83}"/>
              </a:ext>
            </a:extLst>
          </p:cNvPr>
          <p:cNvSpPr/>
          <p:nvPr/>
        </p:nvSpPr>
        <p:spPr>
          <a:xfrm>
            <a:off x="7429500" y="3700462"/>
            <a:ext cx="2286000" cy="600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H@a@d@2o@p@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AFE57-0374-EB46-8BF7-829CD5D6D092}"/>
              </a:ext>
            </a:extLst>
          </p:cNvPr>
          <p:cNvSpPr/>
          <p:nvPr/>
        </p:nvSpPr>
        <p:spPr>
          <a:xfrm>
            <a:off x="7429500" y="4624387"/>
            <a:ext cx="2286000" cy="600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Roman" panose="02000503020000020003" pitchFamily="2" charset="0"/>
              </a:rPr>
              <a:t>H_a_d_o_o_p</a:t>
            </a:r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_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75FE1-C411-5A47-86FA-C685BE4A5493}"/>
              </a:ext>
            </a:extLst>
          </p:cNvPr>
          <p:cNvSpPr/>
          <p:nvPr/>
        </p:nvSpPr>
        <p:spPr>
          <a:xfrm>
            <a:off x="7429500" y="5586411"/>
            <a:ext cx="2286000" cy="600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Hadoop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8A06E9-99C0-D04A-9378-6FAF4E5C6D4C}"/>
              </a:ext>
            </a:extLst>
          </p:cNvPr>
          <p:cNvCxnSpPr/>
          <p:nvPr/>
        </p:nvCxnSpPr>
        <p:spPr>
          <a:xfrm>
            <a:off x="5372100" y="4000499"/>
            <a:ext cx="205740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4A70F1-3E3B-5244-9A4F-B0F38C5E8C2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372100" y="4000499"/>
            <a:ext cx="2057400" cy="92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92C470-EC4B-6949-883A-253BBC3A7EC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372100" y="4019549"/>
            <a:ext cx="2057400" cy="18669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8483AF-5AD8-7B42-AD0E-5CE04959867B}"/>
              </a:ext>
            </a:extLst>
          </p:cNvPr>
          <p:cNvSpPr txBox="1"/>
          <p:nvPr/>
        </p:nvSpPr>
        <p:spPr>
          <a:xfrm>
            <a:off x="5929312" y="3596521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parquet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014AE9-5A3E-1447-877A-C8CEABD14F49}"/>
              </a:ext>
            </a:extLst>
          </p:cNvPr>
          <p:cNvSpPr txBox="1"/>
          <p:nvPr/>
        </p:nvSpPr>
        <p:spPr>
          <a:xfrm>
            <a:off x="6400800" y="4216954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2C4133-F2E7-B145-AF31-050C9D8D07AE}"/>
              </a:ext>
            </a:extLst>
          </p:cNvPr>
          <p:cNvSpPr txBox="1"/>
          <p:nvPr/>
        </p:nvSpPr>
        <p:spPr>
          <a:xfrm>
            <a:off x="5743575" y="4954071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csv</a:t>
            </a:r>
          </a:p>
        </p:txBody>
      </p:sp>
    </p:spTree>
    <p:extLst>
      <p:ext uri="{BB962C8B-B14F-4D97-AF65-F5344CB8AC3E}">
        <p14:creationId xmlns:p14="http://schemas.microsoft.com/office/powerpoint/2010/main" val="35327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Parquet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5288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Columnar Storage.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Chunk file into row groups.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Columns of row groups are stored together in pages.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Schema is stored along with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73EEB-E3AD-4949-981B-4BF5FD668162}"/>
              </a:ext>
            </a:extLst>
          </p:cNvPr>
          <p:cNvSpPr/>
          <p:nvPr/>
        </p:nvSpPr>
        <p:spPr>
          <a:xfrm>
            <a:off x="6419851" y="1042197"/>
            <a:ext cx="1271588" cy="19800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1000 rows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D8B63-2E45-2B41-9230-9BE31570592D}"/>
              </a:ext>
            </a:extLst>
          </p:cNvPr>
          <p:cNvSpPr/>
          <p:nvPr/>
        </p:nvSpPr>
        <p:spPr>
          <a:xfrm>
            <a:off x="8410577" y="1042196"/>
            <a:ext cx="1271588" cy="404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85DA4D-84F7-944D-80C2-78556A5D1800}"/>
              </a:ext>
            </a:extLst>
          </p:cNvPr>
          <p:cNvSpPr/>
          <p:nvPr/>
        </p:nvSpPr>
        <p:spPr>
          <a:xfrm>
            <a:off x="8410577" y="1567262"/>
            <a:ext cx="1271588" cy="404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39B85-B414-D54A-9CEF-EBEA96713964}"/>
              </a:ext>
            </a:extLst>
          </p:cNvPr>
          <p:cNvSpPr/>
          <p:nvPr/>
        </p:nvSpPr>
        <p:spPr>
          <a:xfrm>
            <a:off x="8410577" y="2092328"/>
            <a:ext cx="1271588" cy="404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920EAA-5D5B-4344-8CAC-E5CA3C0DD837}"/>
              </a:ext>
            </a:extLst>
          </p:cNvPr>
          <p:cNvSpPr/>
          <p:nvPr/>
        </p:nvSpPr>
        <p:spPr>
          <a:xfrm>
            <a:off x="8410577" y="2617394"/>
            <a:ext cx="1271588" cy="404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C3AB8-BACF-3545-928D-862D1C849C29}"/>
              </a:ext>
            </a:extLst>
          </p:cNvPr>
          <p:cNvSpPr txBox="1"/>
          <p:nvPr/>
        </p:nvSpPr>
        <p:spPr>
          <a:xfrm>
            <a:off x="10467976" y="1616477"/>
            <a:ext cx="120015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Row Groups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99F686-0E93-6E43-B005-8E4C847C28C4}"/>
              </a:ext>
            </a:extLst>
          </p:cNvPr>
          <p:cNvCxnSpPr>
            <a:stCxn id="9" idx="1"/>
            <a:endCxn id="5" idx="3"/>
          </p:cNvCxnSpPr>
          <p:nvPr/>
        </p:nvCxnSpPr>
        <p:spPr>
          <a:xfrm flipH="1" flipV="1">
            <a:off x="9682165" y="1244602"/>
            <a:ext cx="785811" cy="6950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0F1365-3C9D-D64B-BC5C-E6BAF32A3A66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9682166" y="1807371"/>
            <a:ext cx="785810" cy="13227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3B1192-5FA1-644A-B08C-D05C089360BF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9682165" y="1939643"/>
            <a:ext cx="785811" cy="3550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B07E0-FA1A-8043-A6F2-0419074460C6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9682165" y="1939643"/>
            <a:ext cx="785811" cy="8801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559614E-1584-BA46-B5F0-26DBEEC55719}"/>
              </a:ext>
            </a:extLst>
          </p:cNvPr>
          <p:cNvSpPr/>
          <p:nvPr/>
        </p:nvSpPr>
        <p:spPr>
          <a:xfrm>
            <a:off x="5386388" y="3699279"/>
            <a:ext cx="6281738" cy="16585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6E94BA-E39B-F54F-A002-07D9E4AFE684}"/>
              </a:ext>
            </a:extLst>
          </p:cNvPr>
          <p:cNvSpPr/>
          <p:nvPr/>
        </p:nvSpPr>
        <p:spPr>
          <a:xfrm>
            <a:off x="5657850" y="4057650"/>
            <a:ext cx="1257300" cy="1094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Column1 for row 1 to 250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162620-F168-014D-AAE1-20D46900A57C}"/>
              </a:ext>
            </a:extLst>
          </p:cNvPr>
          <p:cNvSpPr/>
          <p:nvPr/>
        </p:nvSpPr>
        <p:spPr>
          <a:xfrm>
            <a:off x="7133036" y="4057650"/>
            <a:ext cx="1257300" cy="1094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Column2 for row 1 to 250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C780EF-A0AF-8042-9FF7-EFBBBF7859BC}"/>
              </a:ext>
            </a:extLst>
          </p:cNvPr>
          <p:cNvSpPr/>
          <p:nvPr/>
        </p:nvSpPr>
        <p:spPr>
          <a:xfrm>
            <a:off x="8632032" y="4067183"/>
            <a:ext cx="1257300" cy="1094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Column3 for row 1 to 250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801D18-5260-EB46-B1F2-E266A469AE57}"/>
              </a:ext>
            </a:extLst>
          </p:cNvPr>
          <p:cNvSpPr/>
          <p:nvPr/>
        </p:nvSpPr>
        <p:spPr>
          <a:xfrm>
            <a:off x="10170320" y="4067183"/>
            <a:ext cx="1257300" cy="1094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Column4 for row 1 to 250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E44101-2C0F-9E4C-8078-70F916307996}"/>
              </a:ext>
            </a:extLst>
          </p:cNvPr>
          <p:cNvSpPr txBox="1"/>
          <p:nvPr/>
        </p:nvSpPr>
        <p:spPr>
          <a:xfrm>
            <a:off x="5386387" y="5531518"/>
            <a:ext cx="201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Min value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8F8033-FF8E-0C46-8127-1D3486ED64E8}"/>
              </a:ext>
            </a:extLst>
          </p:cNvPr>
          <p:cNvSpPr txBox="1"/>
          <p:nvPr/>
        </p:nvSpPr>
        <p:spPr>
          <a:xfrm>
            <a:off x="5386386" y="5903217"/>
            <a:ext cx="201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Max value</a:t>
            </a:r>
          </a:p>
        </p:txBody>
      </p:sp>
    </p:spTree>
    <p:extLst>
      <p:ext uri="{BB962C8B-B14F-4D97-AF65-F5344CB8AC3E}">
        <p14:creationId xmlns:p14="http://schemas.microsoft.com/office/powerpoint/2010/main" val="3211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21" grpId="0" animBg="1"/>
      <p:bldP spid="25" grpId="0" animBg="1"/>
      <p:bldP spid="26" grpId="0" animBg="1"/>
      <p:bldP spid="28" grpId="0" animBg="1"/>
      <p:bldP spid="29" grpId="0" animBg="1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8506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Row oriented file format.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Suitable for OLTP workloads.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Data is stored in contiguous blocks.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Records are encoded using Binary or JSON.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Schema is stored with data. </a:t>
            </a: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E210A9-9A83-7946-B7ED-CD05DDD9398E}"/>
              </a:ext>
            </a:extLst>
          </p:cNvPr>
          <p:cNvSpPr/>
          <p:nvPr/>
        </p:nvSpPr>
        <p:spPr>
          <a:xfrm>
            <a:off x="6505576" y="1527972"/>
            <a:ext cx="1271588" cy="1215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1000 rows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ADC81A-5C66-AE41-9464-2223F03A25C7}"/>
              </a:ext>
            </a:extLst>
          </p:cNvPr>
          <p:cNvGrpSpPr/>
          <p:nvPr/>
        </p:nvGrpSpPr>
        <p:grpSpPr>
          <a:xfrm>
            <a:off x="6505575" y="3171826"/>
            <a:ext cx="5257804" cy="637383"/>
            <a:chOff x="6505575" y="3171826"/>
            <a:chExt cx="5257804" cy="6373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79FE4D-3D7E-084A-8AEF-C81BBD8CD131}"/>
                </a:ext>
              </a:extLst>
            </p:cNvPr>
            <p:cNvSpPr/>
            <p:nvPr/>
          </p:nvSpPr>
          <p:spPr>
            <a:xfrm>
              <a:off x="6505575" y="3194847"/>
              <a:ext cx="5257803" cy="5913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venir Roman" panose="02000503020000020003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DC32659-FC0D-DF48-B729-820ADE6FCB6B}"/>
                </a:ext>
              </a:extLst>
            </p:cNvPr>
            <p:cNvCxnSpPr/>
            <p:nvPr/>
          </p:nvCxnSpPr>
          <p:spPr>
            <a:xfrm>
              <a:off x="7777164" y="3186113"/>
              <a:ext cx="0" cy="614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14807CE-5DE0-A146-AB5F-AB3C14FFCC02}"/>
                </a:ext>
              </a:extLst>
            </p:cNvPr>
            <p:cNvCxnSpPr/>
            <p:nvPr/>
          </p:nvCxnSpPr>
          <p:spPr>
            <a:xfrm>
              <a:off x="8815389" y="3171826"/>
              <a:ext cx="0" cy="614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A4D9E91-39CE-F442-BF7A-67F630A384A3}"/>
                </a:ext>
              </a:extLst>
            </p:cNvPr>
            <p:cNvCxnSpPr/>
            <p:nvPr/>
          </p:nvCxnSpPr>
          <p:spPr>
            <a:xfrm>
              <a:off x="9786939" y="3194847"/>
              <a:ext cx="0" cy="614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D22E8A-1BF0-654C-9D61-41E9579C361E}"/>
                </a:ext>
              </a:extLst>
            </p:cNvPr>
            <p:cNvCxnSpPr/>
            <p:nvPr/>
          </p:nvCxnSpPr>
          <p:spPr>
            <a:xfrm>
              <a:off x="10772777" y="3194847"/>
              <a:ext cx="0" cy="614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8D06EE-6AC3-0D45-8E37-BDB611887A2A}"/>
                </a:ext>
              </a:extLst>
            </p:cNvPr>
            <p:cNvSpPr txBox="1"/>
            <p:nvPr/>
          </p:nvSpPr>
          <p:spPr>
            <a:xfrm>
              <a:off x="6627020" y="3317362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Header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8AE1AE-FF32-CF42-AD2A-EA18DC9714CA}"/>
                </a:ext>
              </a:extLst>
            </p:cNvPr>
            <p:cNvSpPr txBox="1"/>
            <p:nvPr/>
          </p:nvSpPr>
          <p:spPr>
            <a:xfrm>
              <a:off x="7765259" y="3317362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Block1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9DA729-E53C-ED42-AB5F-961A6D98A808}"/>
                </a:ext>
              </a:extLst>
            </p:cNvPr>
            <p:cNvSpPr txBox="1"/>
            <p:nvPr/>
          </p:nvSpPr>
          <p:spPr>
            <a:xfrm>
              <a:off x="8770146" y="332639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Block2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61EB0E-89C0-5643-A6E5-82C66EC03EAA}"/>
                </a:ext>
              </a:extLst>
            </p:cNvPr>
            <p:cNvSpPr txBox="1"/>
            <p:nvPr/>
          </p:nvSpPr>
          <p:spPr>
            <a:xfrm>
              <a:off x="10734679" y="3312362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Block4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0C2D42-D687-2641-85D8-0F8D95F533A5}"/>
                </a:ext>
              </a:extLst>
            </p:cNvPr>
            <p:cNvSpPr txBox="1"/>
            <p:nvPr/>
          </p:nvSpPr>
          <p:spPr>
            <a:xfrm>
              <a:off x="9770271" y="3305851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Block3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5859B9-916E-7649-B7CB-F6DBC8CB7872}"/>
              </a:ext>
            </a:extLst>
          </p:cNvPr>
          <p:cNvGrpSpPr/>
          <p:nvPr/>
        </p:nvGrpSpPr>
        <p:grpSpPr>
          <a:xfrm>
            <a:off x="7643815" y="4237835"/>
            <a:ext cx="3864782" cy="1405728"/>
            <a:chOff x="7643815" y="4237835"/>
            <a:chExt cx="3864782" cy="140572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7E4C88-2EF6-5A4B-BEC5-7AE0633490B1}"/>
                </a:ext>
              </a:extLst>
            </p:cNvPr>
            <p:cNvSpPr/>
            <p:nvPr/>
          </p:nvSpPr>
          <p:spPr>
            <a:xfrm>
              <a:off x="7643815" y="4237835"/>
              <a:ext cx="3864782" cy="14057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venir Roman" panose="02000503020000020003" pitchFamily="2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76FD9ED-6A9C-384C-967C-F9B83DA7F53F}"/>
                </a:ext>
              </a:extLst>
            </p:cNvPr>
            <p:cNvCxnSpPr>
              <a:cxnSpLocks/>
            </p:cNvCxnSpPr>
            <p:nvPr/>
          </p:nvCxnSpPr>
          <p:spPr>
            <a:xfrm>
              <a:off x="8970171" y="4237835"/>
              <a:ext cx="0" cy="14057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80C66E-DBC4-DE4C-A7B6-8119808EE1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06054" y="4237835"/>
              <a:ext cx="0" cy="14057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CB8EE2-2DCE-A341-B67F-CB248F291748}"/>
                </a:ext>
              </a:extLst>
            </p:cNvPr>
            <p:cNvSpPr txBox="1"/>
            <p:nvPr/>
          </p:nvSpPr>
          <p:spPr>
            <a:xfrm>
              <a:off x="7777164" y="4429126"/>
              <a:ext cx="107156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Roman" panose="02000503020000020003" pitchFamily="2" charset="0"/>
                </a:rPr>
                <a:t>Count of records in the block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80A3D1-D48E-D947-8723-09AEF3994260}"/>
                </a:ext>
              </a:extLst>
            </p:cNvPr>
            <p:cNvSpPr txBox="1"/>
            <p:nvPr/>
          </p:nvSpPr>
          <p:spPr>
            <a:xfrm>
              <a:off x="9103512" y="4429126"/>
              <a:ext cx="120254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Roman" panose="02000503020000020003" pitchFamily="2" charset="0"/>
                </a:rPr>
                <a:t>Total size of records in the block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4BE884-A4BF-6C40-9FC3-9B9A7F37C4FC}"/>
                </a:ext>
              </a:extLst>
            </p:cNvPr>
            <p:cNvSpPr txBox="1"/>
            <p:nvPr/>
          </p:nvSpPr>
          <p:spPr>
            <a:xfrm>
              <a:off x="10348907" y="4675347"/>
              <a:ext cx="10715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Roman" panose="02000503020000020003" pitchFamily="2" charset="0"/>
                </a:rPr>
                <a:t>Actual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360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ORC (Optimized Row Columnar)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91025" cy="464661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Column oriented file format.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Rows are grouped into groups called stripes.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Columns of stripes are stored together.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Index data contains min &amp; max value for each column and row positions within each column.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Stripe footer contains the location of each data.</a:t>
            </a: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75D64E-1C3B-284E-BDA1-1532B9C3643D}"/>
              </a:ext>
            </a:extLst>
          </p:cNvPr>
          <p:cNvSpPr/>
          <p:nvPr/>
        </p:nvSpPr>
        <p:spPr>
          <a:xfrm>
            <a:off x="6600825" y="2876558"/>
            <a:ext cx="382905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venir Roman" panose="02000503020000020003" pitchFamily="2" charset="0"/>
              </a:rPr>
              <a:t>Index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86222-B54F-2C47-8AA5-84EBE166CF23}"/>
              </a:ext>
            </a:extLst>
          </p:cNvPr>
          <p:cNvSpPr/>
          <p:nvPr/>
        </p:nvSpPr>
        <p:spPr>
          <a:xfrm>
            <a:off x="6600827" y="5786437"/>
            <a:ext cx="382905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venir Roman" panose="02000503020000020003" pitchFamily="2" charset="0"/>
              </a:rPr>
              <a:t>Stripe Footer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A508C9-792A-944E-986C-548ED363EC8E}"/>
              </a:ext>
            </a:extLst>
          </p:cNvPr>
          <p:cNvGrpSpPr/>
          <p:nvPr/>
        </p:nvGrpSpPr>
        <p:grpSpPr>
          <a:xfrm>
            <a:off x="6600825" y="3611565"/>
            <a:ext cx="3829050" cy="2125665"/>
            <a:chOff x="6629400" y="2646359"/>
            <a:chExt cx="3829050" cy="2125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6E6962-1887-C644-A967-6C1093734F31}"/>
                </a:ext>
              </a:extLst>
            </p:cNvPr>
            <p:cNvSpPr/>
            <p:nvPr/>
          </p:nvSpPr>
          <p:spPr>
            <a:xfrm>
              <a:off x="6629400" y="2646359"/>
              <a:ext cx="3829050" cy="2125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Roman" panose="02000503020000020003" pitchFamily="2" charset="0"/>
                </a:rPr>
                <a:t>Row Data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85767E-E6BE-0747-A95C-3C16430952A2}"/>
                </a:ext>
              </a:extLst>
            </p:cNvPr>
            <p:cNvSpPr/>
            <p:nvPr/>
          </p:nvSpPr>
          <p:spPr>
            <a:xfrm>
              <a:off x="6929438" y="3161897"/>
              <a:ext cx="942975" cy="5957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col1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560EBD-9B39-9845-99F7-4A0E2A188662}"/>
                </a:ext>
              </a:extLst>
            </p:cNvPr>
            <p:cNvSpPr/>
            <p:nvPr/>
          </p:nvSpPr>
          <p:spPr>
            <a:xfrm>
              <a:off x="8072437" y="3161897"/>
              <a:ext cx="942975" cy="5957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col2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771615-8009-6D4A-ACA2-810B23EC26A8}"/>
                </a:ext>
              </a:extLst>
            </p:cNvPr>
            <p:cNvSpPr/>
            <p:nvPr/>
          </p:nvSpPr>
          <p:spPr>
            <a:xfrm>
              <a:off x="9272588" y="3161897"/>
              <a:ext cx="942975" cy="5957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col3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9F45C1-54C8-B342-9F16-3DBE15668E91}"/>
                </a:ext>
              </a:extLst>
            </p:cNvPr>
            <p:cNvSpPr/>
            <p:nvPr/>
          </p:nvSpPr>
          <p:spPr>
            <a:xfrm>
              <a:off x="6929438" y="3903054"/>
              <a:ext cx="942975" cy="5957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col4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D51A15-38AB-944D-87B5-1031D29137D6}"/>
                </a:ext>
              </a:extLst>
            </p:cNvPr>
            <p:cNvSpPr/>
            <p:nvPr/>
          </p:nvSpPr>
          <p:spPr>
            <a:xfrm>
              <a:off x="8072437" y="3903054"/>
              <a:ext cx="942975" cy="5957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col5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BF9766-D8A7-664E-A9B4-09406D542C9E}"/>
                </a:ext>
              </a:extLst>
            </p:cNvPr>
            <p:cNvSpPr/>
            <p:nvPr/>
          </p:nvSpPr>
          <p:spPr>
            <a:xfrm>
              <a:off x="9272588" y="3903054"/>
              <a:ext cx="942975" cy="5957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col6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71BA0EC-6809-CA45-B655-52C2CE7BD585}"/>
              </a:ext>
            </a:extLst>
          </p:cNvPr>
          <p:cNvSpPr/>
          <p:nvPr/>
        </p:nvSpPr>
        <p:spPr>
          <a:xfrm>
            <a:off x="6572250" y="1415546"/>
            <a:ext cx="1271588" cy="10686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1000 rows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63548-FD0E-1049-8B87-7C27577CBC09}"/>
              </a:ext>
            </a:extLst>
          </p:cNvPr>
          <p:cNvSpPr/>
          <p:nvPr/>
        </p:nvSpPr>
        <p:spPr>
          <a:xfrm>
            <a:off x="8410577" y="1422503"/>
            <a:ext cx="1271588" cy="404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DD38D4-9FF0-C645-9679-87467FAA1D3F}"/>
              </a:ext>
            </a:extLst>
          </p:cNvPr>
          <p:cNvSpPr/>
          <p:nvPr/>
        </p:nvSpPr>
        <p:spPr>
          <a:xfrm>
            <a:off x="8410577" y="2050369"/>
            <a:ext cx="1271588" cy="404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250 rows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52C7CC-EF98-6E4D-A082-61708025FAF4}"/>
              </a:ext>
            </a:extLst>
          </p:cNvPr>
          <p:cNvSpPr txBox="1"/>
          <p:nvPr/>
        </p:nvSpPr>
        <p:spPr>
          <a:xfrm>
            <a:off x="10467976" y="1616477"/>
            <a:ext cx="120015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Stripes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15D924-CF89-7A4A-9CA6-89903BC57741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9682166" y="1801143"/>
            <a:ext cx="785810" cy="62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6F6C51-E453-AA48-82C6-983C4D38C53B}"/>
              </a:ext>
            </a:extLst>
          </p:cNvPr>
          <p:cNvCxnSpPr>
            <a:cxnSpLocks/>
            <a:stCxn id="20" idx="1"/>
            <a:endCxn id="18" idx="3"/>
          </p:cNvCxnSpPr>
          <p:nvPr/>
        </p:nvCxnSpPr>
        <p:spPr>
          <a:xfrm flipH="1">
            <a:off x="9682165" y="1801143"/>
            <a:ext cx="785811" cy="4516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B0AD83-3302-F44D-8110-8B1764096699}"/>
              </a:ext>
            </a:extLst>
          </p:cNvPr>
          <p:cNvCxnSpPr/>
          <p:nvPr/>
        </p:nvCxnSpPr>
        <p:spPr>
          <a:xfrm>
            <a:off x="11068051" y="2876558"/>
            <a:ext cx="0" cy="3595679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B560717-A327-0247-829C-852F6B7A5329}"/>
              </a:ext>
            </a:extLst>
          </p:cNvPr>
          <p:cNvSpPr txBox="1"/>
          <p:nvPr/>
        </p:nvSpPr>
        <p:spPr>
          <a:xfrm>
            <a:off x="10629899" y="4420797"/>
            <a:ext cx="1085850" cy="36933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250 MB</a:t>
            </a:r>
          </a:p>
        </p:txBody>
      </p:sp>
    </p:spTree>
    <p:extLst>
      <p:ext uri="{BB962C8B-B14F-4D97-AF65-F5344CB8AC3E}">
        <p14:creationId xmlns:p14="http://schemas.microsoft.com/office/powerpoint/2010/main" val="263650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15" grpId="0" animBg="1"/>
      <p:bldP spid="17" grpId="0" animBg="1"/>
      <p:bldP spid="18" grpId="0" animBg="1"/>
      <p:bldP spid="20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Other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CSV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JSON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One format can be converted to other using programming languages. E.g. Python.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8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2" y="265112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668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300</Words>
  <Application>Microsoft Macintosh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Roman</vt:lpstr>
      <vt:lpstr>Calibri</vt:lpstr>
      <vt:lpstr>Calibri Light</vt:lpstr>
      <vt:lpstr>Office Theme</vt:lpstr>
      <vt:lpstr>File Formats</vt:lpstr>
      <vt:lpstr>Agenda</vt:lpstr>
      <vt:lpstr>What is File Format</vt:lpstr>
      <vt:lpstr>Parquet</vt:lpstr>
      <vt:lpstr>Avro</vt:lpstr>
      <vt:lpstr>ORC (Optimized Row Columnar)</vt:lpstr>
      <vt:lpstr>Other formats</vt:lpstr>
      <vt:lpstr>Thank You!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Foundation</dc:title>
  <dc:creator>Soumyadeep Dey</dc:creator>
  <cp:lastModifiedBy>Soumyadeep Dey</cp:lastModifiedBy>
  <cp:revision>28</cp:revision>
  <dcterms:created xsi:type="dcterms:W3CDTF">2023-08-18T15:58:59Z</dcterms:created>
  <dcterms:modified xsi:type="dcterms:W3CDTF">2023-08-23T13:54:48Z</dcterms:modified>
</cp:coreProperties>
</file>