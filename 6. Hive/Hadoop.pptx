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1"/>
  </p:sldMasterIdLst>
  <p:sldIdLst>
    <p:sldId id="256" r:id="rId2"/>
    <p:sldId id="257" r:id="rId3"/>
    <p:sldId id="258" r:id="rId4"/>
    <p:sldId id="295" r:id="rId5"/>
    <p:sldId id="259" r:id="rId6"/>
    <p:sldId id="296" r:id="rId7"/>
    <p:sldId id="297" r:id="rId8"/>
    <p:sldId id="260" r:id="rId9"/>
    <p:sldId id="261" r:id="rId10"/>
    <p:sldId id="299" r:id="rId11"/>
    <p:sldId id="300" r:id="rId12"/>
    <p:sldId id="298" r:id="rId13"/>
    <p:sldId id="302" r:id="rId14"/>
    <p:sldId id="301" r:id="rId15"/>
    <p:sldId id="262" r:id="rId16"/>
    <p:sldId id="263" r:id="rId17"/>
    <p:sldId id="303" r:id="rId18"/>
    <p:sldId id="264" r:id="rId19"/>
    <p:sldId id="265" r:id="rId20"/>
    <p:sldId id="304" r:id="rId21"/>
    <p:sldId id="266" r:id="rId22"/>
    <p:sldId id="26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  <a:srgbClr val="0096FF"/>
    <a:srgbClr val="FF7E79"/>
    <a:srgbClr val="76D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28"/>
  </p:normalViewPr>
  <p:slideViewPr>
    <p:cSldViewPr snapToGrid="0" snapToObjects="1">
      <p:cViewPr varScale="1">
        <p:scale>
          <a:sx n="90" d="100"/>
          <a:sy n="90" d="100"/>
        </p:scale>
        <p:origin x="232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EADFE-D307-714F-BCB1-39A4E266B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EE4E51-E5D4-9348-A2A0-41F613A580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E6AC4-9EB7-5B46-AF7D-CD5FDD58D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8/19/23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2ECF8-0C0B-3F4B-B2A3-45C9893B3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2274D-D5D9-0042-A691-4B5F9C82E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561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B5ACD-2AFD-E844-AEBC-B103A046E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B226D-7AA7-5747-A426-47D430DF9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6CD9F-2D12-C54F-BE38-2DE460376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8/19/23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0DD6C-EC99-4D48-9AAB-82D73C39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7C043-8D88-8844-B37F-595BDD504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628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20083-7240-074E-A4ED-EC161D0A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0C64B-8984-4945-AC4B-8673AFDCA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E7B6D-E421-D544-A720-4692DCD15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8/19/23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47E83-6985-E145-9D59-AAB7F5CBE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E967D-41C1-7645-8252-77B061F44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94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DBBBB-E4AD-E44A-AA1E-9159AF663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E8260-8FE5-4C4C-8387-B46AF54762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7EB522-C037-D648-9754-4E3F18758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7A9A1-B860-3547-988F-0FC83CDB6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8/19/23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D4CB7-074E-044D-B0FC-051FB382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743034-3755-7247-AC0C-8C498B048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33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31757-14CF-5749-A4E1-C86063588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4D034-E237-4743-A0BC-5835CD083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6D563-5F85-C44B-8321-1D8FA8410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11B0CD-5101-7346-9947-A64789DA3E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42597A-FC49-E14E-A02E-926A190B6D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5DE657-A46E-9643-92BB-0786F721A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8/19/23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745BC2-096F-0345-AE2A-5ECC03B79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87DBF2-B731-3B49-9A81-509397B99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605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4975D-8976-F848-98B9-A136EE0F3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948BCE-BA00-0842-8B3A-D3093C3E9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8/19/23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074CE7-5F53-0649-BE10-41640E059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6C3AA4-E1CD-084D-929A-2EA7916EE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112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E41E0D-E257-9C4D-8E58-432524099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8/19/23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85226-1852-D444-9D99-566A54AD2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456CE-19E6-EC46-97BF-48B374D16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538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AAC0-A195-CB49-B85E-39BACD6D3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0D9CA-D2D6-FF44-9C43-1638964BA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148787-8214-EE4E-9CC8-79A15E33A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89B96-D63F-3548-B10C-C77DB87E9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8/19/23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079FC-F7CD-AE43-8904-2A1D842D8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192EB-299C-174B-93BB-C1BC11A97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32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1552-BDB4-5E47-8BF7-4D4F90047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7DFC3B-83AF-6942-A5BF-BD6299F0FB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A8784-6466-DD47-9D3C-A154B2C0D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FE462-0B5E-0846-8557-B4C57789A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8/19/23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20A24-22F9-7744-98B4-C11ABE879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DFF8F-995D-A742-9A26-273C0A320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978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358FA-26F7-5F45-8DA1-50C5CBE7F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F9CD94-02FE-DF4D-B04D-F29811511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3502C-37EB-E94B-922A-9D86CD8A8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8/19/23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90590-4B88-9048-9653-9BA32574C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44139-2710-1E40-B030-1BCF1E5F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810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3DF969-72F6-D948-BD87-14B49EFC0E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B9AC3D-B30C-4E41-84C4-DDDE604DBC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2355E-8C94-3D45-8636-717B98B00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E9101-D032-5741-A8AE-84BE5F8F4BEC}" type="datetimeFigureOut">
              <a:rPr lang="en-US" smtClean="0"/>
              <a:t>8/19/23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3A300-9EBD-F74C-802A-7972186BB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819D7-6012-454E-90B4-E50BF736F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294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C31F5F-F4D0-3046-85D3-3312E2609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458F6-76BF-3948-8800-92B3D9105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1A016-FE76-EB43-AEDA-692A55B113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E9101-D032-5741-A8AE-84BE5F8F4BEC}" type="datetimeFigureOut">
              <a:rPr lang="en-US" smtClean="0"/>
              <a:t>8/19/23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5FC82-7110-FB45-9256-1DB7DC71FB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C0BF4-1761-4742-94CC-4B52C02F14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987C1-31E6-2F44-BD67-70729C065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58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B488A-2C15-784A-A29B-C7F6BD7DD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7597" y="2252818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  <a:cs typeface="Arial" panose="020B0604020202020204" pitchFamily="34" charset="0"/>
              </a:rPr>
              <a:t>Hadoop - Theory</a:t>
            </a:r>
          </a:p>
        </p:txBody>
      </p:sp>
    </p:spTree>
    <p:extLst>
      <p:ext uri="{BB962C8B-B14F-4D97-AF65-F5344CB8AC3E}">
        <p14:creationId xmlns:p14="http://schemas.microsoft.com/office/powerpoint/2010/main" val="910400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What is Hadoop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MapReduce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HDFS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How MapReduce works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YARN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Ecosystem Built around Hadoop</a:t>
            </a:r>
          </a:p>
        </p:txBody>
      </p:sp>
    </p:spTree>
    <p:extLst>
      <p:ext uri="{BB962C8B-B14F-4D97-AF65-F5344CB8AC3E}">
        <p14:creationId xmlns:p14="http://schemas.microsoft.com/office/powerpoint/2010/main" val="515681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What is Hadoop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Hadoop is a framework that is used to store and process large datasets.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HDFS – Distributed Storage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MapReduce – Distributed Compute</a:t>
            </a:r>
          </a:p>
        </p:txBody>
      </p:sp>
    </p:spTree>
    <p:extLst>
      <p:ext uri="{BB962C8B-B14F-4D97-AF65-F5344CB8AC3E}">
        <p14:creationId xmlns:p14="http://schemas.microsoft.com/office/powerpoint/2010/main" val="3532758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Distributed Storage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6600DAD-E4A3-7946-8B2A-1EA4402432EA}"/>
              </a:ext>
            </a:extLst>
          </p:cNvPr>
          <p:cNvGrpSpPr/>
          <p:nvPr/>
        </p:nvGrpSpPr>
        <p:grpSpPr>
          <a:xfrm>
            <a:off x="469106" y="4314824"/>
            <a:ext cx="1545431" cy="2000250"/>
            <a:chOff x="940594" y="4029075"/>
            <a:chExt cx="1545431" cy="20002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3C757BA-8458-C645-8DBA-C7D40BFCC97B}"/>
                </a:ext>
              </a:extLst>
            </p:cNvPr>
            <p:cNvSpPr/>
            <p:nvPr/>
          </p:nvSpPr>
          <p:spPr>
            <a:xfrm>
              <a:off x="940594" y="4029075"/>
              <a:ext cx="1545431" cy="885825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latin typeface="Avenir Roman" panose="02000503020000020003" pitchFamily="2" charset="0"/>
                </a:rPr>
                <a:t>CPU + RAM</a:t>
              </a:r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5F78562F-453C-0345-B014-046319AB447F}"/>
                </a:ext>
              </a:extLst>
            </p:cNvPr>
            <p:cNvSpPr/>
            <p:nvPr/>
          </p:nvSpPr>
          <p:spPr>
            <a:xfrm>
              <a:off x="940594" y="5329237"/>
              <a:ext cx="1545431" cy="700088"/>
            </a:xfrm>
            <a:prstGeom prst="cube">
              <a:avLst>
                <a:gd name="adj" fmla="val 37755"/>
              </a:avLst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dirty="0">
                  <a:latin typeface="Avenir Roman" panose="02000503020000020003" pitchFamily="2" charset="0"/>
                </a:rPr>
                <a:t>Disk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BCDD5A9-8277-134A-82FE-C09B25C37C33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1713310" y="4914900"/>
              <a:ext cx="0" cy="414337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9A0711B-485E-CA45-A858-8203E284B545}"/>
              </a:ext>
            </a:extLst>
          </p:cNvPr>
          <p:cNvGrpSpPr/>
          <p:nvPr/>
        </p:nvGrpSpPr>
        <p:grpSpPr>
          <a:xfrm>
            <a:off x="2530078" y="4314824"/>
            <a:ext cx="1545431" cy="2000250"/>
            <a:chOff x="940594" y="4029075"/>
            <a:chExt cx="1545431" cy="200025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46CCB51-75D4-874D-807F-94D2B849D560}"/>
                </a:ext>
              </a:extLst>
            </p:cNvPr>
            <p:cNvSpPr/>
            <p:nvPr/>
          </p:nvSpPr>
          <p:spPr>
            <a:xfrm>
              <a:off x="940594" y="4029075"/>
              <a:ext cx="1545431" cy="885825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latin typeface="Avenir Roman" panose="02000503020000020003" pitchFamily="2" charset="0"/>
                </a:rPr>
                <a:t>CPU </a:t>
              </a:r>
              <a:r>
                <a:rPr lang="en-US">
                  <a:latin typeface="Avenir Roman" panose="02000503020000020003" pitchFamily="2" charset="0"/>
                </a:rPr>
                <a:t>+ RAM</a:t>
              </a:r>
              <a:endParaRPr lang="en-US" dirty="0">
                <a:latin typeface="Avenir Roman" panose="02000503020000020003" pitchFamily="2" charset="0"/>
              </a:endParaRPr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B86BD232-89CA-DF44-93F8-65C243C96804}"/>
                </a:ext>
              </a:extLst>
            </p:cNvPr>
            <p:cNvSpPr/>
            <p:nvPr/>
          </p:nvSpPr>
          <p:spPr>
            <a:xfrm>
              <a:off x="940594" y="5329237"/>
              <a:ext cx="1545431" cy="700088"/>
            </a:xfrm>
            <a:prstGeom prst="cube">
              <a:avLst>
                <a:gd name="adj" fmla="val 37755"/>
              </a:avLst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dirty="0">
                  <a:latin typeface="Avenir Roman" panose="02000503020000020003" pitchFamily="2" charset="0"/>
                </a:rPr>
                <a:t>Disk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66BEA81-5352-D447-B296-3ED5911B30E6}"/>
                </a:ext>
              </a:extLst>
            </p:cNvPr>
            <p:cNvCxnSpPr>
              <a:cxnSpLocks/>
              <a:stCxn id="19" idx="2"/>
            </p:cNvCxnSpPr>
            <p:nvPr/>
          </p:nvCxnSpPr>
          <p:spPr>
            <a:xfrm>
              <a:off x="1713310" y="4914900"/>
              <a:ext cx="0" cy="414337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627F44E-EF25-DE46-81AC-F1D934A9EC02}"/>
              </a:ext>
            </a:extLst>
          </p:cNvPr>
          <p:cNvGrpSpPr/>
          <p:nvPr/>
        </p:nvGrpSpPr>
        <p:grpSpPr>
          <a:xfrm>
            <a:off x="4723209" y="4314824"/>
            <a:ext cx="1545431" cy="2000250"/>
            <a:chOff x="940594" y="4029075"/>
            <a:chExt cx="1545431" cy="200025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05C4213-AC67-AC4B-93E2-167A1F5BF214}"/>
                </a:ext>
              </a:extLst>
            </p:cNvPr>
            <p:cNvSpPr/>
            <p:nvPr/>
          </p:nvSpPr>
          <p:spPr>
            <a:xfrm>
              <a:off x="940594" y="4029075"/>
              <a:ext cx="1545431" cy="885825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latin typeface="Avenir Roman" panose="02000503020000020003" pitchFamily="2" charset="0"/>
                </a:rPr>
                <a:t>CPU + RAM</a:t>
              </a:r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E99CB8A9-25F0-2944-B2F9-2ED8CABB62D0}"/>
                </a:ext>
              </a:extLst>
            </p:cNvPr>
            <p:cNvSpPr/>
            <p:nvPr/>
          </p:nvSpPr>
          <p:spPr>
            <a:xfrm>
              <a:off x="940594" y="5329237"/>
              <a:ext cx="1545431" cy="700088"/>
            </a:xfrm>
            <a:prstGeom prst="cube">
              <a:avLst>
                <a:gd name="adj" fmla="val 37755"/>
              </a:avLst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dirty="0">
                  <a:latin typeface="Avenir Roman" panose="02000503020000020003" pitchFamily="2" charset="0"/>
                </a:rPr>
                <a:t>Disk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C2341DF-E004-344E-9312-5012D6942938}"/>
                </a:ext>
              </a:extLst>
            </p:cNvPr>
            <p:cNvCxnSpPr>
              <a:cxnSpLocks/>
              <a:stCxn id="23" idx="2"/>
            </p:cNvCxnSpPr>
            <p:nvPr/>
          </p:nvCxnSpPr>
          <p:spPr>
            <a:xfrm>
              <a:off x="1713310" y="4914900"/>
              <a:ext cx="0" cy="414337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9585ED3-1D17-464A-AD45-85A811DF65D0}"/>
              </a:ext>
            </a:extLst>
          </p:cNvPr>
          <p:cNvGrpSpPr/>
          <p:nvPr/>
        </p:nvGrpSpPr>
        <p:grpSpPr>
          <a:xfrm>
            <a:off x="6886574" y="4314824"/>
            <a:ext cx="1545431" cy="2000250"/>
            <a:chOff x="940594" y="4029075"/>
            <a:chExt cx="1545431" cy="200025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9A0EDAF-8EE8-F147-A02B-AED735FBB871}"/>
                </a:ext>
              </a:extLst>
            </p:cNvPr>
            <p:cNvSpPr/>
            <p:nvPr/>
          </p:nvSpPr>
          <p:spPr>
            <a:xfrm>
              <a:off x="940594" y="4029075"/>
              <a:ext cx="1545431" cy="885825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latin typeface="Avenir Roman" panose="02000503020000020003" pitchFamily="2" charset="0"/>
                </a:rPr>
                <a:t>CPU </a:t>
              </a:r>
              <a:r>
                <a:rPr lang="en-US">
                  <a:latin typeface="Avenir Roman" panose="02000503020000020003" pitchFamily="2" charset="0"/>
                </a:rPr>
                <a:t>+ RAM</a:t>
              </a:r>
              <a:endParaRPr lang="en-US" dirty="0">
                <a:latin typeface="Avenir Roman" panose="02000503020000020003" pitchFamily="2" charset="0"/>
              </a:endParaRPr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BD552530-1E92-9B4F-986C-75DA26EB5913}"/>
                </a:ext>
              </a:extLst>
            </p:cNvPr>
            <p:cNvSpPr/>
            <p:nvPr/>
          </p:nvSpPr>
          <p:spPr>
            <a:xfrm>
              <a:off x="940594" y="5329237"/>
              <a:ext cx="1545431" cy="700088"/>
            </a:xfrm>
            <a:prstGeom prst="cube">
              <a:avLst>
                <a:gd name="adj" fmla="val 37755"/>
              </a:avLst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dirty="0">
                  <a:latin typeface="Avenir Roman" panose="02000503020000020003" pitchFamily="2" charset="0"/>
                </a:rPr>
                <a:t>Disk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7BDB4B3-34E9-2E4B-ABC6-3859A124F879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>
              <a:off x="1713310" y="4914900"/>
              <a:ext cx="0" cy="414337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96F14331-6053-7B4D-B571-C5509DC5BFA0}"/>
              </a:ext>
            </a:extLst>
          </p:cNvPr>
          <p:cNvSpPr/>
          <p:nvPr/>
        </p:nvSpPr>
        <p:spPr>
          <a:xfrm>
            <a:off x="340519" y="2944812"/>
            <a:ext cx="1802606" cy="7143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200GB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42EFCE6-A099-994F-BD70-113E51A0C4FF}"/>
              </a:ext>
            </a:extLst>
          </p:cNvPr>
          <p:cNvSpPr/>
          <p:nvPr/>
        </p:nvSpPr>
        <p:spPr>
          <a:xfrm>
            <a:off x="2401491" y="2944812"/>
            <a:ext cx="1802606" cy="7143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200GB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C09455-9CD8-664C-ACC6-9CE2EEFF5060}"/>
              </a:ext>
            </a:extLst>
          </p:cNvPr>
          <p:cNvSpPr/>
          <p:nvPr/>
        </p:nvSpPr>
        <p:spPr>
          <a:xfrm>
            <a:off x="4579739" y="2944812"/>
            <a:ext cx="1802606" cy="7143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200GB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F8EEB11-DA7B-184D-90F0-A7152817B660}"/>
              </a:ext>
            </a:extLst>
          </p:cNvPr>
          <p:cNvSpPr/>
          <p:nvPr/>
        </p:nvSpPr>
        <p:spPr>
          <a:xfrm>
            <a:off x="6757987" y="2944812"/>
            <a:ext cx="1802606" cy="7143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200GB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41BE4BC-A45E-044C-90CD-F166246F8D6A}"/>
              </a:ext>
            </a:extLst>
          </p:cNvPr>
          <p:cNvCxnSpPr>
            <a:stCxn id="34" idx="2"/>
            <a:endCxn id="5" idx="0"/>
          </p:cNvCxnSpPr>
          <p:nvPr/>
        </p:nvCxnSpPr>
        <p:spPr>
          <a:xfrm>
            <a:off x="1241822" y="3659187"/>
            <a:ext cx="0" cy="655637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5CD3B52-A423-7A4A-866F-80C772F0E804}"/>
              </a:ext>
            </a:extLst>
          </p:cNvPr>
          <p:cNvCxnSpPr/>
          <p:nvPr/>
        </p:nvCxnSpPr>
        <p:spPr>
          <a:xfrm>
            <a:off x="3302794" y="3659187"/>
            <a:ext cx="0" cy="655637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E78D6A5-04E4-7946-BA25-DC54E04F378A}"/>
              </a:ext>
            </a:extLst>
          </p:cNvPr>
          <p:cNvCxnSpPr/>
          <p:nvPr/>
        </p:nvCxnSpPr>
        <p:spPr>
          <a:xfrm>
            <a:off x="5504259" y="3659187"/>
            <a:ext cx="0" cy="655637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65A82FB-F072-9847-9739-49D2E22AF4FE}"/>
              </a:ext>
            </a:extLst>
          </p:cNvPr>
          <p:cNvCxnSpPr/>
          <p:nvPr/>
        </p:nvCxnSpPr>
        <p:spPr>
          <a:xfrm>
            <a:off x="7659290" y="3659187"/>
            <a:ext cx="0" cy="655637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70E7C25-ED87-624D-8C16-1AFF88009D68}"/>
              </a:ext>
            </a:extLst>
          </p:cNvPr>
          <p:cNvGrpSpPr/>
          <p:nvPr/>
        </p:nvGrpSpPr>
        <p:grpSpPr>
          <a:xfrm>
            <a:off x="9564884" y="1301749"/>
            <a:ext cx="1545431" cy="2000250"/>
            <a:chOff x="940594" y="4029075"/>
            <a:chExt cx="1545431" cy="200025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3CA6F97-7DE1-7247-BCF4-A8D9E0FBA13B}"/>
                </a:ext>
              </a:extLst>
            </p:cNvPr>
            <p:cNvSpPr/>
            <p:nvPr/>
          </p:nvSpPr>
          <p:spPr>
            <a:xfrm>
              <a:off x="940594" y="4029075"/>
              <a:ext cx="1545431" cy="885825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latin typeface="Avenir Roman" panose="02000503020000020003" pitchFamily="2" charset="0"/>
                </a:rPr>
                <a:t>CPU + RAM</a:t>
              </a:r>
            </a:p>
          </p:txBody>
        </p:sp>
        <p:sp>
          <p:nvSpPr>
            <p:cNvPr id="51" name="Cube 50">
              <a:extLst>
                <a:ext uri="{FF2B5EF4-FFF2-40B4-BE49-F238E27FC236}">
                  <a16:creationId xmlns:a16="http://schemas.microsoft.com/office/drawing/2014/main" id="{EFFA3858-CBBA-5649-99C1-B87EE6B66862}"/>
                </a:ext>
              </a:extLst>
            </p:cNvPr>
            <p:cNvSpPr/>
            <p:nvPr/>
          </p:nvSpPr>
          <p:spPr>
            <a:xfrm>
              <a:off x="940594" y="5329237"/>
              <a:ext cx="1545431" cy="700088"/>
            </a:xfrm>
            <a:prstGeom prst="cube">
              <a:avLst>
                <a:gd name="adj" fmla="val 37755"/>
              </a:avLst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dirty="0">
                  <a:latin typeface="Avenir Roman" panose="02000503020000020003" pitchFamily="2" charset="0"/>
                </a:rPr>
                <a:t>Disk</a:t>
              </a: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A2D98E7B-03B0-984D-9C54-6CCD5C1E41FA}"/>
                </a:ext>
              </a:extLst>
            </p:cNvPr>
            <p:cNvCxnSpPr>
              <a:cxnSpLocks/>
              <a:stCxn id="50" idx="2"/>
            </p:cNvCxnSpPr>
            <p:nvPr/>
          </p:nvCxnSpPr>
          <p:spPr>
            <a:xfrm>
              <a:off x="1713310" y="4914900"/>
              <a:ext cx="0" cy="414337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A7EAF66-FCD8-AC44-AB5E-CEA96E0D2B55}"/>
              </a:ext>
            </a:extLst>
          </p:cNvPr>
          <p:cNvSpPr txBox="1"/>
          <p:nvPr/>
        </p:nvSpPr>
        <p:spPr>
          <a:xfrm>
            <a:off x="9087443" y="3441697"/>
            <a:ext cx="2500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Metadata Node / Master Node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66A9B915-7D4B-5B45-A9FA-858BEE2C2839}"/>
              </a:ext>
            </a:extLst>
          </p:cNvPr>
          <p:cNvCxnSpPr>
            <a:endCxn id="34" idx="0"/>
          </p:cNvCxnSpPr>
          <p:nvPr/>
        </p:nvCxnSpPr>
        <p:spPr>
          <a:xfrm rot="10800000" flipV="1">
            <a:off x="1241822" y="1387474"/>
            <a:ext cx="8202216" cy="1557338"/>
          </a:xfrm>
          <a:prstGeom prst="bentConnector2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A6E45B3E-E5FA-434F-9D0D-2D2CBE623882}"/>
              </a:ext>
            </a:extLst>
          </p:cNvPr>
          <p:cNvCxnSpPr>
            <a:cxnSpLocks/>
            <a:endCxn id="35" idx="0"/>
          </p:cNvCxnSpPr>
          <p:nvPr/>
        </p:nvCxnSpPr>
        <p:spPr>
          <a:xfrm rot="10800000" flipV="1">
            <a:off x="3302794" y="1615280"/>
            <a:ext cx="6141244" cy="1329531"/>
          </a:xfrm>
          <a:prstGeom prst="bentConnector2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628A501B-0378-C640-BF64-3081CC4E5308}"/>
              </a:ext>
            </a:extLst>
          </p:cNvPr>
          <p:cNvCxnSpPr>
            <a:cxnSpLocks/>
            <a:endCxn id="36" idx="0"/>
          </p:cNvCxnSpPr>
          <p:nvPr/>
        </p:nvCxnSpPr>
        <p:spPr>
          <a:xfrm rot="10800000" flipV="1">
            <a:off x="5481042" y="1830386"/>
            <a:ext cx="3962996" cy="1114425"/>
          </a:xfrm>
          <a:prstGeom prst="bentConnector2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A95E9393-9FAB-A942-88DC-89ABD6C099C0}"/>
              </a:ext>
            </a:extLst>
          </p:cNvPr>
          <p:cNvCxnSpPr>
            <a:cxnSpLocks/>
            <a:endCxn id="37" idx="0"/>
          </p:cNvCxnSpPr>
          <p:nvPr/>
        </p:nvCxnSpPr>
        <p:spPr>
          <a:xfrm rot="10800000" flipV="1">
            <a:off x="7659290" y="2056024"/>
            <a:ext cx="1784748" cy="888787"/>
          </a:xfrm>
          <a:prstGeom prst="bentConnector2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F8D0F47-30F4-824E-A504-1D21E7F7BD4B}"/>
              </a:ext>
            </a:extLst>
          </p:cNvPr>
          <p:cNvSpPr txBox="1"/>
          <p:nvPr/>
        </p:nvSpPr>
        <p:spPr>
          <a:xfrm>
            <a:off x="8432005" y="5734197"/>
            <a:ext cx="2500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Data Nodes</a:t>
            </a:r>
          </a:p>
        </p:txBody>
      </p:sp>
    </p:spTree>
    <p:extLst>
      <p:ext uri="{BB962C8B-B14F-4D97-AF65-F5344CB8AC3E}">
        <p14:creationId xmlns:p14="http://schemas.microsoft.com/office/powerpoint/2010/main" val="318094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HDFS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7AB1CB-1F6F-464B-858F-D5F8CDF69636}"/>
              </a:ext>
            </a:extLst>
          </p:cNvPr>
          <p:cNvSpPr/>
          <p:nvPr/>
        </p:nvSpPr>
        <p:spPr>
          <a:xfrm>
            <a:off x="5414962" y="1916113"/>
            <a:ext cx="1802606" cy="7143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 err="1">
                <a:latin typeface="Avenir Roman" panose="02000503020000020003" pitchFamily="2" charset="0"/>
              </a:rPr>
              <a:t>NameNode</a:t>
            </a:r>
            <a:endParaRPr lang="en-US" sz="2400" dirty="0">
              <a:latin typeface="Avenir Roman" panose="02000503020000020003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81695F-B362-324A-8D6B-7A6E608D0543}"/>
              </a:ext>
            </a:extLst>
          </p:cNvPr>
          <p:cNvSpPr/>
          <p:nvPr/>
        </p:nvSpPr>
        <p:spPr>
          <a:xfrm>
            <a:off x="1281112" y="4011612"/>
            <a:ext cx="1802606" cy="7143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DataNode1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135434-2D46-B442-AA03-7EC2A71C2530}"/>
              </a:ext>
            </a:extLst>
          </p:cNvPr>
          <p:cNvSpPr/>
          <p:nvPr/>
        </p:nvSpPr>
        <p:spPr>
          <a:xfrm>
            <a:off x="4019550" y="4011612"/>
            <a:ext cx="1802606" cy="7143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DataNode2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7FEFE1-F9D8-FF4F-847B-F59DB47CF3C2}"/>
              </a:ext>
            </a:extLst>
          </p:cNvPr>
          <p:cNvSpPr/>
          <p:nvPr/>
        </p:nvSpPr>
        <p:spPr>
          <a:xfrm>
            <a:off x="6757988" y="4011612"/>
            <a:ext cx="1802606" cy="7143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DataNode3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543318-7A8F-D743-8499-08397DFAD2C5}"/>
              </a:ext>
            </a:extLst>
          </p:cNvPr>
          <p:cNvSpPr/>
          <p:nvPr/>
        </p:nvSpPr>
        <p:spPr>
          <a:xfrm>
            <a:off x="9496426" y="4011612"/>
            <a:ext cx="1802606" cy="7143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DataNode4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DB447C90-A57E-4048-AF23-BDBD9393844A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rot="16200000" flipH="1">
            <a:off x="7666435" y="1280318"/>
            <a:ext cx="1381124" cy="4081464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FBF9639D-C342-6941-A80F-9AB80C6E324C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16200000" flipH="1">
            <a:off x="6297216" y="2649537"/>
            <a:ext cx="1381124" cy="1343026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6369D26C-B47C-EB43-AEEB-6E9B5EC00D29}"/>
              </a:ext>
            </a:extLst>
          </p:cNvPr>
          <p:cNvCxnSpPr>
            <a:cxnSpLocks/>
            <a:stCxn id="4" idx="2"/>
          </p:cNvCxnSpPr>
          <p:nvPr/>
        </p:nvCxnSpPr>
        <p:spPr>
          <a:xfrm rot="5400000">
            <a:off x="4946452" y="2641799"/>
            <a:ext cx="1381124" cy="1358502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9B2C1B90-1601-2046-A8AF-E023E641D388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5400000">
            <a:off x="3558778" y="1254125"/>
            <a:ext cx="1381124" cy="4133850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2E5E0B6-7B1E-9947-8097-EE0516520EE7}"/>
              </a:ext>
            </a:extLst>
          </p:cNvPr>
          <p:cNvSpPr/>
          <p:nvPr/>
        </p:nvSpPr>
        <p:spPr>
          <a:xfrm>
            <a:off x="1972864" y="4892673"/>
            <a:ext cx="419101" cy="40005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BC0324-B034-2341-91BC-29503D3E58B3}"/>
              </a:ext>
            </a:extLst>
          </p:cNvPr>
          <p:cNvSpPr/>
          <p:nvPr/>
        </p:nvSpPr>
        <p:spPr>
          <a:xfrm>
            <a:off x="1233486" y="5518151"/>
            <a:ext cx="419101" cy="400050"/>
          </a:xfrm>
          <a:prstGeom prst="rect">
            <a:avLst/>
          </a:prstGeom>
          <a:solidFill>
            <a:srgbClr val="0096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13C1BD-2F47-A94A-B07D-E381ABD4254A}"/>
              </a:ext>
            </a:extLst>
          </p:cNvPr>
          <p:cNvSpPr/>
          <p:nvPr/>
        </p:nvSpPr>
        <p:spPr>
          <a:xfrm>
            <a:off x="2581271" y="5518151"/>
            <a:ext cx="419101" cy="400050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B3E9071-DF77-5E46-9E52-4355DE3792CB}"/>
              </a:ext>
            </a:extLst>
          </p:cNvPr>
          <p:cNvSpPr/>
          <p:nvPr/>
        </p:nvSpPr>
        <p:spPr>
          <a:xfrm>
            <a:off x="4019550" y="5518151"/>
            <a:ext cx="419101" cy="40005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C9BEC0-279B-8247-A65D-3247FDFE15C4}"/>
              </a:ext>
            </a:extLst>
          </p:cNvPr>
          <p:cNvSpPr/>
          <p:nvPr/>
        </p:nvSpPr>
        <p:spPr>
          <a:xfrm>
            <a:off x="10879931" y="5454649"/>
            <a:ext cx="419101" cy="40005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4A0ED18-B911-3741-BC9D-B93F54E792A0}"/>
              </a:ext>
            </a:extLst>
          </p:cNvPr>
          <p:cNvSpPr/>
          <p:nvPr/>
        </p:nvSpPr>
        <p:spPr>
          <a:xfrm>
            <a:off x="6798467" y="5538786"/>
            <a:ext cx="419101" cy="400050"/>
          </a:xfrm>
          <a:prstGeom prst="rect">
            <a:avLst/>
          </a:prstGeom>
          <a:solidFill>
            <a:srgbClr val="0096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5EA463E-41D0-B046-A708-08874776C2ED}"/>
              </a:ext>
            </a:extLst>
          </p:cNvPr>
          <p:cNvSpPr/>
          <p:nvPr/>
        </p:nvSpPr>
        <p:spPr>
          <a:xfrm>
            <a:off x="4705938" y="4951411"/>
            <a:ext cx="419101" cy="400050"/>
          </a:xfrm>
          <a:prstGeom prst="rect">
            <a:avLst/>
          </a:prstGeom>
          <a:solidFill>
            <a:srgbClr val="0096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CD0BB50-AD76-BD49-9651-B920666E8F2C}"/>
              </a:ext>
            </a:extLst>
          </p:cNvPr>
          <p:cNvSpPr/>
          <p:nvPr/>
        </p:nvSpPr>
        <p:spPr>
          <a:xfrm>
            <a:off x="7455104" y="4957759"/>
            <a:ext cx="419101" cy="400050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914BE88-BD9D-0D45-BD8F-5EBD203DC735}"/>
              </a:ext>
            </a:extLst>
          </p:cNvPr>
          <p:cNvSpPr/>
          <p:nvPr/>
        </p:nvSpPr>
        <p:spPr>
          <a:xfrm>
            <a:off x="9482131" y="5468937"/>
            <a:ext cx="419101" cy="400050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2842065-50D9-0F47-858B-AA5946B7FA27}"/>
              </a:ext>
            </a:extLst>
          </p:cNvPr>
          <p:cNvSpPr/>
          <p:nvPr/>
        </p:nvSpPr>
        <p:spPr>
          <a:xfrm>
            <a:off x="8098626" y="5475284"/>
            <a:ext cx="419101" cy="40005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BD2CF8-C22D-054B-AB84-4BB157A417DB}"/>
              </a:ext>
            </a:extLst>
          </p:cNvPr>
          <p:cNvSpPr/>
          <p:nvPr/>
        </p:nvSpPr>
        <p:spPr>
          <a:xfrm>
            <a:off x="5403055" y="5518151"/>
            <a:ext cx="419101" cy="40005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78765C0-FFF2-FE46-BBE4-B44C52F48075}"/>
              </a:ext>
            </a:extLst>
          </p:cNvPr>
          <p:cNvSpPr/>
          <p:nvPr/>
        </p:nvSpPr>
        <p:spPr>
          <a:xfrm>
            <a:off x="10188178" y="4890293"/>
            <a:ext cx="419101" cy="40005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7375EF-9C2D-574A-87D7-479F70B27A27}"/>
              </a:ext>
            </a:extLst>
          </p:cNvPr>
          <p:cNvSpPr txBox="1"/>
          <p:nvPr/>
        </p:nvSpPr>
        <p:spPr>
          <a:xfrm>
            <a:off x="7455104" y="2052936"/>
            <a:ext cx="1607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Metadata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77122A-41DD-5841-9EA3-D3516A96274F}"/>
              </a:ext>
            </a:extLst>
          </p:cNvPr>
          <p:cNvSpPr txBox="1"/>
          <p:nvPr/>
        </p:nvSpPr>
        <p:spPr>
          <a:xfrm>
            <a:off x="389333" y="2705245"/>
            <a:ext cx="4005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chemeClr val="bg1"/>
                </a:solidFill>
                <a:latin typeface="Avenir Roman" panose="02000503020000020003" pitchFamily="2" charset="0"/>
              </a:defRPr>
            </a:lvl1pPr>
          </a:lstStyle>
          <a:p>
            <a:r>
              <a:rPr lang="en-US" dirty="0"/>
              <a:t>Default Block Size = 128MB</a:t>
            </a:r>
          </a:p>
        </p:txBody>
      </p:sp>
    </p:spTree>
    <p:extLst>
      <p:ext uri="{BB962C8B-B14F-4D97-AF65-F5344CB8AC3E}">
        <p14:creationId xmlns:p14="http://schemas.microsoft.com/office/powerpoint/2010/main" val="32117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HDFS – Read Path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7AB1CB-1F6F-464B-858F-D5F8CDF69636}"/>
              </a:ext>
            </a:extLst>
          </p:cNvPr>
          <p:cNvSpPr/>
          <p:nvPr/>
        </p:nvSpPr>
        <p:spPr>
          <a:xfrm>
            <a:off x="7616424" y="1896266"/>
            <a:ext cx="1802606" cy="7143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 err="1">
                <a:latin typeface="Avenir Roman" panose="02000503020000020003" pitchFamily="2" charset="0"/>
              </a:rPr>
              <a:t>NameNode</a:t>
            </a:r>
            <a:endParaRPr lang="en-US" sz="2400" dirty="0">
              <a:latin typeface="Avenir Roman" panose="02000503020000020003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81695F-B362-324A-8D6B-7A6E608D0543}"/>
              </a:ext>
            </a:extLst>
          </p:cNvPr>
          <p:cNvSpPr/>
          <p:nvPr/>
        </p:nvSpPr>
        <p:spPr>
          <a:xfrm>
            <a:off x="1281112" y="4011612"/>
            <a:ext cx="1802606" cy="7143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DataNode1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135434-2D46-B442-AA03-7EC2A71C2530}"/>
              </a:ext>
            </a:extLst>
          </p:cNvPr>
          <p:cNvSpPr/>
          <p:nvPr/>
        </p:nvSpPr>
        <p:spPr>
          <a:xfrm>
            <a:off x="4019550" y="4011612"/>
            <a:ext cx="1802606" cy="7143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DataNode2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7FEFE1-F9D8-FF4F-847B-F59DB47CF3C2}"/>
              </a:ext>
            </a:extLst>
          </p:cNvPr>
          <p:cNvSpPr/>
          <p:nvPr/>
        </p:nvSpPr>
        <p:spPr>
          <a:xfrm>
            <a:off x="6757988" y="4011612"/>
            <a:ext cx="1802606" cy="7143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DataNode3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543318-7A8F-D743-8499-08397DFAD2C5}"/>
              </a:ext>
            </a:extLst>
          </p:cNvPr>
          <p:cNvSpPr/>
          <p:nvPr/>
        </p:nvSpPr>
        <p:spPr>
          <a:xfrm>
            <a:off x="9496426" y="4011612"/>
            <a:ext cx="1802606" cy="7143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DataNode4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DB447C90-A57E-4048-AF23-BDBD9393844A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rot="16200000" flipH="1">
            <a:off x="8757243" y="2371125"/>
            <a:ext cx="1400971" cy="1880002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FBF9639D-C342-6941-A80F-9AB80C6E324C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5400000">
            <a:off x="7388024" y="2881908"/>
            <a:ext cx="1400971" cy="858436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6369D26C-B47C-EB43-AEEB-6E9B5EC00D29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5400000">
            <a:off x="6018805" y="1512689"/>
            <a:ext cx="1400971" cy="3596874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9B2C1B90-1601-2046-A8AF-E023E641D388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5400000">
            <a:off x="4649586" y="143470"/>
            <a:ext cx="1400971" cy="6335312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6721AE0-A6EF-464C-9D7D-6F017F4E0E30}"/>
              </a:ext>
            </a:extLst>
          </p:cNvPr>
          <p:cNvSpPr/>
          <p:nvPr/>
        </p:nvSpPr>
        <p:spPr>
          <a:xfrm>
            <a:off x="1972864" y="4892673"/>
            <a:ext cx="419101" cy="40005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5E8983-4C56-754D-9F39-26A996321461}"/>
              </a:ext>
            </a:extLst>
          </p:cNvPr>
          <p:cNvSpPr/>
          <p:nvPr/>
        </p:nvSpPr>
        <p:spPr>
          <a:xfrm>
            <a:off x="1233486" y="5518151"/>
            <a:ext cx="419101" cy="40005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latin typeface="Avenir Roman" panose="02000503020000020003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5CF8FC-A2F4-9544-87D9-D2CEDDC52C29}"/>
              </a:ext>
            </a:extLst>
          </p:cNvPr>
          <p:cNvSpPr/>
          <p:nvPr/>
        </p:nvSpPr>
        <p:spPr>
          <a:xfrm>
            <a:off x="2581271" y="5518151"/>
            <a:ext cx="419101" cy="40005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latin typeface="Avenir Roman" panose="02000503020000020003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500E91-4075-BB40-A90A-6A7F2702DD0D}"/>
              </a:ext>
            </a:extLst>
          </p:cNvPr>
          <p:cNvSpPr/>
          <p:nvPr/>
        </p:nvSpPr>
        <p:spPr>
          <a:xfrm>
            <a:off x="4019550" y="5518151"/>
            <a:ext cx="419101" cy="40005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D1A7A8-B8B4-7E40-99FE-EA24F7A72038}"/>
              </a:ext>
            </a:extLst>
          </p:cNvPr>
          <p:cNvSpPr/>
          <p:nvPr/>
        </p:nvSpPr>
        <p:spPr>
          <a:xfrm>
            <a:off x="10879931" y="5454649"/>
            <a:ext cx="419101" cy="40005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F28AFB-A672-1E4D-9E85-E607563CD18B}"/>
              </a:ext>
            </a:extLst>
          </p:cNvPr>
          <p:cNvSpPr/>
          <p:nvPr/>
        </p:nvSpPr>
        <p:spPr>
          <a:xfrm>
            <a:off x="6798467" y="5538786"/>
            <a:ext cx="419101" cy="40005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latin typeface="Avenir Roman" panose="02000503020000020003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604E53-7ABE-084A-A0BC-939501105D4F}"/>
              </a:ext>
            </a:extLst>
          </p:cNvPr>
          <p:cNvSpPr/>
          <p:nvPr/>
        </p:nvSpPr>
        <p:spPr>
          <a:xfrm>
            <a:off x="4705938" y="4951411"/>
            <a:ext cx="419101" cy="40005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latin typeface="Avenir Roman" panose="02000503020000020003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8A712A-C886-264E-B456-C27916B52038}"/>
              </a:ext>
            </a:extLst>
          </p:cNvPr>
          <p:cNvSpPr/>
          <p:nvPr/>
        </p:nvSpPr>
        <p:spPr>
          <a:xfrm>
            <a:off x="7455104" y="4957759"/>
            <a:ext cx="419101" cy="40005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latin typeface="Avenir Roman" panose="02000503020000020003" pitchFamily="2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1CF7FA-9E29-0F4E-8D1B-4CA83A58C015}"/>
              </a:ext>
            </a:extLst>
          </p:cNvPr>
          <p:cNvSpPr/>
          <p:nvPr/>
        </p:nvSpPr>
        <p:spPr>
          <a:xfrm>
            <a:off x="9482131" y="5468937"/>
            <a:ext cx="419101" cy="40005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latin typeface="Avenir Roman" panose="02000503020000020003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E95DC3-9782-184E-9F53-EC1CCD85BD0D}"/>
              </a:ext>
            </a:extLst>
          </p:cNvPr>
          <p:cNvSpPr/>
          <p:nvPr/>
        </p:nvSpPr>
        <p:spPr>
          <a:xfrm>
            <a:off x="8098626" y="5475284"/>
            <a:ext cx="419101" cy="40005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latin typeface="Avenir Roman" panose="02000503020000020003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29C825-C049-B742-89C9-1AF77D5E6052}"/>
              </a:ext>
            </a:extLst>
          </p:cNvPr>
          <p:cNvSpPr/>
          <p:nvPr/>
        </p:nvSpPr>
        <p:spPr>
          <a:xfrm>
            <a:off x="5403055" y="5518151"/>
            <a:ext cx="419101" cy="40005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latin typeface="Avenir Roman" panose="02000503020000020003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04413F-9A82-0348-99D8-A2C2B8F8E284}"/>
              </a:ext>
            </a:extLst>
          </p:cNvPr>
          <p:cNvSpPr/>
          <p:nvPr/>
        </p:nvSpPr>
        <p:spPr>
          <a:xfrm>
            <a:off x="10188178" y="4890293"/>
            <a:ext cx="419101" cy="40005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latin typeface="Avenir Roman" panose="02000503020000020003" pitchFamily="2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072F89-1B62-2847-B8A7-B005A00EDE38}"/>
              </a:ext>
            </a:extLst>
          </p:cNvPr>
          <p:cNvSpPr/>
          <p:nvPr/>
        </p:nvSpPr>
        <p:spPr>
          <a:xfrm>
            <a:off x="408380" y="1896266"/>
            <a:ext cx="2172891" cy="7143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HDFS Client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C97E097-545A-3A4E-B65F-8C36D02DDACE}"/>
              </a:ext>
            </a:extLst>
          </p:cNvPr>
          <p:cNvCxnSpPr>
            <a:cxnSpLocks/>
          </p:cNvCxnSpPr>
          <p:nvPr/>
        </p:nvCxnSpPr>
        <p:spPr>
          <a:xfrm>
            <a:off x="2581271" y="2100263"/>
            <a:ext cx="5035153" cy="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28CA97B-F0C9-8749-846B-FF497198E5A7}"/>
              </a:ext>
            </a:extLst>
          </p:cNvPr>
          <p:cNvSpPr txBox="1"/>
          <p:nvPr/>
        </p:nvSpPr>
        <p:spPr>
          <a:xfrm>
            <a:off x="4125515" y="1678543"/>
            <a:ext cx="1277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C000"/>
                </a:solidFill>
                <a:latin typeface="Avenir Roman" panose="02000503020000020003" pitchFamily="2" charset="0"/>
              </a:rPr>
              <a:t>Read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758BF5C-2650-0944-996E-763AB2C68AED}"/>
              </a:ext>
            </a:extLst>
          </p:cNvPr>
          <p:cNvCxnSpPr>
            <a:cxnSpLocks/>
          </p:cNvCxnSpPr>
          <p:nvPr/>
        </p:nvCxnSpPr>
        <p:spPr>
          <a:xfrm flipH="1">
            <a:off x="2624138" y="2482852"/>
            <a:ext cx="4914891" cy="1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902A2F4-F147-B94A-AF1C-35773F0F52A9}"/>
              </a:ext>
            </a:extLst>
          </p:cNvPr>
          <p:cNvSpPr txBox="1"/>
          <p:nvPr/>
        </p:nvSpPr>
        <p:spPr>
          <a:xfrm>
            <a:off x="3083718" y="2562785"/>
            <a:ext cx="4371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C000"/>
                </a:solidFill>
                <a:latin typeface="Avenir Roman" panose="02000503020000020003" pitchFamily="2" charset="0"/>
              </a:rPr>
              <a:t>Available in Data Nodes 1,2 &amp; 4</a:t>
            </a:r>
          </a:p>
        </p:txBody>
      </p: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6DA1968B-B889-B24A-A091-804DFE561F83}"/>
              </a:ext>
            </a:extLst>
          </p:cNvPr>
          <p:cNvCxnSpPr/>
          <p:nvPr/>
        </p:nvCxnSpPr>
        <p:spPr>
          <a:xfrm rot="16200000" flipH="1">
            <a:off x="766363" y="3125388"/>
            <a:ext cx="1400972" cy="371475"/>
          </a:xfrm>
          <a:prstGeom prst="bentConnector3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442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HDFS – Write Path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7AB1CB-1F6F-464B-858F-D5F8CDF69636}"/>
              </a:ext>
            </a:extLst>
          </p:cNvPr>
          <p:cNvSpPr/>
          <p:nvPr/>
        </p:nvSpPr>
        <p:spPr>
          <a:xfrm>
            <a:off x="5414962" y="1916113"/>
            <a:ext cx="1802606" cy="7143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 err="1">
                <a:latin typeface="Avenir Roman" panose="02000503020000020003" pitchFamily="2" charset="0"/>
              </a:rPr>
              <a:t>NameNode</a:t>
            </a:r>
            <a:endParaRPr lang="en-US" sz="2400" dirty="0">
              <a:latin typeface="Avenir Roman" panose="02000503020000020003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81695F-B362-324A-8D6B-7A6E608D0543}"/>
              </a:ext>
            </a:extLst>
          </p:cNvPr>
          <p:cNvSpPr/>
          <p:nvPr/>
        </p:nvSpPr>
        <p:spPr>
          <a:xfrm>
            <a:off x="1281112" y="4011612"/>
            <a:ext cx="1802606" cy="7143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DataNode1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135434-2D46-B442-AA03-7EC2A71C2530}"/>
              </a:ext>
            </a:extLst>
          </p:cNvPr>
          <p:cNvSpPr/>
          <p:nvPr/>
        </p:nvSpPr>
        <p:spPr>
          <a:xfrm>
            <a:off x="4019550" y="4011612"/>
            <a:ext cx="1802606" cy="7143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DataNode2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7FEFE1-F9D8-FF4F-847B-F59DB47CF3C2}"/>
              </a:ext>
            </a:extLst>
          </p:cNvPr>
          <p:cNvSpPr/>
          <p:nvPr/>
        </p:nvSpPr>
        <p:spPr>
          <a:xfrm>
            <a:off x="6757988" y="4011612"/>
            <a:ext cx="1802606" cy="7143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DataNode3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543318-7A8F-D743-8499-08397DFAD2C5}"/>
              </a:ext>
            </a:extLst>
          </p:cNvPr>
          <p:cNvSpPr/>
          <p:nvPr/>
        </p:nvSpPr>
        <p:spPr>
          <a:xfrm>
            <a:off x="9496426" y="4011612"/>
            <a:ext cx="1802606" cy="7143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DataNode4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ACE918-C58E-1449-A92E-F5F9177EF570}"/>
              </a:ext>
            </a:extLst>
          </p:cNvPr>
          <p:cNvSpPr/>
          <p:nvPr/>
        </p:nvSpPr>
        <p:spPr>
          <a:xfrm>
            <a:off x="1972864" y="4892673"/>
            <a:ext cx="419101" cy="40005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latin typeface="Avenir Roman" panose="02000503020000020003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424C8C-E813-154D-AB3E-097B0FE9BF61}"/>
              </a:ext>
            </a:extLst>
          </p:cNvPr>
          <p:cNvSpPr/>
          <p:nvPr/>
        </p:nvSpPr>
        <p:spPr>
          <a:xfrm>
            <a:off x="1233486" y="5518151"/>
            <a:ext cx="419101" cy="40005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latin typeface="Avenir Roman" panose="02000503020000020003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F4D89D-78E0-6345-93A6-134764C6D2E6}"/>
              </a:ext>
            </a:extLst>
          </p:cNvPr>
          <p:cNvSpPr/>
          <p:nvPr/>
        </p:nvSpPr>
        <p:spPr>
          <a:xfrm>
            <a:off x="2581271" y="5518151"/>
            <a:ext cx="419101" cy="40005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latin typeface="Avenir Roman" panose="02000503020000020003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9F6D78-4161-F94C-AABE-1C9037F83251}"/>
              </a:ext>
            </a:extLst>
          </p:cNvPr>
          <p:cNvSpPr/>
          <p:nvPr/>
        </p:nvSpPr>
        <p:spPr>
          <a:xfrm>
            <a:off x="4019550" y="5518151"/>
            <a:ext cx="419101" cy="40005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latin typeface="Avenir Roman" panose="02000503020000020003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14C3B5-7FE0-1845-A2F2-B2AA91ECB21A}"/>
              </a:ext>
            </a:extLst>
          </p:cNvPr>
          <p:cNvSpPr/>
          <p:nvPr/>
        </p:nvSpPr>
        <p:spPr>
          <a:xfrm>
            <a:off x="10879931" y="5454649"/>
            <a:ext cx="419101" cy="40005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latin typeface="Avenir Roman" panose="02000503020000020003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D42392-E4C2-F943-BD6C-6B1D22F9DAD4}"/>
              </a:ext>
            </a:extLst>
          </p:cNvPr>
          <p:cNvSpPr/>
          <p:nvPr/>
        </p:nvSpPr>
        <p:spPr>
          <a:xfrm>
            <a:off x="6798467" y="5538786"/>
            <a:ext cx="419101" cy="40005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latin typeface="Avenir Roman" panose="02000503020000020003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56B6B8-4D2B-0A43-98E4-D0F9D4B24612}"/>
              </a:ext>
            </a:extLst>
          </p:cNvPr>
          <p:cNvSpPr/>
          <p:nvPr/>
        </p:nvSpPr>
        <p:spPr>
          <a:xfrm>
            <a:off x="4705938" y="4951411"/>
            <a:ext cx="419101" cy="40005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latin typeface="Avenir Roman" panose="02000503020000020003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46E692-9FCE-2A40-A2F2-BDDBDE2C8FFC}"/>
              </a:ext>
            </a:extLst>
          </p:cNvPr>
          <p:cNvSpPr/>
          <p:nvPr/>
        </p:nvSpPr>
        <p:spPr>
          <a:xfrm>
            <a:off x="7455104" y="4957759"/>
            <a:ext cx="419101" cy="40005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latin typeface="Avenir Roman" panose="02000503020000020003" pitchFamily="2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AFC5FA3-8683-A94B-BAE3-46D412E64AF0}"/>
              </a:ext>
            </a:extLst>
          </p:cNvPr>
          <p:cNvSpPr/>
          <p:nvPr/>
        </p:nvSpPr>
        <p:spPr>
          <a:xfrm>
            <a:off x="9482131" y="5468937"/>
            <a:ext cx="419101" cy="40005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latin typeface="Avenir Roman" panose="02000503020000020003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6F54B1-0596-814C-B229-A0AFCA9B9730}"/>
              </a:ext>
            </a:extLst>
          </p:cNvPr>
          <p:cNvSpPr/>
          <p:nvPr/>
        </p:nvSpPr>
        <p:spPr>
          <a:xfrm>
            <a:off x="8098626" y="5475284"/>
            <a:ext cx="419101" cy="40005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latin typeface="Avenir Roman" panose="02000503020000020003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F88F32-607C-3A4F-8445-2921F0FEB599}"/>
              </a:ext>
            </a:extLst>
          </p:cNvPr>
          <p:cNvSpPr/>
          <p:nvPr/>
        </p:nvSpPr>
        <p:spPr>
          <a:xfrm>
            <a:off x="5403055" y="5518151"/>
            <a:ext cx="419101" cy="40005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latin typeface="Avenir Roman" panose="02000503020000020003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0E02F11-A27F-B643-B705-8328D4C36259}"/>
              </a:ext>
            </a:extLst>
          </p:cNvPr>
          <p:cNvSpPr/>
          <p:nvPr/>
        </p:nvSpPr>
        <p:spPr>
          <a:xfrm>
            <a:off x="10188178" y="4890293"/>
            <a:ext cx="419101" cy="40005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latin typeface="Avenir Roman" panose="02000503020000020003" pitchFamily="2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EB92A0-BC22-A04B-9890-C0665D413AA1}"/>
              </a:ext>
            </a:extLst>
          </p:cNvPr>
          <p:cNvSpPr/>
          <p:nvPr/>
        </p:nvSpPr>
        <p:spPr>
          <a:xfrm>
            <a:off x="408380" y="1896266"/>
            <a:ext cx="2172891" cy="71437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HDFS Client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B029CE5-BDD2-FE47-AB63-B5D26EE01C56}"/>
              </a:ext>
            </a:extLst>
          </p:cNvPr>
          <p:cNvCxnSpPr/>
          <p:nvPr/>
        </p:nvCxnSpPr>
        <p:spPr>
          <a:xfrm>
            <a:off x="2581271" y="2057400"/>
            <a:ext cx="2821784" cy="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3D7E89B-6D92-F648-A972-E8E04B937244}"/>
              </a:ext>
            </a:extLst>
          </p:cNvPr>
          <p:cNvSpPr txBox="1"/>
          <p:nvPr/>
        </p:nvSpPr>
        <p:spPr>
          <a:xfrm>
            <a:off x="2771775" y="1690688"/>
            <a:ext cx="2185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Avenir Roman" panose="02000503020000020003" pitchFamily="2" charset="0"/>
              </a:rPr>
              <a:t>Where to store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6926A29-D843-7749-954C-7FAF0578DDFF}"/>
              </a:ext>
            </a:extLst>
          </p:cNvPr>
          <p:cNvCxnSpPr>
            <a:cxnSpLocks/>
          </p:cNvCxnSpPr>
          <p:nvPr/>
        </p:nvCxnSpPr>
        <p:spPr>
          <a:xfrm flipH="1">
            <a:off x="2581271" y="2457450"/>
            <a:ext cx="2833691" cy="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7C096D8-7777-1742-9DCC-0D7AB529EB81}"/>
              </a:ext>
            </a:extLst>
          </p:cNvPr>
          <p:cNvSpPr txBox="1"/>
          <p:nvPr/>
        </p:nvSpPr>
        <p:spPr>
          <a:xfrm>
            <a:off x="2724737" y="2477298"/>
            <a:ext cx="2509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Avenir Roman" panose="02000503020000020003" pitchFamily="2" charset="0"/>
              </a:rPr>
              <a:t>Store in Data nodes 2,1 and 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CCB9D6B-CD7C-7241-BDB7-CB7A59AA3486}"/>
              </a:ext>
            </a:extLst>
          </p:cNvPr>
          <p:cNvSpPr/>
          <p:nvPr/>
        </p:nvSpPr>
        <p:spPr>
          <a:xfrm>
            <a:off x="1925238" y="5521323"/>
            <a:ext cx="419101" cy="40005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9357DBD-9B58-C341-B857-A77D2CECB90D}"/>
              </a:ext>
            </a:extLst>
          </p:cNvPr>
          <p:cNvSpPr/>
          <p:nvPr/>
        </p:nvSpPr>
        <p:spPr>
          <a:xfrm>
            <a:off x="4019550" y="4939507"/>
            <a:ext cx="419101" cy="40005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860F39B-7A6B-8F4A-8D3D-4EA340B681A4}"/>
              </a:ext>
            </a:extLst>
          </p:cNvPr>
          <p:cNvSpPr/>
          <p:nvPr/>
        </p:nvSpPr>
        <p:spPr>
          <a:xfrm>
            <a:off x="9482130" y="4883941"/>
            <a:ext cx="419101" cy="40005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A1B27329-570F-A645-8566-D66037DB51F8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78762" y="1598112"/>
            <a:ext cx="1400971" cy="3426027"/>
          </a:xfrm>
          <a:prstGeom prst="bentConnector3">
            <a:avLst>
              <a:gd name="adj1" fmla="val 70397"/>
            </a:avLst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816261AA-0811-1640-B557-8C6FD3FF198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2835" y="2904923"/>
            <a:ext cx="1374581" cy="838796"/>
          </a:xfrm>
          <a:prstGeom prst="bentConnector3">
            <a:avLst>
              <a:gd name="adj1" fmla="val 80143"/>
            </a:avLst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9061E825-D5B6-1E43-A7DA-97739A53A486}"/>
              </a:ext>
            </a:extLst>
          </p:cNvPr>
          <p:cNvCxnSpPr>
            <a:cxnSpLocks/>
          </p:cNvCxnSpPr>
          <p:nvPr/>
        </p:nvCxnSpPr>
        <p:spPr>
          <a:xfrm rot="16200000" flipH="1">
            <a:off x="5402952" y="-1140326"/>
            <a:ext cx="1400971" cy="8902903"/>
          </a:xfrm>
          <a:prstGeom prst="bentConnector3">
            <a:avLst>
              <a:gd name="adj1" fmla="val 50000"/>
            </a:avLst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5374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1" grpId="0"/>
      <p:bldP spid="32" grpId="0" animBg="1"/>
      <p:bldP spid="33" grpId="0" animBg="1"/>
      <p:bldP spid="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MapReduce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Programming model/framework that does distributed processing of (distributed) data.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Programming languages – </a:t>
            </a:r>
            <a:r>
              <a:rPr lang="en-US" dirty="0">
                <a:solidFill>
                  <a:srgbClr val="FF9300"/>
                </a:solidFill>
                <a:latin typeface="Avenir Roman" panose="02000503020000020003" pitchFamily="2" charset="0"/>
              </a:rPr>
              <a:t>Java</a:t>
            </a: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, Python, Ruby.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The framework does a lot of work for us.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Two main phases:</a:t>
            </a:r>
          </a:p>
          <a:p>
            <a:pPr lvl="1"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Map</a:t>
            </a:r>
          </a:p>
          <a:p>
            <a:pPr lvl="1"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Reduce</a:t>
            </a:r>
          </a:p>
        </p:txBody>
      </p:sp>
    </p:spTree>
    <p:extLst>
      <p:ext uri="{BB962C8B-B14F-4D97-AF65-F5344CB8AC3E}">
        <p14:creationId xmlns:p14="http://schemas.microsoft.com/office/powerpoint/2010/main" val="1673601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Map and Reduce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6152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Processing is done in two phases – Map and Reduce.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Map function (written by developer).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Reduce function (written by developer).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Input to Map phase is the raw file.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Input to Reduce phase is output of Map.</a:t>
            </a:r>
          </a:p>
          <a:p>
            <a:pPr>
              <a:spcAft>
                <a:spcPts val="600"/>
              </a:spcAft>
            </a:pPr>
            <a:endParaRPr lang="en-US" dirty="0">
              <a:solidFill>
                <a:schemeClr val="bg1"/>
              </a:solidFill>
              <a:latin typeface="Avenir Roman" panose="02000503020000020003" pitchFamily="2" charset="0"/>
            </a:endParaRPr>
          </a:p>
          <a:p>
            <a:pPr marL="0" indent="0">
              <a:spcAft>
                <a:spcPts val="600"/>
              </a:spcAft>
              <a:buNone/>
            </a:pPr>
            <a:endParaRPr lang="en-US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  <p:sp>
        <p:nvSpPr>
          <p:cNvPr id="4" name="Snip Single Corner Rectangle 3">
            <a:extLst>
              <a:ext uri="{FF2B5EF4-FFF2-40B4-BE49-F238E27FC236}">
                <a16:creationId xmlns:a16="http://schemas.microsoft.com/office/drawing/2014/main" id="{9F58E298-01DA-ED48-B9A8-2500540CBCED}"/>
              </a:ext>
            </a:extLst>
          </p:cNvPr>
          <p:cNvSpPr/>
          <p:nvPr/>
        </p:nvSpPr>
        <p:spPr>
          <a:xfrm>
            <a:off x="914399" y="5018909"/>
            <a:ext cx="1237130" cy="1387736"/>
          </a:xfrm>
          <a:prstGeom prst="snip1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Input File in HDFS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267CC01-CFC3-8542-9A48-D705D021FD8A}"/>
              </a:ext>
            </a:extLst>
          </p:cNvPr>
          <p:cNvSpPr/>
          <p:nvPr/>
        </p:nvSpPr>
        <p:spPr>
          <a:xfrm>
            <a:off x="3059346" y="5329710"/>
            <a:ext cx="1843087" cy="814387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Map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3EFE316-1F59-CE46-A782-6F256EABFBA4}"/>
              </a:ext>
            </a:extLst>
          </p:cNvPr>
          <p:cNvSpPr/>
          <p:nvPr/>
        </p:nvSpPr>
        <p:spPr>
          <a:xfrm>
            <a:off x="7653338" y="5310503"/>
            <a:ext cx="1843087" cy="814387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Reduce</a:t>
            </a:r>
          </a:p>
        </p:txBody>
      </p:sp>
      <p:sp>
        <p:nvSpPr>
          <p:cNvPr id="7" name="Snip Single Corner Rectangle 6">
            <a:extLst>
              <a:ext uri="{FF2B5EF4-FFF2-40B4-BE49-F238E27FC236}">
                <a16:creationId xmlns:a16="http://schemas.microsoft.com/office/drawing/2014/main" id="{4C2CC3C2-F0AA-3E44-BF21-1437DF71E566}"/>
              </a:ext>
            </a:extLst>
          </p:cNvPr>
          <p:cNvSpPr/>
          <p:nvPr/>
        </p:nvSpPr>
        <p:spPr>
          <a:xfrm>
            <a:off x="10367960" y="5018908"/>
            <a:ext cx="1419227" cy="1387736"/>
          </a:xfrm>
          <a:prstGeom prst="snip1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Output File in HDFS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44797C-8CCE-0D46-A035-028C73DA3646}"/>
              </a:ext>
            </a:extLst>
          </p:cNvPr>
          <p:cNvSpPr/>
          <p:nvPr/>
        </p:nvSpPr>
        <p:spPr>
          <a:xfrm>
            <a:off x="5508956" y="5512750"/>
            <a:ext cx="1403813" cy="40005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>
                <a:latin typeface="Avenir Roman" panose="02000503020000020003" pitchFamily="2" charset="0"/>
              </a:rPr>
              <a:t>Output</a:t>
            </a:r>
            <a:endParaRPr lang="en-US" sz="2400" dirty="0">
              <a:latin typeface="Avenir Roman" panose="02000503020000020003" pitchFamily="2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5AF2724-2132-124C-A6C5-572E162E7455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2151529" y="5731985"/>
            <a:ext cx="907817" cy="4919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11546C2-A62A-BE4F-9123-01B06B885E20}"/>
              </a:ext>
            </a:extLst>
          </p:cNvPr>
          <p:cNvCxnSpPr>
            <a:cxnSpLocks/>
          </p:cNvCxnSpPr>
          <p:nvPr/>
        </p:nvCxnSpPr>
        <p:spPr>
          <a:xfrm>
            <a:off x="4916160" y="5727065"/>
            <a:ext cx="592796" cy="4919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4015257-C925-4D47-B9FD-57BB95B30324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6912769" y="5712775"/>
            <a:ext cx="740569" cy="4922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5719708-BBAD-DC45-B167-9537E2F77BE7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9512531" y="5705628"/>
            <a:ext cx="855429" cy="7148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650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Map</a:t>
            </a:r>
          </a:p>
        </p:txBody>
      </p:sp>
      <p:sp>
        <p:nvSpPr>
          <p:cNvPr id="4" name="Snip Single Corner Rectangle 3">
            <a:extLst>
              <a:ext uri="{FF2B5EF4-FFF2-40B4-BE49-F238E27FC236}">
                <a16:creationId xmlns:a16="http://schemas.microsoft.com/office/drawing/2014/main" id="{BA14F007-12D4-394E-B549-698E554CEC41}"/>
              </a:ext>
            </a:extLst>
          </p:cNvPr>
          <p:cNvSpPr/>
          <p:nvPr/>
        </p:nvSpPr>
        <p:spPr>
          <a:xfrm>
            <a:off x="914398" y="1857375"/>
            <a:ext cx="3157539" cy="4243388"/>
          </a:xfrm>
          <a:prstGeom prst="snip1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venir Roman" panose="02000503020000020003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B6F54E-90A4-2642-BDA9-CCBD33B5D176}"/>
              </a:ext>
            </a:extLst>
          </p:cNvPr>
          <p:cNvSpPr/>
          <p:nvPr/>
        </p:nvSpPr>
        <p:spPr>
          <a:xfrm>
            <a:off x="1257300" y="2271713"/>
            <a:ext cx="2314575" cy="3429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5F459A-41D7-A74E-BD6F-7F6A928D51BC}"/>
              </a:ext>
            </a:extLst>
          </p:cNvPr>
          <p:cNvSpPr/>
          <p:nvPr/>
        </p:nvSpPr>
        <p:spPr>
          <a:xfrm>
            <a:off x="1257299" y="2857501"/>
            <a:ext cx="2314575" cy="3429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D57706-2ED7-A946-B055-E206DC770D7A}"/>
              </a:ext>
            </a:extLst>
          </p:cNvPr>
          <p:cNvSpPr/>
          <p:nvPr/>
        </p:nvSpPr>
        <p:spPr>
          <a:xfrm>
            <a:off x="1257298" y="3443289"/>
            <a:ext cx="2314575" cy="3429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C33E7E-EA5A-8E49-89EB-BCF2A47A27EA}"/>
              </a:ext>
            </a:extLst>
          </p:cNvPr>
          <p:cNvSpPr/>
          <p:nvPr/>
        </p:nvSpPr>
        <p:spPr>
          <a:xfrm>
            <a:off x="1257297" y="4029077"/>
            <a:ext cx="2314575" cy="3429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262194-AFBF-B84C-BF52-49EA25103CDA}"/>
              </a:ext>
            </a:extLst>
          </p:cNvPr>
          <p:cNvSpPr/>
          <p:nvPr/>
        </p:nvSpPr>
        <p:spPr>
          <a:xfrm>
            <a:off x="1257296" y="4605341"/>
            <a:ext cx="2314575" cy="3429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D45A6-E814-6C45-BA6C-8596C5557DC6}"/>
              </a:ext>
            </a:extLst>
          </p:cNvPr>
          <p:cNvSpPr/>
          <p:nvPr/>
        </p:nvSpPr>
        <p:spPr>
          <a:xfrm>
            <a:off x="1257296" y="5200653"/>
            <a:ext cx="2314575" cy="3429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E39D6A5-2BC6-754B-AF86-349EC478A587}"/>
              </a:ext>
            </a:extLst>
          </p:cNvPr>
          <p:cNvSpPr/>
          <p:nvPr/>
        </p:nvSpPr>
        <p:spPr>
          <a:xfrm>
            <a:off x="5373921" y="3114681"/>
            <a:ext cx="2512779" cy="1221580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Map Function</a:t>
            </a:r>
          </a:p>
          <a:p>
            <a:pPr algn="ctr"/>
            <a:r>
              <a:rPr lang="en-US" sz="2400" dirty="0">
                <a:latin typeface="Avenir Roman" panose="02000503020000020003" pitchFamily="2" charset="0"/>
              </a:rPr>
              <a:t>(user written)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0F78B27-43D6-F34E-B28E-34E6BB339F73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571871" y="2407447"/>
            <a:ext cx="1802050" cy="1318024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9498725-B49C-204C-A22A-9CAE2011FAED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3571874" y="3028951"/>
            <a:ext cx="1802047" cy="69652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DC4E4D0-5147-9E4E-BA70-CAA3BC197725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3571873" y="3614739"/>
            <a:ext cx="1802048" cy="110732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CC921C0-6CA7-5447-8E93-E95852242ADD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 flipV="1">
            <a:off x="3571872" y="3725471"/>
            <a:ext cx="1802049" cy="475056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D80930E-4878-384F-8845-CBB8D26E7389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3571871" y="3725471"/>
            <a:ext cx="1802050" cy="105132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4FDD530-463A-A84B-84A2-1F597C14740A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3571871" y="3725471"/>
            <a:ext cx="1802050" cy="1646632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E70EE2AE-8263-E345-AC36-F5FF112BF153}"/>
              </a:ext>
            </a:extLst>
          </p:cNvPr>
          <p:cNvSpPr/>
          <p:nvPr/>
        </p:nvSpPr>
        <p:spPr>
          <a:xfrm>
            <a:off x="9424987" y="2171701"/>
            <a:ext cx="2314575" cy="3429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4F875A2-E345-D948-A4BC-894ABFB7F75E}"/>
              </a:ext>
            </a:extLst>
          </p:cNvPr>
          <p:cNvSpPr/>
          <p:nvPr/>
        </p:nvSpPr>
        <p:spPr>
          <a:xfrm>
            <a:off x="9424986" y="2757489"/>
            <a:ext cx="2314575" cy="3429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98DD3A1-98D8-3A43-8CD1-C020433736F3}"/>
              </a:ext>
            </a:extLst>
          </p:cNvPr>
          <p:cNvSpPr/>
          <p:nvPr/>
        </p:nvSpPr>
        <p:spPr>
          <a:xfrm>
            <a:off x="9424985" y="3343277"/>
            <a:ext cx="2314575" cy="3429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3DF363E-D054-FC47-94EA-D5614B8E460C}"/>
              </a:ext>
            </a:extLst>
          </p:cNvPr>
          <p:cNvSpPr/>
          <p:nvPr/>
        </p:nvSpPr>
        <p:spPr>
          <a:xfrm>
            <a:off x="9424984" y="3929065"/>
            <a:ext cx="2314575" cy="3429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4F6AD4A-8EE0-954B-9B13-F55B5306DD02}"/>
              </a:ext>
            </a:extLst>
          </p:cNvPr>
          <p:cNvSpPr/>
          <p:nvPr/>
        </p:nvSpPr>
        <p:spPr>
          <a:xfrm>
            <a:off x="9424983" y="4505329"/>
            <a:ext cx="2314575" cy="3429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AE5E686-9454-E749-B2A5-81F5F6439507}"/>
              </a:ext>
            </a:extLst>
          </p:cNvPr>
          <p:cNvSpPr/>
          <p:nvPr/>
        </p:nvSpPr>
        <p:spPr>
          <a:xfrm>
            <a:off x="9424983" y="5100641"/>
            <a:ext cx="2314575" cy="3429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ight Arrow 47">
            <a:extLst>
              <a:ext uri="{FF2B5EF4-FFF2-40B4-BE49-F238E27FC236}">
                <a16:creationId xmlns:a16="http://schemas.microsoft.com/office/drawing/2014/main" id="{D994FC56-F6C6-8F43-903F-6D56CA42B9C0}"/>
              </a:ext>
            </a:extLst>
          </p:cNvPr>
          <p:cNvSpPr/>
          <p:nvPr/>
        </p:nvSpPr>
        <p:spPr>
          <a:xfrm>
            <a:off x="8031394" y="3343277"/>
            <a:ext cx="828675" cy="585788"/>
          </a:xfrm>
          <a:prstGeom prst="rightArrow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latin typeface="Avenir Roman" panose="02000503020000020003" pitchFamily="2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752ADBB-8E25-4A48-BCC1-58D1DBB0D712}"/>
              </a:ext>
            </a:extLst>
          </p:cNvPr>
          <p:cNvSpPr txBox="1"/>
          <p:nvPr/>
        </p:nvSpPr>
        <p:spPr>
          <a:xfrm>
            <a:off x="9258300" y="5729288"/>
            <a:ext cx="2671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Key-Value records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FFE53D-E8E2-0248-8074-9A0C3CCB7F3C}"/>
              </a:ext>
            </a:extLst>
          </p:cNvPr>
          <p:cNvSpPr txBox="1"/>
          <p:nvPr/>
        </p:nvSpPr>
        <p:spPr>
          <a:xfrm>
            <a:off x="4548185" y="1581302"/>
            <a:ext cx="4400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chemeClr val="bg1"/>
                </a:solidFill>
                <a:latin typeface="Avenir Roman" panose="02000503020000020003" pitchFamily="2" charset="0"/>
              </a:defRPr>
            </a:lvl1pPr>
          </a:lstStyle>
          <a:p>
            <a:r>
              <a:rPr lang="en-US" dirty="0"/>
              <a:t>(K1, V1) </a:t>
            </a:r>
            <a:r>
              <a:rPr lang="en-US" dirty="0">
                <a:sym typeface="Wingdings" pitchFamily="2" charset="2"/>
              </a:rPr>
              <a:t> List(K2, V2)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57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48" grpId="0" animBg="1"/>
      <p:bldP spid="49" grpId="0"/>
      <p:bldP spid="5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Reduce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6128AC-02F8-D74E-AE92-3253A96BA16D}"/>
              </a:ext>
            </a:extLst>
          </p:cNvPr>
          <p:cNvSpPr/>
          <p:nvPr/>
        </p:nvSpPr>
        <p:spPr>
          <a:xfrm>
            <a:off x="609600" y="1690688"/>
            <a:ext cx="2314575" cy="3429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2CA633-847B-BC42-BD12-350159E45978}"/>
              </a:ext>
            </a:extLst>
          </p:cNvPr>
          <p:cNvSpPr/>
          <p:nvPr/>
        </p:nvSpPr>
        <p:spPr>
          <a:xfrm>
            <a:off x="609599" y="2276476"/>
            <a:ext cx="2314575" cy="3429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7CE423-E1A1-1242-8A14-91216C7DB4D8}"/>
              </a:ext>
            </a:extLst>
          </p:cNvPr>
          <p:cNvSpPr/>
          <p:nvPr/>
        </p:nvSpPr>
        <p:spPr>
          <a:xfrm>
            <a:off x="609598" y="2862264"/>
            <a:ext cx="2314575" cy="3429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DF1BD3-CF9C-5649-893B-2CC868AD99C5}"/>
              </a:ext>
            </a:extLst>
          </p:cNvPr>
          <p:cNvSpPr/>
          <p:nvPr/>
        </p:nvSpPr>
        <p:spPr>
          <a:xfrm>
            <a:off x="609597" y="3448052"/>
            <a:ext cx="2314575" cy="3429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4A6FB8-7FE8-FB4A-83FD-E52C33717061}"/>
              </a:ext>
            </a:extLst>
          </p:cNvPr>
          <p:cNvSpPr/>
          <p:nvPr/>
        </p:nvSpPr>
        <p:spPr>
          <a:xfrm>
            <a:off x="609596" y="4024316"/>
            <a:ext cx="2314575" cy="3429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971719-F8C4-674F-8EED-A1961F988630}"/>
              </a:ext>
            </a:extLst>
          </p:cNvPr>
          <p:cNvSpPr/>
          <p:nvPr/>
        </p:nvSpPr>
        <p:spPr>
          <a:xfrm>
            <a:off x="609596" y="4619628"/>
            <a:ext cx="2314575" cy="3429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620ACA-0032-A14F-92B0-429495F4C97D}"/>
              </a:ext>
            </a:extLst>
          </p:cNvPr>
          <p:cNvSpPr txBox="1"/>
          <p:nvPr/>
        </p:nvSpPr>
        <p:spPr>
          <a:xfrm>
            <a:off x="431001" y="5205126"/>
            <a:ext cx="2671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venir Roman" panose="02000503020000020003" pitchFamily="2" charset="0"/>
              </a:rPr>
              <a:t>Key-Value records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2969BF1-E9ED-684B-96B4-F09483AAE2CC}"/>
              </a:ext>
            </a:extLst>
          </p:cNvPr>
          <p:cNvSpPr/>
          <p:nvPr/>
        </p:nvSpPr>
        <p:spPr>
          <a:xfrm>
            <a:off x="4559533" y="2802736"/>
            <a:ext cx="2727092" cy="988216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Reduce Function</a:t>
            </a:r>
          </a:p>
          <a:p>
            <a:pPr algn="ctr"/>
            <a:r>
              <a:rPr lang="en-US" sz="2400" dirty="0">
                <a:latin typeface="Avenir Roman" panose="02000503020000020003" pitchFamily="2" charset="0"/>
              </a:rPr>
              <a:t>(user written)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F062B3-9100-3F44-8D8A-0BD3F4DF9B45}"/>
              </a:ext>
            </a:extLst>
          </p:cNvPr>
          <p:cNvSpPr/>
          <p:nvPr/>
        </p:nvSpPr>
        <p:spPr>
          <a:xfrm>
            <a:off x="8763007" y="2802736"/>
            <a:ext cx="2314575" cy="98821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>
                <a:latin typeface="Avenir Roman" panose="02000503020000020003" pitchFamily="2" charset="0"/>
              </a:rPr>
              <a:t>Aggregated Output</a:t>
            </a:r>
            <a:endParaRPr lang="en-US" sz="2400" dirty="0">
              <a:latin typeface="Avenir Roman" panose="02000503020000020003" pitchFamily="2" charset="0"/>
            </a:endParaRP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59F1A500-7722-4C45-AC3E-2D14D828DBBE}"/>
              </a:ext>
            </a:extLst>
          </p:cNvPr>
          <p:cNvSpPr/>
          <p:nvPr/>
        </p:nvSpPr>
        <p:spPr>
          <a:xfrm>
            <a:off x="3320370" y="2981328"/>
            <a:ext cx="842963" cy="571500"/>
          </a:xfrm>
          <a:prstGeom prst="rightArrow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latin typeface="Avenir Roman" panose="02000503020000020003" pitchFamily="2" charset="0"/>
            </a:endParaRP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123582D1-E1E5-7945-9855-0A6C3A68322C}"/>
              </a:ext>
            </a:extLst>
          </p:cNvPr>
          <p:cNvSpPr/>
          <p:nvPr/>
        </p:nvSpPr>
        <p:spPr>
          <a:xfrm>
            <a:off x="7571361" y="3048002"/>
            <a:ext cx="842963" cy="571500"/>
          </a:xfrm>
          <a:prstGeom prst="rightArrow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latin typeface="Avenir Roman" panose="02000503020000020003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D822D3-1223-8D47-8593-27578932BFB4}"/>
              </a:ext>
            </a:extLst>
          </p:cNvPr>
          <p:cNvSpPr txBox="1"/>
          <p:nvPr/>
        </p:nvSpPr>
        <p:spPr>
          <a:xfrm>
            <a:off x="4013774" y="1583978"/>
            <a:ext cx="4400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chemeClr val="bg1"/>
                </a:solidFill>
                <a:latin typeface="Avenir Roman" panose="02000503020000020003" pitchFamily="2" charset="0"/>
              </a:defRPr>
            </a:lvl1pPr>
          </a:lstStyle>
          <a:p>
            <a:r>
              <a:rPr lang="en-US" dirty="0"/>
              <a:t>(K2, List(V2)) </a:t>
            </a:r>
            <a:r>
              <a:rPr lang="en-US" dirty="0">
                <a:sym typeface="Wingdings" pitchFamily="2" charset="2"/>
              </a:rPr>
              <a:t> List(K2, V3)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191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 animBg="1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How MapReduce Works</a:t>
            </a:r>
          </a:p>
        </p:txBody>
      </p:sp>
      <p:sp>
        <p:nvSpPr>
          <p:cNvPr id="4" name="Snip Single Corner Rectangle 3">
            <a:extLst>
              <a:ext uri="{FF2B5EF4-FFF2-40B4-BE49-F238E27FC236}">
                <a16:creationId xmlns:a16="http://schemas.microsoft.com/office/drawing/2014/main" id="{5628E64D-B2A0-1540-B930-6A5709CC97C1}"/>
              </a:ext>
            </a:extLst>
          </p:cNvPr>
          <p:cNvSpPr/>
          <p:nvPr/>
        </p:nvSpPr>
        <p:spPr>
          <a:xfrm>
            <a:off x="385761" y="2247901"/>
            <a:ext cx="1237130" cy="3105150"/>
          </a:xfrm>
          <a:prstGeom prst="snip1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Input File</a:t>
            </a:r>
          </a:p>
        </p:txBody>
      </p:sp>
      <p:sp>
        <p:nvSpPr>
          <p:cNvPr id="5" name="Snip Single Corner Rectangle 4">
            <a:extLst>
              <a:ext uri="{FF2B5EF4-FFF2-40B4-BE49-F238E27FC236}">
                <a16:creationId xmlns:a16="http://schemas.microsoft.com/office/drawing/2014/main" id="{04E0C4BE-AEDD-894C-9D85-BDBDAA227BE0}"/>
              </a:ext>
            </a:extLst>
          </p:cNvPr>
          <p:cNvSpPr/>
          <p:nvPr/>
        </p:nvSpPr>
        <p:spPr>
          <a:xfrm>
            <a:off x="2166936" y="2247899"/>
            <a:ext cx="1237130" cy="781051"/>
          </a:xfrm>
          <a:prstGeom prst="snip1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Split 1</a:t>
            </a:r>
          </a:p>
        </p:txBody>
      </p:sp>
      <p:sp>
        <p:nvSpPr>
          <p:cNvPr id="6" name="Snip Single Corner Rectangle 5">
            <a:extLst>
              <a:ext uri="{FF2B5EF4-FFF2-40B4-BE49-F238E27FC236}">
                <a16:creationId xmlns:a16="http://schemas.microsoft.com/office/drawing/2014/main" id="{35712AC8-77B0-8641-9BDE-D039BB46B12A}"/>
              </a:ext>
            </a:extLst>
          </p:cNvPr>
          <p:cNvSpPr/>
          <p:nvPr/>
        </p:nvSpPr>
        <p:spPr>
          <a:xfrm>
            <a:off x="2156289" y="3409949"/>
            <a:ext cx="1237130" cy="781051"/>
          </a:xfrm>
          <a:prstGeom prst="snip1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Split 2</a:t>
            </a:r>
          </a:p>
        </p:txBody>
      </p:sp>
      <p:sp>
        <p:nvSpPr>
          <p:cNvPr id="7" name="Snip Single Corner Rectangle 6">
            <a:extLst>
              <a:ext uri="{FF2B5EF4-FFF2-40B4-BE49-F238E27FC236}">
                <a16:creationId xmlns:a16="http://schemas.microsoft.com/office/drawing/2014/main" id="{8CFA5EA9-A90C-8B49-8E47-2302CA1EA867}"/>
              </a:ext>
            </a:extLst>
          </p:cNvPr>
          <p:cNvSpPr/>
          <p:nvPr/>
        </p:nvSpPr>
        <p:spPr>
          <a:xfrm>
            <a:off x="2156289" y="4571999"/>
            <a:ext cx="1237130" cy="781051"/>
          </a:xfrm>
          <a:prstGeom prst="snip1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Split 3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D08C3B6-3BEA-EF43-9D72-9283ECBFE4DE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1622891" y="2638424"/>
            <a:ext cx="544045" cy="1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409269C-B721-6144-B885-B1116E86657E}"/>
              </a:ext>
            </a:extLst>
          </p:cNvPr>
          <p:cNvCxnSpPr>
            <a:cxnSpLocks/>
          </p:cNvCxnSpPr>
          <p:nvPr/>
        </p:nvCxnSpPr>
        <p:spPr>
          <a:xfrm>
            <a:off x="1617568" y="3843335"/>
            <a:ext cx="544045" cy="1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2FE3887-2545-C74C-A9D4-7EADC41F2D25}"/>
              </a:ext>
            </a:extLst>
          </p:cNvPr>
          <p:cNvCxnSpPr>
            <a:cxnSpLocks/>
          </p:cNvCxnSpPr>
          <p:nvPr/>
        </p:nvCxnSpPr>
        <p:spPr>
          <a:xfrm>
            <a:off x="1622891" y="5041101"/>
            <a:ext cx="544045" cy="1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607B48C-2DCF-874E-9CDD-695FA5E62874}"/>
              </a:ext>
            </a:extLst>
          </p:cNvPr>
          <p:cNvSpPr/>
          <p:nvPr/>
        </p:nvSpPr>
        <p:spPr>
          <a:xfrm>
            <a:off x="4000499" y="2247899"/>
            <a:ext cx="1243012" cy="781051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Map Task 1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5C00D11-3A1C-464D-B6DA-F99A5FFE0418}"/>
              </a:ext>
            </a:extLst>
          </p:cNvPr>
          <p:cNvSpPr/>
          <p:nvPr/>
        </p:nvSpPr>
        <p:spPr>
          <a:xfrm>
            <a:off x="4000499" y="3409949"/>
            <a:ext cx="1243012" cy="781051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Map Task 2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82E03FD-7C8C-884F-A503-D91E39AA71BA}"/>
              </a:ext>
            </a:extLst>
          </p:cNvPr>
          <p:cNvSpPr/>
          <p:nvPr/>
        </p:nvSpPr>
        <p:spPr>
          <a:xfrm>
            <a:off x="3983965" y="4571999"/>
            <a:ext cx="1243012" cy="781051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Map Task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8F4C44-025C-514E-AB8F-99285C93440A}"/>
              </a:ext>
            </a:extLst>
          </p:cNvPr>
          <p:cNvSpPr txBox="1"/>
          <p:nvPr/>
        </p:nvSpPr>
        <p:spPr>
          <a:xfrm>
            <a:off x="1428750" y="5672138"/>
            <a:ext cx="25980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Split Size = HDFS block size (128MB)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F97567A-8F8B-F342-8C92-CB01B85A2136}"/>
              </a:ext>
            </a:extLst>
          </p:cNvPr>
          <p:cNvCxnSpPr>
            <a:cxnSpLocks/>
          </p:cNvCxnSpPr>
          <p:nvPr/>
        </p:nvCxnSpPr>
        <p:spPr>
          <a:xfrm>
            <a:off x="3415407" y="2638423"/>
            <a:ext cx="544045" cy="1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A3E667-B3F9-E74C-A41E-86ED1B8F2E12}"/>
              </a:ext>
            </a:extLst>
          </p:cNvPr>
          <p:cNvCxnSpPr>
            <a:cxnSpLocks/>
          </p:cNvCxnSpPr>
          <p:nvPr/>
        </p:nvCxnSpPr>
        <p:spPr>
          <a:xfrm>
            <a:off x="3410084" y="3843334"/>
            <a:ext cx="544045" cy="1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54B8C99-CB90-BF43-9D53-0377195CD95C}"/>
              </a:ext>
            </a:extLst>
          </p:cNvPr>
          <p:cNvCxnSpPr>
            <a:cxnSpLocks/>
          </p:cNvCxnSpPr>
          <p:nvPr/>
        </p:nvCxnSpPr>
        <p:spPr>
          <a:xfrm>
            <a:off x="3415407" y="5041100"/>
            <a:ext cx="544045" cy="1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be 18">
            <a:extLst>
              <a:ext uri="{FF2B5EF4-FFF2-40B4-BE49-F238E27FC236}">
                <a16:creationId xmlns:a16="http://schemas.microsoft.com/office/drawing/2014/main" id="{E98A5AEE-753F-2449-87C9-F1E30B054CE7}"/>
              </a:ext>
            </a:extLst>
          </p:cNvPr>
          <p:cNvSpPr/>
          <p:nvPr/>
        </p:nvSpPr>
        <p:spPr>
          <a:xfrm>
            <a:off x="5782233" y="4657719"/>
            <a:ext cx="1033463" cy="657226"/>
          </a:xfrm>
          <a:prstGeom prst="cube">
            <a:avLst>
              <a:gd name="adj" fmla="val 37755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Disk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EF563D5-EDFD-584A-BCA7-39B3528A9351}"/>
              </a:ext>
            </a:extLst>
          </p:cNvPr>
          <p:cNvCxnSpPr>
            <a:cxnSpLocks/>
          </p:cNvCxnSpPr>
          <p:nvPr/>
        </p:nvCxnSpPr>
        <p:spPr>
          <a:xfrm>
            <a:off x="5243511" y="2638423"/>
            <a:ext cx="544045" cy="1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3FFF8F7-A4FD-B142-AE56-F53BB6FDEB73}"/>
              </a:ext>
            </a:extLst>
          </p:cNvPr>
          <p:cNvCxnSpPr>
            <a:cxnSpLocks/>
          </p:cNvCxnSpPr>
          <p:nvPr/>
        </p:nvCxnSpPr>
        <p:spPr>
          <a:xfrm>
            <a:off x="5238188" y="3843334"/>
            <a:ext cx="544045" cy="1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D0BEAEC-041C-2E40-BD76-2125B0B33069}"/>
              </a:ext>
            </a:extLst>
          </p:cNvPr>
          <p:cNvCxnSpPr>
            <a:cxnSpLocks/>
          </p:cNvCxnSpPr>
          <p:nvPr/>
        </p:nvCxnSpPr>
        <p:spPr>
          <a:xfrm>
            <a:off x="5243511" y="5041100"/>
            <a:ext cx="544045" cy="1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be 22">
            <a:extLst>
              <a:ext uri="{FF2B5EF4-FFF2-40B4-BE49-F238E27FC236}">
                <a16:creationId xmlns:a16="http://schemas.microsoft.com/office/drawing/2014/main" id="{6D9DA49C-56CD-2340-A1F2-30DA894EF479}"/>
              </a:ext>
            </a:extLst>
          </p:cNvPr>
          <p:cNvSpPr/>
          <p:nvPr/>
        </p:nvSpPr>
        <p:spPr>
          <a:xfrm>
            <a:off x="5839944" y="2221705"/>
            <a:ext cx="1033463" cy="657226"/>
          </a:xfrm>
          <a:prstGeom prst="cube">
            <a:avLst>
              <a:gd name="adj" fmla="val 37755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Disk</a:t>
            </a:r>
          </a:p>
        </p:txBody>
      </p:sp>
      <p:sp>
        <p:nvSpPr>
          <p:cNvPr id="24" name="Cube 23">
            <a:extLst>
              <a:ext uri="{FF2B5EF4-FFF2-40B4-BE49-F238E27FC236}">
                <a16:creationId xmlns:a16="http://schemas.microsoft.com/office/drawing/2014/main" id="{C74C63E1-9C04-A648-8CAB-82190EEFF6E8}"/>
              </a:ext>
            </a:extLst>
          </p:cNvPr>
          <p:cNvSpPr/>
          <p:nvPr/>
        </p:nvSpPr>
        <p:spPr>
          <a:xfrm>
            <a:off x="5793999" y="3369464"/>
            <a:ext cx="1033463" cy="657226"/>
          </a:xfrm>
          <a:prstGeom prst="cube">
            <a:avLst>
              <a:gd name="adj" fmla="val 37755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Disk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C95351-EE33-AF4B-A782-994E466D97BD}"/>
              </a:ext>
            </a:extLst>
          </p:cNvPr>
          <p:cNvSpPr txBox="1"/>
          <p:nvPr/>
        </p:nvSpPr>
        <p:spPr>
          <a:xfrm>
            <a:off x="5385195" y="5545864"/>
            <a:ext cx="18275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Local Disk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9539C3-871A-7F41-8982-922423C3117B}"/>
              </a:ext>
            </a:extLst>
          </p:cNvPr>
          <p:cNvSpPr txBox="1"/>
          <p:nvPr/>
        </p:nvSpPr>
        <p:spPr>
          <a:xfrm>
            <a:off x="4605471" y="1425774"/>
            <a:ext cx="24360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Output 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(key-value records)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793FCF3-E778-BC45-A43B-50C0C173A57D}"/>
              </a:ext>
            </a:extLst>
          </p:cNvPr>
          <p:cNvSpPr/>
          <p:nvPr/>
        </p:nvSpPr>
        <p:spPr>
          <a:xfrm>
            <a:off x="7883747" y="2203843"/>
            <a:ext cx="485775" cy="416718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latin typeface="Avenir Roman" panose="02000503020000020003" pitchFamily="2" charset="0"/>
              </a:rPr>
              <a:t>p1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45807F-65B0-8640-A0DD-F83E94115E96}"/>
              </a:ext>
            </a:extLst>
          </p:cNvPr>
          <p:cNvSpPr/>
          <p:nvPr/>
        </p:nvSpPr>
        <p:spPr>
          <a:xfrm>
            <a:off x="7883746" y="2861069"/>
            <a:ext cx="485775" cy="416718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latin typeface="Avenir Roman" panose="02000503020000020003" pitchFamily="2" charset="0"/>
              </a:rPr>
              <a:t>p2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D6F59D2-46BE-BA4F-AEB5-1EA0DF840194}"/>
              </a:ext>
            </a:extLst>
          </p:cNvPr>
          <p:cNvSpPr/>
          <p:nvPr/>
        </p:nvSpPr>
        <p:spPr>
          <a:xfrm>
            <a:off x="7882349" y="4895839"/>
            <a:ext cx="485775" cy="416718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latin typeface="Avenir Roman" panose="02000503020000020003" pitchFamily="2" charset="0"/>
              </a:rPr>
              <a:t>p5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E12E0EE-5951-6A41-BEE0-9C47C24AB346}"/>
              </a:ext>
            </a:extLst>
          </p:cNvPr>
          <p:cNvSpPr/>
          <p:nvPr/>
        </p:nvSpPr>
        <p:spPr>
          <a:xfrm>
            <a:off x="7865815" y="4224329"/>
            <a:ext cx="485775" cy="416718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latin typeface="Avenir Roman" panose="02000503020000020003" pitchFamily="2" charset="0"/>
              </a:rPr>
              <a:t>p4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395CA7D-6182-224F-9974-E718BCE01015}"/>
              </a:ext>
            </a:extLst>
          </p:cNvPr>
          <p:cNvSpPr/>
          <p:nvPr/>
        </p:nvSpPr>
        <p:spPr>
          <a:xfrm>
            <a:off x="7883746" y="3552819"/>
            <a:ext cx="485775" cy="416718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latin typeface="Avenir Roman" panose="02000503020000020003" pitchFamily="2" charset="0"/>
              </a:rPr>
              <a:t>p3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6F3EAE21-DAAC-514F-9E3B-3C72B0AE54BE}"/>
              </a:ext>
            </a:extLst>
          </p:cNvPr>
          <p:cNvSpPr/>
          <p:nvPr/>
        </p:nvSpPr>
        <p:spPr>
          <a:xfrm>
            <a:off x="7019922" y="3378954"/>
            <a:ext cx="624169" cy="571500"/>
          </a:xfrm>
          <a:prstGeom prst="rightArrow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latin typeface="Avenir Roman" panose="02000503020000020003" pitchFamily="2" charset="0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1B6A4D2-9B42-504D-A732-3A44D1C1D425}"/>
              </a:ext>
            </a:extLst>
          </p:cNvPr>
          <p:cNvSpPr/>
          <p:nvPr/>
        </p:nvSpPr>
        <p:spPr>
          <a:xfrm>
            <a:off x="9383102" y="2194318"/>
            <a:ext cx="1832586" cy="426244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Reduce Task 1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C486150-99D5-D040-8BDB-128F11F6332A}"/>
              </a:ext>
            </a:extLst>
          </p:cNvPr>
          <p:cNvSpPr/>
          <p:nvPr/>
        </p:nvSpPr>
        <p:spPr>
          <a:xfrm>
            <a:off x="9383102" y="2861069"/>
            <a:ext cx="1832586" cy="426244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Reduce Task 2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89DFB3F8-CBF9-4D44-AC92-5847A596A36F}"/>
              </a:ext>
            </a:extLst>
          </p:cNvPr>
          <p:cNvSpPr/>
          <p:nvPr/>
        </p:nvSpPr>
        <p:spPr>
          <a:xfrm>
            <a:off x="9434777" y="4906548"/>
            <a:ext cx="1832586" cy="426244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Reduce Task 5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2B93200-681B-B145-A91C-DEC951C046E1}"/>
              </a:ext>
            </a:extLst>
          </p:cNvPr>
          <p:cNvSpPr/>
          <p:nvPr/>
        </p:nvSpPr>
        <p:spPr>
          <a:xfrm>
            <a:off x="9414619" y="4214803"/>
            <a:ext cx="1832586" cy="426244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Reduce Task 4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348CF934-5571-CC44-A67C-5EBC96CE3AFB}"/>
              </a:ext>
            </a:extLst>
          </p:cNvPr>
          <p:cNvSpPr/>
          <p:nvPr/>
        </p:nvSpPr>
        <p:spPr>
          <a:xfrm>
            <a:off x="9414619" y="3538531"/>
            <a:ext cx="1832586" cy="426244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Reduce Task 3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195397C-7A55-3B47-A179-FDECE9184DF5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8368124" y="2407440"/>
            <a:ext cx="1014978" cy="666751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6EB2FA7-ED07-0C43-98F5-6C873773FE58}"/>
              </a:ext>
            </a:extLst>
          </p:cNvPr>
          <p:cNvCxnSpPr>
            <a:cxnSpLocks/>
            <a:stCxn id="28" idx="3"/>
            <a:endCxn id="38" idx="1"/>
          </p:cNvCxnSpPr>
          <p:nvPr/>
        </p:nvCxnSpPr>
        <p:spPr>
          <a:xfrm>
            <a:off x="8369521" y="3069428"/>
            <a:ext cx="1045098" cy="682225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2E0FC5F-BF03-C74F-A389-4E802DF44173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>
          <a:xfrm flipV="1">
            <a:off x="8369521" y="2407440"/>
            <a:ext cx="1013581" cy="1353738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EA52223-4AD3-1E4A-B194-EBC0B15CA7B9}"/>
              </a:ext>
            </a:extLst>
          </p:cNvPr>
          <p:cNvCxnSpPr>
            <a:cxnSpLocks/>
            <a:stCxn id="31" idx="3"/>
            <a:endCxn id="36" idx="1"/>
          </p:cNvCxnSpPr>
          <p:nvPr/>
        </p:nvCxnSpPr>
        <p:spPr>
          <a:xfrm>
            <a:off x="8351590" y="4432688"/>
            <a:ext cx="1083187" cy="686982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8A35B1C-1683-BF42-86E8-9ED835E673D6}"/>
              </a:ext>
            </a:extLst>
          </p:cNvPr>
          <p:cNvCxnSpPr>
            <a:cxnSpLocks/>
            <a:stCxn id="30" idx="3"/>
          </p:cNvCxnSpPr>
          <p:nvPr/>
        </p:nvCxnSpPr>
        <p:spPr>
          <a:xfrm flipV="1">
            <a:off x="8368124" y="4442213"/>
            <a:ext cx="1066653" cy="661985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73D18752-F5B5-3146-92EF-4BD86385B752}"/>
              </a:ext>
            </a:extLst>
          </p:cNvPr>
          <p:cNvSpPr/>
          <p:nvPr/>
        </p:nvSpPr>
        <p:spPr>
          <a:xfrm>
            <a:off x="6457950" y="1528763"/>
            <a:ext cx="3557588" cy="4497318"/>
          </a:xfrm>
          <a:prstGeom prst="roundRect">
            <a:avLst/>
          </a:prstGeom>
          <a:solidFill>
            <a:schemeClr val="bg1">
              <a:alpha val="29000"/>
            </a:schemeClr>
          </a:solidFill>
          <a:ln w="38100"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44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2" grpId="0" animBg="1"/>
      <p:bldP spid="13" grpId="0" animBg="1"/>
      <p:bldP spid="14" grpId="0" animBg="1"/>
      <p:bldP spid="15" grpId="0"/>
      <p:bldP spid="19" grpId="0" animBg="1"/>
      <p:bldP spid="23" grpId="0" animBg="1"/>
      <p:bldP spid="24" grpId="0" animBg="1"/>
      <p:bldP spid="25" grpId="0"/>
      <p:bldP spid="26" grpId="0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5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How MapReduce Works</a:t>
            </a: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1E2F6023-825C-164E-AF10-731DDAE4EE90}"/>
              </a:ext>
            </a:extLst>
          </p:cNvPr>
          <p:cNvGrpSpPr/>
          <p:nvPr/>
        </p:nvGrpSpPr>
        <p:grpSpPr>
          <a:xfrm>
            <a:off x="5349802" y="2281234"/>
            <a:ext cx="503707" cy="3108714"/>
            <a:chOff x="5349802" y="2281234"/>
            <a:chExt cx="503707" cy="310871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793FCF3-E778-BC45-A43B-50C0C173A57D}"/>
                </a:ext>
              </a:extLst>
            </p:cNvPr>
            <p:cNvSpPr/>
            <p:nvPr/>
          </p:nvSpPr>
          <p:spPr>
            <a:xfrm>
              <a:off x="5367734" y="2281234"/>
              <a:ext cx="485775" cy="416718"/>
            </a:xfrm>
            <a:prstGeom prst="rect">
              <a:avLst/>
            </a:prstGeom>
            <a:noFill/>
            <a:ln w="28575">
              <a:solidFill>
                <a:srgbClr val="FF7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>
                  <a:solidFill>
                    <a:srgbClr val="76D6FF"/>
                  </a:solidFill>
                  <a:latin typeface="Avenir Roman" panose="02000503020000020003" pitchFamily="2" charset="0"/>
                </a:rPr>
                <a:t>p1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745807F-65B0-8640-A0DD-F83E94115E96}"/>
                </a:ext>
              </a:extLst>
            </p:cNvPr>
            <p:cNvSpPr/>
            <p:nvPr/>
          </p:nvSpPr>
          <p:spPr>
            <a:xfrm>
              <a:off x="5367733" y="2938460"/>
              <a:ext cx="485775" cy="416718"/>
            </a:xfrm>
            <a:prstGeom prst="rect">
              <a:avLst/>
            </a:prstGeom>
            <a:noFill/>
            <a:ln w="28575">
              <a:solidFill>
                <a:srgbClr val="FF7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>
                  <a:solidFill>
                    <a:srgbClr val="76D6FF"/>
                  </a:solidFill>
                  <a:latin typeface="Avenir Roman" panose="02000503020000020003" pitchFamily="2" charset="0"/>
                </a:rPr>
                <a:t>p2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D6F59D2-46BE-BA4F-AEB5-1EA0DF840194}"/>
                </a:ext>
              </a:extLst>
            </p:cNvPr>
            <p:cNvSpPr/>
            <p:nvPr/>
          </p:nvSpPr>
          <p:spPr>
            <a:xfrm>
              <a:off x="5352048" y="4973230"/>
              <a:ext cx="485775" cy="416718"/>
            </a:xfrm>
            <a:prstGeom prst="rect">
              <a:avLst/>
            </a:prstGeom>
            <a:noFill/>
            <a:ln w="28575">
              <a:solidFill>
                <a:srgbClr val="FF7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>
                  <a:solidFill>
                    <a:srgbClr val="76D6FF"/>
                  </a:solidFill>
                  <a:latin typeface="Avenir Roman" panose="02000503020000020003" pitchFamily="2" charset="0"/>
                </a:rPr>
                <a:t>p5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E12E0EE-5951-6A41-BEE0-9C47C24AB346}"/>
                </a:ext>
              </a:extLst>
            </p:cNvPr>
            <p:cNvSpPr/>
            <p:nvPr/>
          </p:nvSpPr>
          <p:spPr>
            <a:xfrm>
              <a:off x="5349802" y="4301720"/>
              <a:ext cx="485775" cy="416718"/>
            </a:xfrm>
            <a:prstGeom prst="rect">
              <a:avLst/>
            </a:prstGeom>
            <a:noFill/>
            <a:ln w="28575">
              <a:solidFill>
                <a:srgbClr val="FF7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>
                  <a:solidFill>
                    <a:srgbClr val="76D6FF"/>
                  </a:solidFill>
                  <a:latin typeface="Avenir Roman" panose="02000503020000020003" pitchFamily="2" charset="0"/>
                </a:rPr>
                <a:t>p4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395CA7D-6182-224F-9974-E718BCE01015}"/>
                </a:ext>
              </a:extLst>
            </p:cNvPr>
            <p:cNvSpPr/>
            <p:nvPr/>
          </p:nvSpPr>
          <p:spPr>
            <a:xfrm>
              <a:off x="5367733" y="3630210"/>
              <a:ext cx="485775" cy="416718"/>
            </a:xfrm>
            <a:prstGeom prst="rect">
              <a:avLst/>
            </a:prstGeom>
            <a:noFill/>
            <a:ln w="28575">
              <a:solidFill>
                <a:srgbClr val="FF7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>
                  <a:solidFill>
                    <a:srgbClr val="76D6FF"/>
                  </a:solidFill>
                  <a:latin typeface="Avenir Roman" panose="02000503020000020003" pitchFamily="2" charset="0"/>
                </a:rPr>
                <a:t>p3</a:t>
              </a:r>
            </a:p>
          </p:txBody>
        </p:sp>
      </p:grpSp>
      <p:sp>
        <p:nvSpPr>
          <p:cNvPr id="33" name="Right Arrow 32">
            <a:extLst>
              <a:ext uri="{FF2B5EF4-FFF2-40B4-BE49-F238E27FC236}">
                <a16:creationId xmlns:a16="http://schemas.microsoft.com/office/drawing/2014/main" id="{6F3EAE21-DAAC-514F-9E3B-3C72B0AE54BE}"/>
              </a:ext>
            </a:extLst>
          </p:cNvPr>
          <p:cNvSpPr/>
          <p:nvPr/>
        </p:nvSpPr>
        <p:spPr>
          <a:xfrm>
            <a:off x="4503909" y="3456345"/>
            <a:ext cx="624169" cy="571500"/>
          </a:xfrm>
          <a:prstGeom prst="rightArrow">
            <a:avLst/>
          </a:prstGeom>
          <a:noFill/>
          <a:ln w="28575"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solidFill>
                <a:srgbClr val="76D6FF"/>
              </a:solidFill>
              <a:latin typeface="Avenir Roman" panose="02000503020000020003" pitchFamily="2" charset="0"/>
            </a:endParaRP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1FFA3E4A-DD49-E844-9172-FE4C690D09A1}"/>
              </a:ext>
            </a:extLst>
          </p:cNvPr>
          <p:cNvGrpSpPr/>
          <p:nvPr/>
        </p:nvGrpSpPr>
        <p:grpSpPr>
          <a:xfrm>
            <a:off x="9768865" y="2234793"/>
            <a:ext cx="1832586" cy="3123996"/>
            <a:chOff x="9768865" y="2234793"/>
            <a:chExt cx="1832586" cy="3123996"/>
          </a:xfrm>
        </p:grpSpPr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81B6A4D2-9B42-504D-A732-3A44D1C1D425}"/>
                </a:ext>
              </a:extLst>
            </p:cNvPr>
            <p:cNvSpPr/>
            <p:nvPr/>
          </p:nvSpPr>
          <p:spPr>
            <a:xfrm>
              <a:off x="9768865" y="2234793"/>
              <a:ext cx="1832586" cy="426244"/>
            </a:xfrm>
            <a:prstGeom prst="round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latin typeface="Avenir Roman" panose="02000503020000020003" pitchFamily="2" charset="0"/>
                </a:rPr>
                <a:t>Reduce Task 1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8C486150-99D5-D040-8BDB-128F11F6332A}"/>
                </a:ext>
              </a:extLst>
            </p:cNvPr>
            <p:cNvSpPr/>
            <p:nvPr/>
          </p:nvSpPr>
          <p:spPr>
            <a:xfrm>
              <a:off x="9768865" y="2882489"/>
              <a:ext cx="1832586" cy="426244"/>
            </a:xfrm>
            <a:prstGeom prst="round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latin typeface="Avenir Roman" panose="02000503020000020003" pitchFamily="2" charset="0"/>
                </a:rPr>
                <a:t>Reduce Task 2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89DFB3F8-CBF9-4D44-AC92-5847A596A36F}"/>
                </a:ext>
              </a:extLst>
            </p:cNvPr>
            <p:cNvSpPr/>
            <p:nvPr/>
          </p:nvSpPr>
          <p:spPr>
            <a:xfrm>
              <a:off x="9768865" y="4932545"/>
              <a:ext cx="1832586" cy="426244"/>
            </a:xfrm>
            <a:prstGeom prst="round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latin typeface="Avenir Roman" panose="02000503020000020003" pitchFamily="2" charset="0"/>
                </a:rPr>
                <a:t>Reduce Task 5</a:t>
              </a: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E2B93200-681B-B145-A91C-DEC951C046E1}"/>
                </a:ext>
              </a:extLst>
            </p:cNvPr>
            <p:cNvSpPr/>
            <p:nvPr/>
          </p:nvSpPr>
          <p:spPr>
            <a:xfrm>
              <a:off x="9768865" y="4242106"/>
              <a:ext cx="1832586" cy="426244"/>
            </a:xfrm>
            <a:prstGeom prst="round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latin typeface="Avenir Roman" panose="02000503020000020003" pitchFamily="2" charset="0"/>
                </a:rPr>
                <a:t>Reduce Task 4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348CF934-5571-CC44-A67C-5EBC96CE3AFB}"/>
                </a:ext>
              </a:extLst>
            </p:cNvPr>
            <p:cNvSpPr/>
            <p:nvPr/>
          </p:nvSpPr>
          <p:spPr>
            <a:xfrm>
              <a:off x="9768865" y="3565876"/>
              <a:ext cx="1832586" cy="426244"/>
            </a:xfrm>
            <a:prstGeom prst="round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latin typeface="Avenir Roman" panose="02000503020000020003" pitchFamily="2" charset="0"/>
                </a:rPr>
                <a:t>Reduce Task 3</a:t>
              </a:r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6FF228CE-CD46-414E-8206-AD1520C2500A}"/>
              </a:ext>
            </a:extLst>
          </p:cNvPr>
          <p:cNvSpPr/>
          <p:nvPr/>
        </p:nvSpPr>
        <p:spPr>
          <a:xfrm>
            <a:off x="500063" y="3448007"/>
            <a:ext cx="1345821" cy="684613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latin typeface="Avenir Roman" panose="02000503020000020003" pitchFamily="2" charset="0"/>
              </a:rPr>
              <a:t>Map Output 2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AC31118-E147-2941-B298-C1ADDDB707D6}"/>
              </a:ext>
            </a:extLst>
          </p:cNvPr>
          <p:cNvSpPr/>
          <p:nvPr/>
        </p:nvSpPr>
        <p:spPr>
          <a:xfrm>
            <a:off x="500063" y="4701696"/>
            <a:ext cx="1328737" cy="684613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latin typeface="Avenir Roman" panose="02000503020000020003" pitchFamily="2" charset="0"/>
              </a:rPr>
              <a:t>Map Output 3</a:t>
            </a:r>
          </a:p>
        </p:txBody>
      </p:sp>
      <p:sp>
        <p:nvSpPr>
          <p:cNvPr id="46" name="Right Arrow 45">
            <a:extLst>
              <a:ext uri="{FF2B5EF4-FFF2-40B4-BE49-F238E27FC236}">
                <a16:creationId xmlns:a16="http://schemas.microsoft.com/office/drawing/2014/main" id="{C135DE64-1B54-5246-88C4-7634A5C18418}"/>
              </a:ext>
            </a:extLst>
          </p:cNvPr>
          <p:cNvSpPr/>
          <p:nvPr/>
        </p:nvSpPr>
        <p:spPr>
          <a:xfrm>
            <a:off x="2042375" y="3475428"/>
            <a:ext cx="624169" cy="571500"/>
          </a:xfrm>
          <a:prstGeom prst="rightArrow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>
              <a:solidFill>
                <a:srgbClr val="76D6FF"/>
              </a:solidFill>
              <a:latin typeface="Avenir Roman" panose="02000503020000020003" pitchFamily="2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C27DBBD-DC92-B740-99D3-2011EBEDBB17}"/>
              </a:ext>
            </a:extLst>
          </p:cNvPr>
          <p:cNvSpPr/>
          <p:nvPr/>
        </p:nvSpPr>
        <p:spPr>
          <a:xfrm>
            <a:off x="500063" y="2346717"/>
            <a:ext cx="1328737" cy="684613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latin typeface="Avenir Roman" panose="02000503020000020003" pitchFamily="2" charset="0"/>
              </a:rPr>
              <a:t>Map </a:t>
            </a:r>
            <a:r>
              <a:rPr lang="en-US" sz="2000">
                <a:latin typeface="Avenir Roman" panose="02000503020000020003" pitchFamily="2" charset="0"/>
              </a:rPr>
              <a:t>Output 1</a:t>
            </a:r>
            <a:endParaRPr lang="en-US" sz="2000" dirty="0">
              <a:latin typeface="Avenir Roman" panose="02000503020000020003" pitchFamily="2" charset="0"/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A7211398-523A-244A-B8F2-AA939F0808D4}"/>
              </a:ext>
            </a:extLst>
          </p:cNvPr>
          <p:cNvGrpSpPr/>
          <p:nvPr/>
        </p:nvGrpSpPr>
        <p:grpSpPr>
          <a:xfrm>
            <a:off x="2892630" y="2346718"/>
            <a:ext cx="1236442" cy="3006245"/>
            <a:chOff x="2892630" y="2346718"/>
            <a:chExt cx="1236442" cy="300624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6975411-E399-1941-A734-767D0459F8EF}"/>
                </a:ext>
              </a:extLst>
            </p:cNvPr>
            <p:cNvSpPr/>
            <p:nvPr/>
          </p:nvSpPr>
          <p:spPr>
            <a:xfrm>
              <a:off x="2910933" y="2346718"/>
              <a:ext cx="1218139" cy="684613"/>
            </a:xfrm>
            <a:prstGeom prst="rect">
              <a:avLst/>
            </a:prstGeom>
            <a:noFill/>
            <a:ln w="28575">
              <a:solidFill>
                <a:srgbClr val="FF7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>
                  <a:solidFill>
                    <a:srgbClr val="76D6FF"/>
                  </a:solidFill>
                  <a:latin typeface="Avenir Roman" panose="02000503020000020003" pitchFamily="2" charset="0"/>
                </a:rPr>
                <a:t>Sort by Key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061536E-2052-1749-A343-24D7AE3BC528}"/>
                </a:ext>
              </a:extLst>
            </p:cNvPr>
            <p:cNvSpPr/>
            <p:nvPr/>
          </p:nvSpPr>
          <p:spPr>
            <a:xfrm>
              <a:off x="2892630" y="3456341"/>
              <a:ext cx="1236442" cy="684613"/>
            </a:xfrm>
            <a:prstGeom prst="rect">
              <a:avLst/>
            </a:prstGeom>
            <a:noFill/>
            <a:ln w="28575">
              <a:solidFill>
                <a:srgbClr val="FF7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>
                  <a:solidFill>
                    <a:srgbClr val="76D6FF"/>
                  </a:solidFill>
                  <a:latin typeface="Avenir Roman" panose="02000503020000020003" pitchFamily="2" charset="0"/>
                </a:rPr>
                <a:t>Sort by Key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D77A697-900F-134D-9BF4-12448412797F}"/>
                </a:ext>
              </a:extLst>
            </p:cNvPr>
            <p:cNvSpPr/>
            <p:nvPr/>
          </p:nvSpPr>
          <p:spPr>
            <a:xfrm>
              <a:off x="2892630" y="4668350"/>
              <a:ext cx="1236442" cy="684613"/>
            </a:xfrm>
            <a:prstGeom prst="rect">
              <a:avLst/>
            </a:prstGeom>
            <a:noFill/>
            <a:ln w="28575">
              <a:solidFill>
                <a:srgbClr val="FF7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>
                  <a:solidFill>
                    <a:srgbClr val="76D6FF"/>
                  </a:solidFill>
                  <a:latin typeface="Avenir Roman" panose="02000503020000020003" pitchFamily="2" charset="0"/>
                </a:rPr>
                <a:t>Sort by Key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ED443C94-E017-314F-AB9F-179E07604F0E}"/>
              </a:ext>
            </a:extLst>
          </p:cNvPr>
          <p:cNvSpPr txBox="1"/>
          <p:nvPr/>
        </p:nvSpPr>
        <p:spPr>
          <a:xfrm>
            <a:off x="-126067" y="5488918"/>
            <a:ext cx="25980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venir Roman" panose="02000503020000020003" pitchFamily="2" charset="0"/>
              </a:rPr>
              <a:t>Key-value output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AD7F32-79D7-B345-B5F8-B7FBD0673C23}"/>
              </a:ext>
            </a:extLst>
          </p:cNvPr>
          <p:cNvSpPr txBox="1"/>
          <p:nvPr/>
        </p:nvSpPr>
        <p:spPr>
          <a:xfrm>
            <a:off x="3509728" y="5624872"/>
            <a:ext cx="259807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solidFill>
                  <a:srgbClr val="76D6FF"/>
                </a:solidFill>
                <a:latin typeface="Avenir Roman" panose="02000503020000020003" pitchFamily="2" charset="0"/>
              </a:rPr>
              <a:t>Partitioner</a:t>
            </a:r>
            <a:endParaRPr lang="en-US" sz="2000" dirty="0">
              <a:solidFill>
                <a:srgbClr val="76D6FF"/>
              </a:solidFill>
              <a:latin typeface="Avenir Roman" panose="02000503020000020003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597FBAD-F804-8345-B04B-330790F2B5DD}"/>
              </a:ext>
            </a:extLst>
          </p:cNvPr>
          <p:cNvSpPr txBox="1"/>
          <p:nvPr/>
        </p:nvSpPr>
        <p:spPr>
          <a:xfrm>
            <a:off x="4458163" y="1505371"/>
            <a:ext cx="230491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76D6FF"/>
                </a:solidFill>
                <a:latin typeface="Avenir Roman" panose="02000503020000020003" pitchFamily="2" charset="0"/>
              </a:rPr>
              <a:t>Partition by Key</a:t>
            </a:r>
          </a:p>
        </p:txBody>
      </p:sp>
      <p:sp>
        <p:nvSpPr>
          <p:cNvPr id="42" name="Left-Right Arrow 41">
            <a:extLst>
              <a:ext uri="{FF2B5EF4-FFF2-40B4-BE49-F238E27FC236}">
                <a16:creationId xmlns:a16="http://schemas.microsoft.com/office/drawing/2014/main" id="{E539BEEC-59D0-5B41-9B57-F3ACC722A629}"/>
              </a:ext>
            </a:extLst>
          </p:cNvPr>
          <p:cNvSpPr/>
          <p:nvPr/>
        </p:nvSpPr>
        <p:spPr>
          <a:xfrm>
            <a:off x="500063" y="6024982"/>
            <a:ext cx="5335514" cy="675856"/>
          </a:xfrm>
          <a:prstGeom prst="leftRightArrow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latin typeface="Avenir Roman" panose="02000503020000020003" pitchFamily="2" charset="0"/>
              </a:rPr>
              <a:t>Map Side</a:t>
            </a:r>
            <a:endParaRPr lang="en-US" dirty="0">
              <a:latin typeface="Avenir Roman" panose="02000503020000020003" pitchFamily="2" charset="0"/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00E104F-4128-6745-B47F-EF80A37ECF30}"/>
              </a:ext>
            </a:extLst>
          </p:cNvPr>
          <p:cNvCxnSpPr>
            <a:stCxn id="27" idx="3"/>
          </p:cNvCxnSpPr>
          <p:nvPr/>
        </p:nvCxnSpPr>
        <p:spPr>
          <a:xfrm>
            <a:off x="5853509" y="2489593"/>
            <a:ext cx="1518841" cy="0"/>
          </a:xfrm>
          <a:prstGeom prst="straightConnector1">
            <a:avLst/>
          </a:prstGeom>
          <a:ln w="28575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2AEF8B4-8326-7E47-9888-E95A8C3889C3}"/>
              </a:ext>
            </a:extLst>
          </p:cNvPr>
          <p:cNvCxnSpPr>
            <a:cxnSpLocks/>
            <a:stCxn id="32" idx="3"/>
            <a:endCxn id="69" idx="1"/>
          </p:cNvCxnSpPr>
          <p:nvPr/>
        </p:nvCxnSpPr>
        <p:spPr>
          <a:xfrm flipV="1">
            <a:off x="5853508" y="2461610"/>
            <a:ext cx="1545791" cy="1376959"/>
          </a:xfrm>
          <a:prstGeom prst="straightConnector1">
            <a:avLst/>
          </a:prstGeom>
          <a:ln w="28575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EC03A74-A09F-6649-B01E-F697D81A0DB3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5853508" y="3146819"/>
            <a:ext cx="1518842" cy="608469"/>
          </a:xfrm>
          <a:prstGeom prst="straightConnector1">
            <a:avLst/>
          </a:prstGeom>
          <a:ln w="28575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441F16E-8898-F245-8055-3686F54579D4}"/>
              </a:ext>
            </a:extLst>
          </p:cNvPr>
          <p:cNvCxnSpPr>
            <a:cxnSpLocks/>
            <a:stCxn id="30" idx="3"/>
          </p:cNvCxnSpPr>
          <p:nvPr/>
        </p:nvCxnSpPr>
        <p:spPr>
          <a:xfrm flipV="1">
            <a:off x="5837823" y="3789509"/>
            <a:ext cx="1534527" cy="1392080"/>
          </a:xfrm>
          <a:prstGeom prst="straightConnector1">
            <a:avLst/>
          </a:prstGeom>
          <a:ln w="28575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FF28B6F-686A-1D49-9DC6-F414AC5687E2}"/>
              </a:ext>
            </a:extLst>
          </p:cNvPr>
          <p:cNvSpPr txBox="1"/>
          <p:nvPr/>
        </p:nvSpPr>
        <p:spPr>
          <a:xfrm>
            <a:off x="5864153" y="5482148"/>
            <a:ext cx="1395344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76D6FF"/>
                </a:solidFill>
                <a:latin typeface="Avenir Roman" panose="02000503020000020003" pitchFamily="2" charset="0"/>
              </a:rPr>
              <a:t>Copy phase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66E448A-5027-2D46-B0D3-3F4F798B18C4}"/>
              </a:ext>
            </a:extLst>
          </p:cNvPr>
          <p:cNvCxnSpPr>
            <a:cxnSpLocks/>
            <a:stCxn id="69" idx="3"/>
            <a:endCxn id="34" idx="1"/>
          </p:cNvCxnSpPr>
          <p:nvPr/>
        </p:nvCxnSpPr>
        <p:spPr>
          <a:xfrm flipV="1">
            <a:off x="8358188" y="2447915"/>
            <a:ext cx="1410677" cy="13695"/>
          </a:xfrm>
          <a:prstGeom prst="straightConnector1">
            <a:avLst/>
          </a:prstGeom>
          <a:ln w="28575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F69F976-29AB-B64C-AAB4-842409AA8FC5}"/>
              </a:ext>
            </a:extLst>
          </p:cNvPr>
          <p:cNvCxnSpPr>
            <a:cxnSpLocks/>
            <a:stCxn id="71" idx="3"/>
          </p:cNvCxnSpPr>
          <p:nvPr/>
        </p:nvCxnSpPr>
        <p:spPr>
          <a:xfrm>
            <a:off x="8358188" y="3774235"/>
            <a:ext cx="1410677" cy="0"/>
          </a:xfrm>
          <a:prstGeom prst="straightConnector1">
            <a:avLst/>
          </a:prstGeom>
          <a:ln w="28575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D76D975-8E21-F94F-A751-A83BD1A3600B}"/>
              </a:ext>
            </a:extLst>
          </p:cNvPr>
          <p:cNvGrpSpPr/>
          <p:nvPr/>
        </p:nvGrpSpPr>
        <p:grpSpPr>
          <a:xfrm>
            <a:off x="7399299" y="2253251"/>
            <a:ext cx="958889" cy="3100775"/>
            <a:chOff x="7399299" y="2253251"/>
            <a:chExt cx="958889" cy="31007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8B9E487-ED0E-494E-B359-88E70B3956FA}"/>
                </a:ext>
              </a:extLst>
            </p:cNvPr>
            <p:cNvSpPr/>
            <p:nvPr/>
          </p:nvSpPr>
          <p:spPr>
            <a:xfrm>
              <a:off x="7399299" y="2253251"/>
              <a:ext cx="958889" cy="416718"/>
            </a:xfrm>
            <a:prstGeom prst="rect">
              <a:avLst/>
            </a:prstGeom>
            <a:noFill/>
            <a:ln w="28575">
              <a:solidFill>
                <a:srgbClr val="FF7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>
                  <a:solidFill>
                    <a:srgbClr val="76D6FF"/>
                  </a:solidFill>
                  <a:latin typeface="Avenir Roman" panose="02000503020000020003" pitchFamily="2" charset="0"/>
                </a:rPr>
                <a:t>merge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C97C50C-A7FD-D549-9829-ABF90D5DD7F0}"/>
                </a:ext>
              </a:extLst>
            </p:cNvPr>
            <p:cNvSpPr/>
            <p:nvPr/>
          </p:nvSpPr>
          <p:spPr>
            <a:xfrm>
              <a:off x="7405419" y="3565876"/>
              <a:ext cx="952769" cy="416718"/>
            </a:xfrm>
            <a:prstGeom prst="rect">
              <a:avLst/>
            </a:prstGeom>
            <a:noFill/>
            <a:ln w="28575">
              <a:solidFill>
                <a:srgbClr val="FF7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>
                  <a:solidFill>
                    <a:srgbClr val="76D6FF"/>
                  </a:solidFill>
                  <a:latin typeface="Avenir Roman" panose="02000503020000020003" pitchFamily="2" charset="0"/>
                </a:rPr>
                <a:t>merge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D0E549FA-1A64-8043-BF1B-37675BDB5ADB}"/>
                </a:ext>
              </a:extLst>
            </p:cNvPr>
            <p:cNvSpPr/>
            <p:nvPr/>
          </p:nvSpPr>
          <p:spPr>
            <a:xfrm>
              <a:off x="7399299" y="2927887"/>
              <a:ext cx="952769" cy="416718"/>
            </a:xfrm>
            <a:prstGeom prst="rect">
              <a:avLst/>
            </a:prstGeom>
            <a:noFill/>
            <a:ln w="28575">
              <a:solidFill>
                <a:srgbClr val="FF7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>
                  <a:solidFill>
                    <a:srgbClr val="76D6FF"/>
                  </a:solidFill>
                  <a:latin typeface="Avenir Roman" panose="02000503020000020003" pitchFamily="2" charset="0"/>
                </a:rPr>
                <a:t>merge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6AF35D1-2B56-8848-BE74-39EEA75802F0}"/>
                </a:ext>
              </a:extLst>
            </p:cNvPr>
            <p:cNvSpPr/>
            <p:nvPr/>
          </p:nvSpPr>
          <p:spPr>
            <a:xfrm>
              <a:off x="7399299" y="4937308"/>
              <a:ext cx="952769" cy="416718"/>
            </a:xfrm>
            <a:prstGeom prst="rect">
              <a:avLst/>
            </a:prstGeom>
            <a:noFill/>
            <a:ln w="28575">
              <a:solidFill>
                <a:srgbClr val="FF7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>
                  <a:solidFill>
                    <a:srgbClr val="76D6FF"/>
                  </a:solidFill>
                  <a:latin typeface="Avenir Roman" panose="02000503020000020003" pitchFamily="2" charset="0"/>
                </a:rPr>
                <a:t>merge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2F18775F-4B22-4D4C-90FD-9881A0BE053D}"/>
                </a:ext>
              </a:extLst>
            </p:cNvPr>
            <p:cNvSpPr/>
            <p:nvPr/>
          </p:nvSpPr>
          <p:spPr>
            <a:xfrm>
              <a:off x="7399299" y="4289291"/>
              <a:ext cx="952769" cy="416718"/>
            </a:xfrm>
            <a:prstGeom prst="rect">
              <a:avLst/>
            </a:prstGeom>
            <a:noFill/>
            <a:ln w="28575">
              <a:solidFill>
                <a:srgbClr val="FF7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>
                  <a:solidFill>
                    <a:srgbClr val="76D6FF"/>
                  </a:solidFill>
                  <a:latin typeface="Avenir Roman" panose="02000503020000020003" pitchFamily="2" charset="0"/>
                </a:rPr>
                <a:t>merge</a:t>
              </a:r>
            </a:p>
          </p:txBody>
        </p:sp>
      </p:grp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0466B091-8809-1844-ADAD-150D4571A24D}"/>
              </a:ext>
            </a:extLst>
          </p:cNvPr>
          <p:cNvCxnSpPr>
            <a:cxnSpLocks/>
          </p:cNvCxnSpPr>
          <p:nvPr/>
        </p:nvCxnSpPr>
        <p:spPr>
          <a:xfrm>
            <a:off x="8358188" y="3146819"/>
            <a:ext cx="1410677" cy="0"/>
          </a:xfrm>
          <a:prstGeom prst="straightConnector1">
            <a:avLst/>
          </a:prstGeom>
          <a:ln w="28575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1D75B6E-21D6-DA47-96AC-902850C4ADD0}"/>
              </a:ext>
            </a:extLst>
          </p:cNvPr>
          <p:cNvCxnSpPr>
            <a:cxnSpLocks/>
          </p:cNvCxnSpPr>
          <p:nvPr/>
        </p:nvCxnSpPr>
        <p:spPr>
          <a:xfrm>
            <a:off x="8358188" y="4483848"/>
            <a:ext cx="1410677" cy="0"/>
          </a:xfrm>
          <a:prstGeom prst="straightConnector1">
            <a:avLst/>
          </a:prstGeom>
          <a:ln w="28575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FBD9C12-1C11-6A40-9504-82918BDCD48E}"/>
              </a:ext>
            </a:extLst>
          </p:cNvPr>
          <p:cNvCxnSpPr>
            <a:cxnSpLocks/>
          </p:cNvCxnSpPr>
          <p:nvPr/>
        </p:nvCxnSpPr>
        <p:spPr>
          <a:xfrm>
            <a:off x="8358188" y="5181589"/>
            <a:ext cx="1410677" cy="0"/>
          </a:xfrm>
          <a:prstGeom prst="straightConnector1">
            <a:avLst/>
          </a:prstGeom>
          <a:ln w="28575">
            <a:solidFill>
              <a:srgbClr val="FF7E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Left-Right Arrow 89">
            <a:extLst>
              <a:ext uri="{FF2B5EF4-FFF2-40B4-BE49-F238E27FC236}">
                <a16:creationId xmlns:a16="http://schemas.microsoft.com/office/drawing/2014/main" id="{084933B7-D366-A444-A5CA-6D825A0DBDC2}"/>
              </a:ext>
            </a:extLst>
          </p:cNvPr>
          <p:cNvSpPr/>
          <p:nvPr/>
        </p:nvSpPr>
        <p:spPr>
          <a:xfrm>
            <a:off x="7372349" y="5950757"/>
            <a:ext cx="4229101" cy="675856"/>
          </a:xfrm>
          <a:prstGeom prst="leftRightArrow">
            <a:avLst>
              <a:gd name="adj1" fmla="val 41544"/>
              <a:gd name="adj2" fmla="val 50000"/>
            </a:avLst>
          </a:prstGeom>
          <a:solidFill>
            <a:schemeClr val="bg1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Reduce Side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475CB48-7176-FD48-BE24-138664F05650}"/>
              </a:ext>
            </a:extLst>
          </p:cNvPr>
          <p:cNvSpPr txBox="1"/>
          <p:nvPr/>
        </p:nvSpPr>
        <p:spPr>
          <a:xfrm>
            <a:off x="8257611" y="1486547"/>
            <a:ext cx="1658874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76D6FF"/>
                </a:solidFill>
                <a:latin typeface="Avenir Roman" panose="02000503020000020003" pitchFamily="2" charset="0"/>
              </a:rPr>
              <a:t>Maintain sort order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8D8CDAB-219C-4544-A858-33EEAC8F8834}"/>
              </a:ext>
            </a:extLst>
          </p:cNvPr>
          <p:cNvSpPr txBox="1"/>
          <p:nvPr/>
        </p:nvSpPr>
        <p:spPr>
          <a:xfrm>
            <a:off x="7832819" y="5633324"/>
            <a:ext cx="194078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76D6FF"/>
                </a:solidFill>
                <a:latin typeface="Avenir Roman" panose="02000503020000020003" pitchFamily="2" charset="0"/>
              </a:rPr>
              <a:t>Shuffle phase</a:t>
            </a:r>
          </a:p>
        </p:txBody>
      </p:sp>
    </p:spTree>
    <p:extLst>
      <p:ext uri="{BB962C8B-B14F-4D97-AF65-F5344CB8AC3E}">
        <p14:creationId xmlns:p14="http://schemas.microsoft.com/office/powerpoint/2010/main" val="2318996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43" grpId="0" animBg="1"/>
      <p:bldP spid="44" grpId="0" animBg="1"/>
      <p:bldP spid="46" grpId="0" animBg="1"/>
      <p:bldP spid="47" grpId="0" animBg="1"/>
      <p:bldP spid="52" grpId="0"/>
      <p:bldP spid="53" grpId="0"/>
      <p:bldP spid="55" grpId="0"/>
      <p:bldP spid="42" grpId="0" animBg="1"/>
      <p:bldP spid="68" grpId="0"/>
      <p:bldP spid="90" grpId="0" animBg="1"/>
      <p:bldP spid="91" grpId="0"/>
      <p:bldP spid="9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How MapReduce Works - Example</a:t>
            </a:r>
          </a:p>
        </p:txBody>
      </p:sp>
      <p:pic>
        <p:nvPicPr>
          <p:cNvPr id="1026" name="Picture 2" descr="https://lh4.googleusercontent.com/xu6WvA1zEt4ymUMz57n_nrAIlWVwzy1onLZNdKUx4dWkakvqEoZi3FQubyF7rTMKhokEFZUHJDp2Ohb-L2cLjQv9Mwg70duideMXgYPwEoDHXGSgbSK4hSrqYcpR4UmsSwV_wNp_7z6Jm6GJt2Ec0ZE">
            <a:extLst>
              <a:ext uri="{FF2B5EF4-FFF2-40B4-BE49-F238E27FC236}">
                <a16:creationId xmlns:a16="http://schemas.microsoft.com/office/drawing/2014/main" id="{26F5E118-0450-C440-9B97-C9E7960AC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81" y="1455739"/>
            <a:ext cx="11272838" cy="523423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537742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  <a:latin typeface="Avenir Roman" panose="02000503020000020003" pitchFamily="2" charset="0"/>
              </a:rPr>
              <a:t>Partitioner</a:t>
            </a:r>
            <a:endParaRPr lang="en-US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Creates partitions for each reducer.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No. of partitions = No. of reducer tasks.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Same key will land on the same partition.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Two types:</a:t>
            </a:r>
          </a:p>
          <a:p>
            <a:pPr lvl="1"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Default </a:t>
            </a:r>
            <a:r>
              <a:rPr lang="en-US" dirty="0" err="1">
                <a:solidFill>
                  <a:schemeClr val="bg1"/>
                </a:solidFill>
                <a:latin typeface="Avenir Roman" panose="02000503020000020003" pitchFamily="2" charset="0"/>
              </a:rPr>
              <a:t>partitioner</a:t>
            </a: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 – Uses hash function to put records in partitions.</a:t>
            </a:r>
          </a:p>
          <a:p>
            <a:pPr lvl="1"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Custom </a:t>
            </a:r>
            <a:r>
              <a:rPr lang="en-US" dirty="0" err="1">
                <a:solidFill>
                  <a:schemeClr val="bg1"/>
                </a:solidFill>
                <a:latin typeface="Avenir Roman" panose="02000503020000020003" pitchFamily="2" charset="0"/>
              </a:rPr>
              <a:t>partitioner</a:t>
            </a: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 – User created.</a:t>
            </a:r>
          </a:p>
          <a:p>
            <a:pPr>
              <a:spcAft>
                <a:spcPts val="600"/>
              </a:spcAft>
            </a:pPr>
            <a:endParaRPr lang="en-US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839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Combiner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03463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Mini reducer.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Run at map side on mapper outputs.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Reduces the output on mapper that have to be moved by generating aggregated output on each map output. </a:t>
            </a:r>
          </a:p>
          <a:p>
            <a:pPr>
              <a:spcAft>
                <a:spcPts val="600"/>
              </a:spcAft>
            </a:pPr>
            <a:endParaRPr lang="en-US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D19EC49-2DE7-0F45-BD7B-6A8B6C9DA687}"/>
              </a:ext>
            </a:extLst>
          </p:cNvPr>
          <p:cNvSpPr/>
          <p:nvPr/>
        </p:nvSpPr>
        <p:spPr>
          <a:xfrm>
            <a:off x="2230672" y="4387926"/>
            <a:ext cx="1441217" cy="613890"/>
          </a:xfrm>
          <a:prstGeom prst="roundRect">
            <a:avLst/>
          </a:prstGeom>
          <a:noFill/>
          <a:ln w="28575"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solidFill>
                  <a:srgbClr val="FF9300"/>
                </a:solidFill>
                <a:latin typeface="Avenir Roman" panose="02000503020000020003" pitchFamily="2" charset="0"/>
              </a:rPr>
              <a:t>Map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A2AA8B-82BB-DE41-A0E6-D1DC7F5B7FB2}"/>
              </a:ext>
            </a:extLst>
          </p:cNvPr>
          <p:cNvSpPr/>
          <p:nvPr/>
        </p:nvSpPr>
        <p:spPr>
          <a:xfrm>
            <a:off x="432268" y="4387926"/>
            <a:ext cx="1253657" cy="628652"/>
          </a:xfrm>
          <a:prstGeom prst="rect">
            <a:avLst/>
          </a:prstGeom>
          <a:noFill/>
          <a:ln w="28575"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rgbClr val="FF9300"/>
                </a:solidFill>
                <a:latin typeface="Avenir Roman" panose="02000503020000020003" pitchFamily="2" charset="0"/>
              </a:rPr>
              <a:t>File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29D9F9-7D48-1F4D-9975-AD553460BC88}"/>
              </a:ext>
            </a:extLst>
          </p:cNvPr>
          <p:cNvSpPr/>
          <p:nvPr/>
        </p:nvSpPr>
        <p:spPr>
          <a:xfrm>
            <a:off x="4216636" y="4373164"/>
            <a:ext cx="1253657" cy="628652"/>
          </a:xfrm>
          <a:prstGeom prst="rect">
            <a:avLst/>
          </a:prstGeom>
          <a:noFill/>
          <a:ln w="28575"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rgbClr val="FF9300"/>
                </a:solidFill>
                <a:latin typeface="Avenir Roman" panose="02000503020000020003" pitchFamily="2" charset="0"/>
              </a:rPr>
              <a:t>Map output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2B038B-EAB8-274F-9218-8057B5AC849A}"/>
              </a:ext>
            </a:extLst>
          </p:cNvPr>
          <p:cNvSpPr/>
          <p:nvPr/>
        </p:nvSpPr>
        <p:spPr>
          <a:xfrm>
            <a:off x="6015040" y="4373164"/>
            <a:ext cx="1253657" cy="628652"/>
          </a:xfrm>
          <a:prstGeom prst="rect">
            <a:avLst/>
          </a:prstGeom>
          <a:noFill/>
          <a:ln w="28575"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rgbClr val="FF9300"/>
                </a:solidFill>
                <a:latin typeface="Avenir Roman" panose="02000503020000020003" pitchFamily="2" charset="0"/>
              </a:rPr>
              <a:t>Sort by key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49419AA-3537-694A-8DB9-04889085B189}"/>
              </a:ext>
            </a:extLst>
          </p:cNvPr>
          <p:cNvSpPr/>
          <p:nvPr/>
        </p:nvSpPr>
        <p:spPr>
          <a:xfrm>
            <a:off x="7813444" y="4373164"/>
            <a:ext cx="1659169" cy="613890"/>
          </a:xfrm>
          <a:prstGeom prst="roundRect">
            <a:avLst/>
          </a:prstGeom>
          <a:noFill/>
          <a:ln w="28575"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solidFill>
                  <a:srgbClr val="FF9300"/>
                </a:solidFill>
                <a:latin typeface="Avenir Roman" panose="02000503020000020003" pitchFamily="2" charset="0"/>
              </a:rPr>
              <a:t>Combiner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392E7FA-5FE9-E94C-B105-C91FDDCB5B88}"/>
              </a:ext>
            </a:extLst>
          </p:cNvPr>
          <p:cNvSpPr/>
          <p:nvPr/>
        </p:nvSpPr>
        <p:spPr>
          <a:xfrm>
            <a:off x="9837506" y="4373164"/>
            <a:ext cx="1821094" cy="613890"/>
          </a:xfrm>
          <a:prstGeom prst="roundRect">
            <a:avLst/>
          </a:prstGeom>
          <a:noFill/>
          <a:ln w="28575"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 err="1">
                <a:solidFill>
                  <a:srgbClr val="FF9300"/>
                </a:solidFill>
                <a:latin typeface="Avenir Roman" panose="02000503020000020003" pitchFamily="2" charset="0"/>
              </a:rPr>
              <a:t>Partitioner</a:t>
            </a:r>
            <a:endParaRPr lang="en-US" sz="2400" dirty="0">
              <a:solidFill>
                <a:srgbClr val="FF9300"/>
              </a:solidFill>
              <a:latin typeface="Avenir Roman" panose="02000503020000020003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28EDAD-ECA3-C145-AE88-729AC94004BC}"/>
              </a:ext>
            </a:extLst>
          </p:cNvPr>
          <p:cNvSpPr/>
          <p:nvPr/>
        </p:nvSpPr>
        <p:spPr>
          <a:xfrm>
            <a:off x="432268" y="5740947"/>
            <a:ext cx="1798404" cy="613891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rgbClr val="92D050"/>
                </a:solidFill>
                <a:latin typeface="Avenir Roman" panose="02000503020000020003" pitchFamily="2" charset="0"/>
              </a:rPr>
              <a:t>Input from mapper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53C86E-0E9B-E641-BC52-19F1CF34C62C}"/>
              </a:ext>
            </a:extLst>
          </p:cNvPr>
          <p:cNvSpPr/>
          <p:nvPr/>
        </p:nvSpPr>
        <p:spPr>
          <a:xfrm>
            <a:off x="2951633" y="5732490"/>
            <a:ext cx="2530006" cy="622348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rgbClr val="92D050"/>
                </a:solidFill>
                <a:latin typeface="Avenir Roman" panose="02000503020000020003" pitchFamily="2" charset="0"/>
              </a:rPr>
              <a:t>Merge &amp; maintain sort order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C62474C-6E19-8642-BC44-FF79DFB6EF14}"/>
              </a:ext>
            </a:extLst>
          </p:cNvPr>
          <p:cNvSpPr/>
          <p:nvPr/>
        </p:nvSpPr>
        <p:spPr>
          <a:xfrm>
            <a:off x="6296029" y="5740948"/>
            <a:ext cx="2068045" cy="613890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rgbClr val="92D050"/>
                </a:solidFill>
                <a:latin typeface="Avenir Roman" panose="02000503020000020003" pitchFamily="2" charset="0"/>
              </a:rPr>
              <a:t>Reduce Function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508C31-65A7-A74C-BDA6-B9449197A9CA}"/>
              </a:ext>
            </a:extLst>
          </p:cNvPr>
          <p:cNvSpPr/>
          <p:nvPr/>
        </p:nvSpPr>
        <p:spPr>
          <a:xfrm>
            <a:off x="9210677" y="5740947"/>
            <a:ext cx="1253657" cy="613891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rgbClr val="92D050"/>
                </a:solidFill>
                <a:latin typeface="Avenir Roman" panose="02000503020000020003" pitchFamily="2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831498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Distributed Processing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6600DAD-E4A3-7946-8B2A-1EA4402432EA}"/>
              </a:ext>
            </a:extLst>
          </p:cNvPr>
          <p:cNvGrpSpPr/>
          <p:nvPr/>
        </p:nvGrpSpPr>
        <p:grpSpPr>
          <a:xfrm>
            <a:off x="1926431" y="4243386"/>
            <a:ext cx="1545431" cy="2000250"/>
            <a:chOff x="940594" y="4029075"/>
            <a:chExt cx="1545431" cy="20002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3C757BA-8458-C645-8DBA-C7D40BFCC97B}"/>
                </a:ext>
              </a:extLst>
            </p:cNvPr>
            <p:cNvSpPr/>
            <p:nvPr/>
          </p:nvSpPr>
          <p:spPr>
            <a:xfrm>
              <a:off x="940594" y="4029075"/>
              <a:ext cx="1545431" cy="885825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latin typeface="Avenir Roman" panose="02000503020000020003" pitchFamily="2" charset="0"/>
                </a:rPr>
                <a:t>CPU + RAM</a:t>
              </a:r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5F78562F-453C-0345-B014-046319AB447F}"/>
                </a:ext>
              </a:extLst>
            </p:cNvPr>
            <p:cNvSpPr/>
            <p:nvPr/>
          </p:nvSpPr>
          <p:spPr>
            <a:xfrm>
              <a:off x="940594" y="5329237"/>
              <a:ext cx="1545431" cy="700088"/>
            </a:xfrm>
            <a:prstGeom prst="cube">
              <a:avLst>
                <a:gd name="adj" fmla="val 37755"/>
              </a:avLst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dirty="0">
                  <a:latin typeface="Avenir Roman" panose="02000503020000020003" pitchFamily="2" charset="0"/>
                </a:rPr>
                <a:t>Disk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BCDD5A9-8277-134A-82FE-C09B25C37C33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1713310" y="4914900"/>
              <a:ext cx="0" cy="414337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9A0711B-485E-CA45-A858-8203E284B545}"/>
              </a:ext>
            </a:extLst>
          </p:cNvPr>
          <p:cNvGrpSpPr/>
          <p:nvPr/>
        </p:nvGrpSpPr>
        <p:grpSpPr>
          <a:xfrm>
            <a:off x="3987403" y="4243386"/>
            <a:ext cx="1545431" cy="2000250"/>
            <a:chOff x="940594" y="4029075"/>
            <a:chExt cx="1545431" cy="200025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46CCB51-75D4-874D-807F-94D2B849D560}"/>
                </a:ext>
              </a:extLst>
            </p:cNvPr>
            <p:cNvSpPr/>
            <p:nvPr/>
          </p:nvSpPr>
          <p:spPr>
            <a:xfrm>
              <a:off x="940594" y="4029075"/>
              <a:ext cx="1545431" cy="885825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latin typeface="Avenir Roman" panose="02000503020000020003" pitchFamily="2" charset="0"/>
                </a:rPr>
                <a:t>CPU </a:t>
              </a:r>
              <a:r>
                <a:rPr lang="en-US">
                  <a:latin typeface="Avenir Roman" panose="02000503020000020003" pitchFamily="2" charset="0"/>
                </a:rPr>
                <a:t>+ RAM</a:t>
              </a:r>
              <a:endParaRPr lang="en-US" dirty="0">
                <a:latin typeface="Avenir Roman" panose="02000503020000020003" pitchFamily="2" charset="0"/>
              </a:endParaRPr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B86BD232-89CA-DF44-93F8-65C243C96804}"/>
                </a:ext>
              </a:extLst>
            </p:cNvPr>
            <p:cNvSpPr/>
            <p:nvPr/>
          </p:nvSpPr>
          <p:spPr>
            <a:xfrm>
              <a:off x="940594" y="5329237"/>
              <a:ext cx="1545431" cy="700088"/>
            </a:xfrm>
            <a:prstGeom prst="cube">
              <a:avLst>
                <a:gd name="adj" fmla="val 37755"/>
              </a:avLst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dirty="0">
                  <a:latin typeface="Avenir Roman" panose="02000503020000020003" pitchFamily="2" charset="0"/>
                </a:rPr>
                <a:t>Disk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66BEA81-5352-D447-B296-3ED5911B30E6}"/>
                </a:ext>
              </a:extLst>
            </p:cNvPr>
            <p:cNvCxnSpPr>
              <a:cxnSpLocks/>
              <a:stCxn id="19" idx="2"/>
            </p:cNvCxnSpPr>
            <p:nvPr/>
          </p:nvCxnSpPr>
          <p:spPr>
            <a:xfrm>
              <a:off x="1713310" y="4914900"/>
              <a:ext cx="0" cy="414337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627F44E-EF25-DE46-81AC-F1D934A9EC02}"/>
              </a:ext>
            </a:extLst>
          </p:cNvPr>
          <p:cNvGrpSpPr/>
          <p:nvPr/>
        </p:nvGrpSpPr>
        <p:grpSpPr>
          <a:xfrm>
            <a:off x="6180534" y="4243386"/>
            <a:ext cx="1545431" cy="2000250"/>
            <a:chOff x="940594" y="4029075"/>
            <a:chExt cx="1545431" cy="200025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05C4213-AC67-AC4B-93E2-167A1F5BF214}"/>
                </a:ext>
              </a:extLst>
            </p:cNvPr>
            <p:cNvSpPr/>
            <p:nvPr/>
          </p:nvSpPr>
          <p:spPr>
            <a:xfrm>
              <a:off x="940594" y="4029075"/>
              <a:ext cx="1545431" cy="885825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latin typeface="Avenir Roman" panose="02000503020000020003" pitchFamily="2" charset="0"/>
                </a:rPr>
                <a:t>CPU + RAM</a:t>
              </a:r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E99CB8A9-25F0-2944-B2F9-2ED8CABB62D0}"/>
                </a:ext>
              </a:extLst>
            </p:cNvPr>
            <p:cNvSpPr/>
            <p:nvPr/>
          </p:nvSpPr>
          <p:spPr>
            <a:xfrm>
              <a:off x="940594" y="5329237"/>
              <a:ext cx="1545431" cy="700088"/>
            </a:xfrm>
            <a:prstGeom prst="cube">
              <a:avLst>
                <a:gd name="adj" fmla="val 37755"/>
              </a:avLst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dirty="0">
                  <a:latin typeface="Avenir Roman" panose="02000503020000020003" pitchFamily="2" charset="0"/>
                </a:rPr>
                <a:t>Disk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C2341DF-E004-344E-9312-5012D6942938}"/>
                </a:ext>
              </a:extLst>
            </p:cNvPr>
            <p:cNvCxnSpPr>
              <a:cxnSpLocks/>
              <a:stCxn id="23" idx="2"/>
            </p:cNvCxnSpPr>
            <p:nvPr/>
          </p:nvCxnSpPr>
          <p:spPr>
            <a:xfrm>
              <a:off x="1713310" y="4914900"/>
              <a:ext cx="0" cy="414337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9585ED3-1D17-464A-AD45-85A811DF65D0}"/>
              </a:ext>
            </a:extLst>
          </p:cNvPr>
          <p:cNvGrpSpPr/>
          <p:nvPr/>
        </p:nvGrpSpPr>
        <p:grpSpPr>
          <a:xfrm>
            <a:off x="8343899" y="4243386"/>
            <a:ext cx="1545431" cy="2000250"/>
            <a:chOff x="940594" y="4029075"/>
            <a:chExt cx="1545431" cy="200025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9A0EDAF-8EE8-F147-A02B-AED735FBB871}"/>
                </a:ext>
              </a:extLst>
            </p:cNvPr>
            <p:cNvSpPr/>
            <p:nvPr/>
          </p:nvSpPr>
          <p:spPr>
            <a:xfrm>
              <a:off x="940594" y="4029075"/>
              <a:ext cx="1545431" cy="885825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latin typeface="Avenir Roman" panose="02000503020000020003" pitchFamily="2" charset="0"/>
                </a:rPr>
                <a:t>CPU + RAM</a:t>
              </a:r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BD552530-1E92-9B4F-986C-75DA26EB5913}"/>
                </a:ext>
              </a:extLst>
            </p:cNvPr>
            <p:cNvSpPr/>
            <p:nvPr/>
          </p:nvSpPr>
          <p:spPr>
            <a:xfrm>
              <a:off x="940594" y="5329237"/>
              <a:ext cx="1545431" cy="700088"/>
            </a:xfrm>
            <a:prstGeom prst="cube">
              <a:avLst>
                <a:gd name="adj" fmla="val 37755"/>
              </a:avLst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dirty="0">
                  <a:latin typeface="Avenir Roman" panose="02000503020000020003" pitchFamily="2" charset="0"/>
                </a:rPr>
                <a:t>Disk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7BDB4B3-34E9-2E4B-ABC6-3859A124F879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>
              <a:off x="1713310" y="4914900"/>
              <a:ext cx="0" cy="414337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2DA65573-4D95-7041-B157-82EF7AF922DF}"/>
              </a:ext>
            </a:extLst>
          </p:cNvPr>
          <p:cNvSpPr/>
          <p:nvPr/>
        </p:nvSpPr>
        <p:spPr>
          <a:xfrm>
            <a:off x="838200" y="1494237"/>
            <a:ext cx="2005013" cy="93463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Client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D8DB35B-9523-5947-BAB3-FD592EC2A2CF}"/>
              </a:ext>
            </a:extLst>
          </p:cNvPr>
          <p:cNvGrpSpPr/>
          <p:nvPr/>
        </p:nvGrpSpPr>
        <p:grpSpPr>
          <a:xfrm>
            <a:off x="7830737" y="1543048"/>
            <a:ext cx="1545431" cy="2000250"/>
            <a:chOff x="940594" y="4029075"/>
            <a:chExt cx="1545431" cy="200025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C213D1B-2770-3449-A74F-3DA722B5B931}"/>
                </a:ext>
              </a:extLst>
            </p:cNvPr>
            <p:cNvSpPr/>
            <p:nvPr/>
          </p:nvSpPr>
          <p:spPr>
            <a:xfrm>
              <a:off x="940594" y="4029075"/>
              <a:ext cx="1545431" cy="885825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latin typeface="Avenir Roman" panose="02000503020000020003" pitchFamily="2" charset="0"/>
                </a:rPr>
                <a:t>CPU + RAM</a:t>
              </a:r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4BF9E7D2-395E-F64B-BED6-49BE4563FE0F}"/>
                </a:ext>
              </a:extLst>
            </p:cNvPr>
            <p:cNvSpPr/>
            <p:nvPr/>
          </p:nvSpPr>
          <p:spPr>
            <a:xfrm>
              <a:off x="940594" y="5329237"/>
              <a:ext cx="1545431" cy="700088"/>
            </a:xfrm>
            <a:prstGeom prst="cube">
              <a:avLst>
                <a:gd name="adj" fmla="val 37755"/>
              </a:avLst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400" dirty="0">
                  <a:latin typeface="Avenir Roman" panose="02000503020000020003" pitchFamily="2" charset="0"/>
                </a:rPr>
                <a:t>Disk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BBCE008-6824-D740-BCA5-C3553D4FE35C}"/>
                </a:ext>
              </a:extLst>
            </p:cNvPr>
            <p:cNvCxnSpPr>
              <a:cxnSpLocks/>
              <a:stCxn id="32" idx="2"/>
            </p:cNvCxnSpPr>
            <p:nvPr/>
          </p:nvCxnSpPr>
          <p:spPr>
            <a:xfrm>
              <a:off x="1713310" y="4914900"/>
              <a:ext cx="0" cy="414337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E80B491-3330-CC48-AE5E-0FB817D8EB4E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2843213" y="1985960"/>
            <a:ext cx="4987524" cy="1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7D595C9B-FDC4-E044-B910-B2C1A768F4F9}"/>
              </a:ext>
            </a:extLst>
          </p:cNvPr>
          <p:cNvCxnSpPr>
            <a:cxnSpLocks/>
            <a:stCxn id="5" idx="0"/>
            <a:endCxn id="33" idx="2"/>
          </p:cNvCxnSpPr>
          <p:nvPr/>
        </p:nvCxnSpPr>
        <p:spPr>
          <a:xfrm rot="5400000" flipH="1" flipV="1">
            <a:off x="4805956" y="1218605"/>
            <a:ext cx="917973" cy="5131590"/>
          </a:xfrm>
          <a:prstGeom prst="bentConnector2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4B599027-406B-8847-B6C5-5EA9B918E502}"/>
              </a:ext>
            </a:extLst>
          </p:cNvPr>
          <p:cNvCxnSpPr>
            <a:cxnSpLocks/>
            <a:stCxn id="19" idx="0"/>
            <a:endCxn id="33" idx="2"/>
          </p:cNvCxnSpPr>
          <p:nvPr/>
        </p:nvCxnSpPr>
        <p:spPr>
          <a:xfrm rot="5400000" flipH="1" flipV="1">
            <a:off x="5836442" y="2249091"/>
            <a:ext cx="917973" cy="3070618"/>
          </a:xfrm>
          <a:prstGeom prst="bentConnector2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3855FBE5-34BD-7B41-8342-C1F0E53D123B}"/>
              </a:ext>
            </a:extLst>
          </p:cNvPr>
          <p:cNvCxnSpPr>
            <a:cxnSpLocks/>
            <a:stCxn id="23" idx="0"/>
            <a:endCxn id="33" idx="2"/>
          </p:cNvCxnSpPr>
          <p:nvPr/>
        </p:nvCxnSpPr>
        <p:spPr>
          <a:xfrm rot="5400000" flipH="1" flipV="1">
            <a:off x="6933007" y="3345657"/>
            <a:ext cx="917973" cy="877487"/>
          </a:xfrm>
          <a:prstGeom prst="bentConnector2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710CD2C9-88B3-9C43-B602-63202B03BE91}"/>
              </a:ext>
            </a:extLst>
          </p:cNvPr>
          <p:cNvCxnSpPr>
            <a:cxnSpLocks/>
            <a:stCxn id="27" idx="0"/>
          </p:cNvCxnSpPr>
          <p:nvPr/>
        </p:nvCxnSpPr>
        <p:spPr>
          <a:xfrm rot="16200000" flipV="1">
            <a:off x="8489353" y="3616124"/>
            <a:ext cx="636590" cy="617934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2648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YARN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DD94-AF52-F844-B4D1-E9483D121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Cluster resource manager.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Have APIs to work with cluster resources.</a:t>
            </a:r>
          </a:p>
          <a:p>
            <a:pPr>
              <a:spcAft>
                <a:spcPts val="600"/>
              </a:spcAft>
            </a:pPr>
            <a:endParaRPr lang="en-US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319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YARN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1AA807-9715-C248-8D83-354A378E50D5}"/>
              </a:ext>
            </a:extLst>
          </p:cNvPr>
          <p:cNvSpPr/>
          <p:nvPr/>
        </p:nvSpPr>
        <p:spPr>
          <a:xfrm>
            <a:off x="5414962" y="1690689"/>
            <a:ext cx="1802606" cy="93980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Resource manager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00E900-EAFD-8144-A76F-F39A68B4B0F9}"/>
              </a:ext>
            </a:extLst>
          </p:cNvPr>
          <p:cNvSpPr/>
          <p:nvPr/>
        </p:nvSpPr>
        <p:spPr>
          <a:xfrm>
            <a:off x="1281112" y="4011612"/>
            <a:ext cx="1802606" cy="97472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Node manager1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136F25-1479-A14C-AB1E-5EC8C6B8D346}"/>
              </a:ext>
            </a:extLst>
          </p:cNvPr>
          <p:cNvSpPr/>
          <p:nvPr/>
        </p:nvSpPr>
        <p:spPr>
          <a:xfrm>
            <a:off x="4019550" y="4011612"/>
            <a:ext cx="1802606" cy="97472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Node manager2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EF4394-BD6E-664C-B0CF-9566478895B1}"/>
              </a:ext>
            </a:extLst>
          </p:cNvPr>
          <p:cNvSpPr/>
          <p:nvPr/>
        </p:nvSpPr>
        <p:spPr>
          <a:xfrm>
            <a:off x="6757988" y="4011612"/>
            <a:ext cx="1802606" cy="97472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Node manager3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A2F9A1-E99B-984E-B30F-CB363B63FD0B}"/>
              </a:ext>
            </a:extLst>
          </p:cNvPr>
          <p:cNvSpPr/>
          <p:nvPr/>
        </p:nvSpPr>
        <p:spPr>
          <a:xfrm>
            <a:off x="9496426" y="4011612"/>
            <a:ext cx="1802606" cy="97472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Node manager4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F3861011-060D-8645-A7FF-6F6B6F6174FB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rot="16200000" flipH="1">
            <a:off x="7666436" y="1280318"/>
            <a:ext cx="1381123" cy="4081464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6F12E972-960C-1942-B15E-1FFA6D7A8CA9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16200000" flipH="1">
            <a:off x="6297217" y="2649537"/>
            <a:ext cx="1381123" cy="1343026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051C647F-DF94-CE49-A658-FF0674B00DE3}"/>
              </a:ext>
            </a:extLst>
          </p:cNvPr>
          <p:cNvCxnSpPr>
            <a:cxnSpLocks/>
            <a:stCxn id="4" idx="2"/>
          </p:cNvCxnSpPr>
          <p:nvPr/>
        </p:nvCxnSpPr>
        <p:spPr>
          <a:xfrm rot="5400000">
            <a:off x="4946454" y="2641800"/>
            <a:ext cx="1381122" cy="1358501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DD81B7F1-6465-FC43-9513-88C60F8CDE9D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5400000">
            <a:off x="3558779" y="1254125"/>
            <a:ext cx="1381123" cy="4133850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820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YARN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1AA807-9715-C248-8D83-354A378E50D5}"/>
              </a:ext>
            </a:extLst>
          </p:cNvPr>
          <p:cNvSpPr/>
          <p:nvPr/>
        </p:nvSpPr>
        <p:spPr>
          <a:xfrm>
            <a:off x="5194697" y="1754981"/>
            <a:ext cx="1802606" cy="93980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Resource manager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00E900-EAFD-8144-A76F-F39A68B4B0F9}"/>
              </a:ext>
            </a:extLst>
          </p:cNvPr>
          <p:cNvSpPr/>
          <p:nvPr/>
        </p:nvSpPr>
        <p:spPr>
          <a:xfrm>
            <a:off x="1200150" y="4011611"/>
            <a:ext cx="2071686" cy="263207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>
              <a:latin typeface="Avenir Roman" panose="02000503020000020003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136F25-1479-A14C-AB1E-5EC8C6B8D346}"/>
              </a:ext>
            </a:extLst>
          </p:cNvPr>
          <p:cNvSpPr/>
          <p:nvPr/>
        </p:nvSpPr>
        <p:spPr>
          <a:xfrm>
            <a:off x="3855243" y="4011612"/>
            <a:ext cx="2116931" cy="26320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>
              <a:latin typeface="Avenir Roman" panose="02000503020000020003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EF4394-BD6E-664C-B0CF-9566478895B1}"/>
              </a:ext>
            </a:extLst>
          </p:cNvPr>
          <p:cNvSpPr/>
          <p:nvPr/>
        </p:nvSpPr>
        <p:spPr>
          <a:xfrm>
            <a:off x="6555581" y="4011612"/>
            <a:ext cx="2174082" cy="26320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>
              <a:latin typeface="Avenir Roman" panose="02000503020000020003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A2F9A1-E99B-984E-B30F-CB363B63FD0B}"/>
              </a:ext>
            </a:extLst>
          </p:cNvPr>
          <p:cNvSpPr/>
          <p:nvPr/>
        </p:nvSpPr>
        <p:spPr>
          <a:xfrm>
            <a:off x="9313069" y="4011612"/>
            <a:ext cx="2202655" cy="26320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>
              <a:latin typeface="Avenir Roman" panose="02000503020000020003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C77AD5-3B50-C44D-90FC-07EA4D1402EA}"/>
              </a:ext>
            </a:extLst>
          </p:cNvPr>
          <p:cNvSpPr/>
          <p:nvPr/>
        </p:nvSpPr>
        <p:spPr>
          <a:xfrm>
            <a:off x="379809" y="1463674"/>
            <a:ext cx="2349104" cy="152241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latin typeface="Avenir Roman" panose="02000503020000020003" pitchFamily="2" charset="0"/>
              </a:rPr>
              <a:t>Client Applications:</a:t>
            </a:r>
          </a:p>
          <a:p>
            <a:pPr algn="ctr"/>
            <a:r>
              <a:rPr lang="en-US" sz="2000" dirty="0">
                <a:latin typeface="Avenir Roman" panose="02000503020000020003" pitchFamily="2" charset="0"/>
              </a:rPr>
              <a:t>MapReduce</a:t>
            </a:r>
          </a:p>
          <a:p>
            <a:pPr algn="ctr"/>
            <a:r>
              <a:rPr lang="en-US" sz="2000" dirty="0">
                <a:latin typeface="Avenir Roman" panose="02000503020000020003" pitchFamily="2" charset="0"/>
              </a:rPr>
              <a:t>Spark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B39A395-E82B-4841-9686-D37AC681924C}"/>
              </a:ext>
            </a:extLst>
          </p:cNvPr>
          <p:cNvCxnSpPr>
            <a:stCxn id="15" idx="3"/>
            <a:endCxn id="4" idx="1"/>
          </p:cNvCxnSpPr>
          <p:nvPr/>
        </p:nvCxnSpPr>
        <p:spPr>
          <a:xfrm>
            <a:off x="2728913" y="2224881"/>
            <a:ext cx="2465784" cy="0"/>
          </a:xfrm>
          <a:prstGeom prst="straightConnector1">
            <a:avLst/>
          </a:prstGeom>
          <a:ln w="28575">
            <a:solidFill>
              <a:srgbClr val="FF9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F6E23FEA-5813-7C41-BB43-7B8AA728243A}"/>
              </a:ext>
            </a:extLst>
          </p:cNvPr>
          <p:cNvSpPr/>
          <p:nvPr/>
        </p:nvSpPr>
        <p:spPr>
          <a:xfrm>
            <a:off x="1445417" y="4287836"/>
            <a:ext cx="1473995" cy="655640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Node Manager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4D3489-8814-194F-8C61-8D42ECD4123B}"/>
              </a:ext>
            </a:extLst>
          </p:cNvPr>
          <p:cNvSpPr/>
          <p:nvPr/>
        </p:nvSpPr>
        <p:spPr>
          <a:xfrm>
            <a:off x="4164804" y="4287836"/>
            <a:ext cx="1473995" cy="655640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Node Manager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6C46FA-0035-2341-9D54-7F8CD0B914F3}"/>
              </a:ext>
            </a:extLst>
          </p:cNvPr>
          <p:cNvSpPr/>
          <p:nvPr/>
        </p:nvSpPr>
        <p:spPr>
          <a:xfrm>
            <a:off x="9660731" y="4241797"/>
            <a:ext cx="1473995" cy="655640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Node Manager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585ABA-A1CA-954C-BA02-D2B3275655A4}"/>
              </a:ext>
            </a:extLst>
          </p:cNvPr>
          <p:cNvSpPr/>
          <p:nvPr/>
        </p:nvSpPr>
        <p:spPr>
          <a:xfrm>
            <a:off x="6922293" y="4287836"/>
            <a:ext cx="1473995" cy="655640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Roman" panose="02000503020000020003" pitchFamily="2" charset="0"/>
              </a:rPr>
              <a:t>Node Manager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EFB443-E754-8D41-848D-60D945D94702}"/>
              </a:ext>
            </a:extLst>
          </p:cNvPr>
          <p:cNvSpPr txBox="1"/>
          <p:nvPr/>
        </p:nvSpPr>
        <p:spPr>
          <a:xfrm>
            <a:off x="2919412" y="1690688"/>
            <a:ext cx="2158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Submit Application</a:t>
            </a:r>
          </a:p>
        </p:txBody>
      </p: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459D0919-BCAF-544F-A2FD-7B47B6D16A1E}"/>
              </a:ext>
            </a:extLst>
          </p:cNvPr>
          <p:cNvCxnSpPr>
            <a:stCxn id="4" idx="2"/>
            <a:endCxn id="20" idx="0"/>
          </p:cNvCxnSpPr>
          <p:nvPr/>
        </p:nvCxnSpPr>
        <p:spPr>
          <a:xfrm rot="5400000">
            <a:off x="4702374" y="2894209"/>
            <a:ext cx="1593055" cy="1194198"/>
          </a:xfrm>
          <a:prstGeom prst="bentConnector3">
            <a:avLst/>
          </a:prstGeom>
          <a:ln w="28575">
            <a:solidFill>
              <a:srgbClr val="FF9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C3E57BD5-8827-D14B-B5B3-52089CBFDE08}"/>
              </a:ext>
            </a:extLst>
          </p:cNvPr>
          <p:cNvSpPr/>
          <p:nvPr/>
        </p:nvSpPr>
        <p:spPr>
          <a:xfrm>
            <a:off x="4014788" y="5219700"/>
            <a:ext cx="1757362" cy="11953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venir Roman" panose="02000503020000020003" pitchFamily="2" charset="0"/>
              </a:rPr>
              <a:t>container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E88674-BE9A-5544-B9BE-51ECAC1D8C50}"/>
              </a:ext>
            </a:extLst>
          </p:cNvPr>
          <p:cNvSpPr/>
          <p:nvPr/>
        </p:nvSpPr>
        <p:spPr>
          <a:xfrm>
            <a:off x="4207668" y="5600706"/>
            <a:ext cx="1357017" cy="645316"/>
          </a:xfrm>
          <a:prstGeom prst="rect">
            <a:avLst/>
          </a:prstGeom>
          <a:solidFill>
            <a:srgbClr val="0096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Application Master</a:t>
            </a:r>
          </a:p>
        </p:txBody>
      </p: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05220BC4-8F0E-8443-8FD4-313ED7689A9A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5772150" y="2759074"/>
            <a:ext cx="628650" cy="3058320"/>
          </a:xfrm>
          <a:prstGeom prst="bentConnector2">
            <a:avLst/>
          </a:prstGeom>
          <a:ln w="28575">
            <a:solidFill>
              <a:srgbClr val="FF9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7A5F5E0-A361-3940-A213-A11F669B3BC1}"/>
              </a:ext>
            </a:extLst>
          </p:cNvPr>
          <p:cNvSpPr txBox="1"/>
          <p:nvPr/>
        </p:nvSpPr>
        <p:spPr>
          <a:xfrm>
            <a:off x="6472833" y="3303388"/>
            <a:ext cx="1796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Need resource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6FC2C7B-909E-4C44-8762-606E6B52AFC2}"/>
              </a:ext>
            </a:extLst>
          </p:cNvPr>
          <p:cNvSpPr/>
          <p:nvPr/>
        </p:nvSpPr>
        <p:spPr>
          <a:xfrm>
            <a:off x="6802935" y="5195888"/>
            <a:ext cx="1757362" cy="1195388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Avenir Roman" panose="02000503020000020003" pitchFamily="2" charset="0"/>
              </a:rPr>
              <a:t>container</a:t>
            </a:r>
            <a:endParaRPr lang="en-US" dirty="0">
              <a:solidFill>
                <a:schemeClr val="bg1"/>
              </a:solidFill>
              <a:latin typeface="Avenir Roman" panose="02000503020000020003" pitchFamily="2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B58EB98-B960-4E49-90B5-F69C04986119}"/>
              </a:ext>
            </a:extLst>
          </p:cNvPr>
          <p:cNvSpPr/>
          <p:nvPr/>
        </p:nvSpPr>
        <p:spPr>
          <a:xfrm>
            <a:off x="6995815" y="5576894"/>
            <a:ext cx="1357017" cy="645316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>
                <a:latin typeface="Avenir Roman" panose="02000503020000020003" pitchFamily="2" charset="0"/>
              </a:rPr>
              <a:t>Application Process</a:t>
            </a:r>
            <a:endParaRPr lang="en-US" sz="1600" dirty="0">
              <a:latin typeface="Avenir Roman" panose="02000503020000020003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BDF7D9-8BF8-8B49-A0E5-462BC6F6FA32}"/>
              </a:ext>
            </a:extLst>
          </p:cNvPr>
          <p:cNvSpPr/>
          <p:nvPr/>
        </p:nvSpPr>
        <p:spPr>
          <a:xfrm>
            <a:off x="1397941" y="5230420"/>
            <a:ext cx="1757362" cy="1195388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container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D53412C-536E-C349-9486-E46F2F6F7EE5}"/>
              </a:ext>
            </a:extLst>
          </p:cNvPr>
          <p:cNvSpPr/>
          <p:nvPr/>
        </p:nvSpPr>
        <p:spPr>
          <a:xfrm>
            <a:off x="1590821" y="5611426"/>
            <a:ext cx="1357017" cy="645316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Roman" panose="02000503020000020003" pitchFamily="2" charset="0"/>
              </a:rPr>
              <a:t>Application Process</a:t>
            </a:r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9546918-189C-8A47-8FDB-99816ACC5FBE}"/>
              </a:ext>
            </a:extLst>
          </p:cNvPr>
          <p:cNvCxnSpPr>
            <a:cxnSpLocks/>
            <a:stCxn id="27" idx="1"/>
            <a:endCxn id="19" idx="3"/>
          </p:cNvCxnSpPr>
          <p:nvPr/>
        </p:nvCxnSpPr>
        <p:spPr>
          <a:xfrm rot="10800000">
            <a:off x="2919412" y="4615656"/>
            <a:ext cx="1095376" cy="1201738"/>
          </a:xfrm>
          <a:prstGeom prst="bentConnector3">
            <a:avLst>
              <a:gd name="adj1" fmla="val 50000"/>
            </a:avLst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73797909-A49C-A148-AD67-7BB2FACCF083}"/>
              </a:ext>
            </a:extLst>
          </p:cNvPr>
          <p:cNvCxnSpPr>
            <a:cxnSpLocks/>
          </p:cNvCxnSpPr>
          <p:nvPr/>
        </p:nvCxnSpPr>
        <p:spPr>
          <a:xfrm flipV="1">
            <a:off x="5772150" y="4787112"/>
            <a:ext cx="1150143" cy="1201738"/>
          </a:xfrm>
          <a:prstGeom prst="bentConnector3">
            <a:avLst>
              <a:gd name="adj1" fmla="val 50000"/>
            </a:avLst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9306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7" grpId="0" animBg="1"/>
      <p:bldP spid="28" grpId="0" animBg="1"/>
      <p:bldP spid="32" grpId="0"/>
      <p:bldP spid="33" grpId="0" animBg="1"/>
      <p:bldP spid="34" grpId="0" animBg="1"/>
      <p:bldP spid="35" grpId="0" animBg="1"/>
      <p:bldP spid="3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Hadoop Ecosystem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CBB08D-320B-A844-8B6C-3A5353B1614D}"/>
              </a:ext>
            </a:extLst>
          </p:cNvPr>
          <p:cNvSpPr/>
          <p:nvPr/>
        </p:nvSpPr>
        <p:spPr>
          <a:xfrm>
            <a:off x="1143002" y="5114925"/>
            <a:ext cx="9372600" cy="64293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HDFS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162C2C-87E1-C140-B66A-513A203D3DDE}"/>
              </a:ext>
            </a:extLst>
          </p:cNvPr>
          <p:cNvSpPr/>
          <p:nvPr/>
        </p:nvSpPr>
        <p:spPr>
          <a:xfrm>
            <a:off x="1143002" y="4124326"/>
            <a:ext cx="5934078" cy="64293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YARN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284754-D558-D245-9CA4-43C2946FB787}"/>
              </a:ext>
            </a:extLst>
          </p:cNvPr>
          <p:cNvSpPr/>
          <p:nvPr/>
        </p:nvSpPr>
        <p:spPr>
          <a:xfrm>
            <a:off x="1143002" y="3233739"/>
            <a:ext cx="2057399" cy="64293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MapReduce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0713AC-6E94-A647-AFCA-3752ACE20C05}"/>
              </a:ext>
            </a:extLst>
          </p:cNvPr>
          <p:cNvSpPr/>
          <p:nvPr/>
        </p:nvSpPr>
        <p:spPr>
          <a:xfrm>
            <a:off x="1143002" y="2309813"/>
            <a:ext cx="2057399" cy="64293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Hive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EFFD6A-DC5A-914A-8905-58CC076DBA57}"/>
              </a:ext>
            </a:extLst>
          </p:cNvPr>
          <p:cNvSpPr/>
          <p:nvPr/>
        </p:nvSpPr>
        <p:spPr>
          <a:xfrm>
            <a:off x="3462341" y="3233737"/>
            <a:ext cx="1676397" cy="64293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 err="1">
                <a:latin typeface="Avenir Roman" panose="02000503020000020003" pitchFamily="2" charset="0"/>
              </a:rPr>
              <a:t>Tez</a:t>
            </a:r>
            <a:endParaRPr lang="en-US" sz="2400" dirty="0">
              <a:latin typeface="Avenir Roman" panose="02000503020000020003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7CE0A1-83B7-9D4B-AD74-48468B6514D3}"/>
              </a:ext>
            </a:extLst>
          </p:cNvPr>
          <p:cNvSpPr/>
          <p:nvPr/>
        </p:nvSpPr>
        <p:spPr>
          <a:xfrm>
            <a:off x="5400678" y="3217070"/>
            <a:ext cx="1676402" cy="64293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Spark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D4537-2458-5348-8E61-9CF9F9E11D74}"/>
              </a:ext>
            </a:extLst>
          </p:cNvPr>
          <p:cNvSpPr/>
          <p:nvPr/>
        </p:nvSpPr>
        <p:spPr>
          <a:xfrm>
            <a:off x="7519993" y="3233737"/>
            <a:ext cx="1276348" cy="155019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Presto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3CC8EC-99BA-2747-8AB1-B45AAA027210}"/>
              </a:ext>
            </a:extLst>
          </p:cNvPr>
          <p:cNvSpPr/>
          <p:nvPr/>
        </p:nvSpPr>
        <p:spPr>
          <a:xfrm>
            <a:off x="9239254" y="3217069"/>
            <a:ext cx="1276348" cy="155019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latin typeface="Avenir Roman" panose="02000503020000020003" pitchFamily="2" charset="0"/>
              </a:rPr>
              <a:t>HBase</a:t>
            </a:r>
          </a:p>
        </p:txBody>
      </p:sp>
    </p:spTree>
    <p:extLst>
      <p:ext uri="{BB962C8B-B14F-4D97-AF65-F5344CB8AC3E}">
        <p14:creationId xmlns:p14="http://schemas.microsoft.com/office/powerpoint/2010/main" val="1881773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2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631F-94FF-4F47-AF73-49965B2AC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73685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Avenir Roman" panose="02000503020000020003" pitchFamily="2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186716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547</TotalTime>
  <Words>585</Words>
  <Application>Microsoft Macintosh PowerPoint</Application>
  <PresentationFormat>Widescreen</PresentationFormat>
  <Paragraphs>209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Avenir Roman</vt:lpstr>
      <vt:lpstr>Calibri</vt:lpstr>
      <vt:lpstr>Calibri Light</vt:lpstr>
      <vt:lpstr>Wingdings</vt:lpstr>
      <vt:lpstr>Office Theme</vt:lpstr>
      <vt:lpstr>Hadoop - Theory</vt:lpstr>
      <vt:lpstr>Agenda</vt:lpstr>
      <vt:lpstr>What is Hadoop</vt:lpstr>
      <vt:lpstr>Distributed Storage</vt:lpstr>
      <vt:lpstr>HDFS</vt:lpstr>
      <vt:lpstr>HDFS – Read Path</vt:lpstr>
      <vt:lpstr>HDFS – Write Path</vt:lpstr>
      <vt:lpstr>MapReduce</vt:lpstr>
      <vt:lpstr>Map and Reduce</vt:lpstr>
      <vt:lpstr>Map</vt:lpstr>
      <vt:lpstr>Reduce</vt:lpstr>
      <vt:lpstr>How MapReduce Works</vt:lpstr>
      <vt:lpstr>How MapReduce Works</vt:lpstr>
      <vt:lpstr>How MapReduce Works - Example</vt:lpstr>
      <vt:lpstr>Partitioner</vt:lpstr>
      <vt:lpstr>Combiner</vt:lpstr>
      <vt:lpstr>Distributed Processing</vt:lpstr>
      <vt:lpstr>YARN</vt:lpstr>
      <vt:lpstr>YARN</vt:lpstr>
      <vt:lpstr>YARN</vt:lpstr>
      <vt:lpstr>Hadoop Ecosystem</vt:lpstr>
      <vt:lpstr>Thank You!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Engineering Foundation</dc:title>
  <dc:creator>Soumyadeep Dey</dc:creator>
  <cp:lastModifiedBy>Soumyadeep Dey</cp:lastModifiedBy>
  <cp:revision>65</cp:revision>
  <dcterms:created xsi:type="dcterms:W3CDTF">2023-08-18T15:58:59Z</dcterms:created>
  <dcterms:modified xsi:type="dcterms:W3CDTF">2023-08-19T15:43:25Z</dcterms:modified>
</cp:coreProperties>
</file>