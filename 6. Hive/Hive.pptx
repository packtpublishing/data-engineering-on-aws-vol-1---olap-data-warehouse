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3" r:id="rId1"/>
  </p:sldMasterIdLst>
  <p:notesMasterIdLst>
    <p:notesMasterId r:id="rId54"/>
  </p:notesMasterIdLst>
  <p:sldIdLst>
    <p:sldId id="256" r:id="rId2"/>
    <p:sldId id="257" r:id="rId3"/>
    <p:sldId id="275" r:id="rId4"/>
    <p:sldId id="258" r:id="rId5"/>
    <p:sldId id="276" r:id="rId6"/>
    <p:sldId id="259" r:id="rId7"/>
    <p:sldId id="293" r:id="rId8"/>
    <p:sldId id="260" r:id="rId9"/>
    <p:sldId id="294" r:id="rId10"/>
    <p:sldId id="277" r:id="rId11"/>
    <p:sldId id="295" r:id="rId12"/>
    <p:sldId id="278" r:id="rId13"/>
    <p:sldId id="280" r:id="rId14"/>
    <p:sldId id="279" r:id="rId15"/>
    <p:sldId id="282" r:id="rId16"/>
    <p:sldId id="298" r:id="rId17"/>
    <p:sldId id="284" r:id="rId18"/>
    <p:sldId id="302" r:id="rId19"/>
    <p:sldId id="299" r:id="rId20"/>
    <p:sldId id="300" r:id="rId21"/>
    <p:sldId id="303" r:id="rId22"/>
    <p:sldId id="301" r:id="rId23"/>
    <p:sldId id="281" r:id="rId24"/>
    <p:sldId id="296" r:id="rId25"/>
    <p:sldId id="285" r:id="rId26"/>
    <p:sldId id="308" r:id="rId27"/>
    <p:sldId id="286" r:id="rId28"/>
    <p:sldId id="304" r:id="rId29"/>
    <p:sldId id="306" r:id="rId30"/>
    <p:sldId id="307" r:id="rId31"/>
    <p:sldId id="309" r:id="rId32"/>
    <p:sldId id="287" r:id="rId33"/>
    <p:sldId id="292" r:id="rId34"/>
    <p:sldId id="305" r:id="rId35"/>
    <p:sldId id="288" r:id="rId36"/>
    <p:sldId id="319" r:id="rId37"/>
    <p:sldId id="290" r:id="rId38"/>
    <p:sldId id="310" r:id="rId39"/>
    <p:sldId id="311" r:id="rId40"/>
    <p:sldId id="289" r:id="rId41"/>
    <p:sldId id="320" r:id="rId42"/>
    <p:sldId id="323" r:id="rId43"/>
    <p:sldId id="291" r:id="rId44"/>
    <p:sldId id="316" r:id="rId45"/>
    <p:sldId id="321" r:id="rId46"/>
    <p:sldId id="322" r:id="rId47"/>
    <p:sldId id="312" r:id="rId48"/>
    <p:sldId id="313" r:id="rId49"/>
    <p:sldId id="324" r:id="rId50"/>
    <p:sldId id="314" r:id="rId51"/>
    <p:sldId id="315" r:id="rId52"/>
    <p:sldId id="317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  <a:srgbClr val="0096FF"/>
    <a:srgbClr val="FFD579"/>
    <a:srgbClr val="FF7E79"/>
    <a:srgbClr val="942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87190"/>
  </p:normalViewPr>
  <p:slideViewPr>
    <p:cSldViewPr snapToGrid="0" snapToObjects="1">
      <p:cViewPr varScale="1">
        <p:scale>
          <a:sx n="90" d="100"/>
          <a:sy n="90" d="100"/>
        </p:scale>
        <p:origin x="232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CF896A-8A9C-E640-AE8E-BA766E8DE71B}" type="datetimeFigureOut">
              <a:rPr lang="en-US" smtClean="0"/>
              <a:t>9/5/23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3AB161-6B37-864F-9AA6-826267C15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726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 - https://</a:t>
            </a:r>
            <a:r>
              <a:rPr lang="en-US" dirty="0" err="1"/>
              <a:t>docs.qubole.com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/latest/user-guide/engines/hive/apache-</a:t>
            </a:r>
            <a:r>
              <a:rPr lang="en-US" dirty="0" err="1"/>
              <a:t>hive.html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AB161-6B37-864F-9AA6-826267C1542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236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 - https://</a:t>
            </a:r>
            <a:r>
              <a:rPr lang="en-US" dirty="0" err="1"/>
              <a:t>docs.qubole.com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/latest/user-guide/engines/hive/apache-</a:t>
            </a:r>
            <a:r>
              <a:rPr lang="en-US" dirty="0" err="1"/>
              <a:t>hive.html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AB161-6B37-864F-9AA6-826267C1542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57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schemeClr val="bg1"/>
                </a:solidFill>
                <a:latin typeface="Avenir Roman" panose="02000503020000020003" pitchFamily="2" charset="0"/>
              </a:rPr>
              <a:t>We will be creating tables, views </a:t>
            </a:r>
            <a:r>
              <a:rPr lang="en-US" sz="1200" dirty="0" err="1">
                <a:solidFill>
                  <a:schemeClr val="bg1"/>
                </a:solidFill>
                <a:latin typeface="Avenir Roman" panose="02000503020000020003" pitchFamily="2" charset="0"/>
              </a:rPr>
              <a:t>etc</a:t>
            </a:r>
            <a:r>
              <a:rPr lang="en-US" sz="1200" dirty="0">
                <a:solidFill>
                  <a:schemeClr val="bg1"/>
                </a:solidFill>
                <a:latin typeface="Avenir Roman" panose="02000503020000020003" pitchFamily="2" charset="0"/>
              </a:rPr>
              <a:t> out of large datasets like parquet, </a:t>
            </a:r>
            <a:r>
              <a:rPr lang="en-US" sz="1200" dirty="0" err="1">
                <a:solidFill>
                  <a:schemeClr val="bg1"/>
                </a:solidFill>
                <a:latin typeface="Avenir Roman" panose="02000503020000020003" pitchFamily="2" charset="0"/>
              </a:rPr>
              <a:t>avro</a:t>
            </a:r>
            <a:r>
              <a:rPr lang="en-US" sz="1200" dirty="0">
                <a:solidFill>
                  <a:schemeClr val="bg1"/>
                </a:solidFill>
                <a:latin typeface="Avenir Roman" panose="02000503020000020003" pitchFamily="2" charset="0"/>
              </a:rPr>
              <a:t>, orc etc. We need a permanent place to store the definition of these structures.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AB161-6B37-864F-9AA6-826267C1542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84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schemeClr val="bg1"/>
                </a:solidFill>
                <a:latin typeface="Avenir Roman" panose="02000503020000020003" pitchFamily="2" charset="0"/>
              </a:rPr>
              <a:t>We will be creating tables, views </a:t>
            </a:r>
            <a:r>
              <a:rPr lang="en-US" sz="1200" dirty="0" err="1">
                <a:solidFill>
                  <a:schemeClr val="bg1"/>
                </a:solidFill>
                <a:latin typeface="Avenir Roman" panose="02000503020000020003" pitchFamily="2" charset="0"/>
              </a:rPr>
              <a:t>etc</a:t>
            </a:r>
            <a:r>
              <a:rPr lang="en-US" sz="1200" dirty="0">
                <a:solidFill>
                  <a:schemeClr val="bg1"/>
                </a:solidFill>
                <a:latin typeface="Avenir Roman" panose="02000503020000020003" pitchFamily="2" charset="0"/>
              </a:rPr>
              <a:t> out of large datasets like parquet, </a:t>
            </a:r>
            <a:r>
              <a:rPr lang="en-US" sz="1200" dirty="0" err="1">
                <a:solidFill>
                  <a:schemeClr val="bg1"/>
                </a:solidFill>
                <a:latin typeface="Avenir Roman" panose="02000503020000020003" pitchFamily="2" charset="0"/>
              </a:rPr>
              <a:t>avro</a:t>
            </a:r>
            <a:r>
              <a:rPr lang="en-US" sz="1200" dirty="0">
                <a:solidFill>
                  <a:schemeClr val="bg1"/>
                </a:solidFill>
                <a:latin typeface="Avenir Roman" panose="02000503020000020003" pitchFamily="2" charset="0"/>
              </a:rPr>
              <a:t>, orc etc. We need a permanent place to store the definition of these structures.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AB161-6B37-864F-9AA6-826267C1542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458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AB161-6B37-864F-9AA6-826267C1542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117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EADFE-D307-714F-BCB1-39A4E266B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EE4E51-E5D4-9348-A2A0-41F613A580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E6AC4-9EB7-5B46-AF7D-CD5FDD58D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9/5/23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2ECF8-0C0B-3F4B-B2A3-45C9893B3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2274D-D5D9-0042-A691-4B5F9C82E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561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B5ACD-2AFD-E844-AEBC-B103A046E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B226D-7AA7-5747-A426-47D430DF9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6CD9F-2D12-C54F-BE38-2DE460376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9/5/23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0DD6C-EC99-4D48-9AAB-82D73C39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7C043-8D88-8844-B37F-595BDD504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628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20083-7240-074E-A4ED-EC161D0AA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0C64B-8984-4945-AC4B-8673AFDCA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E7B6D-E421-D544-A720-4692DCD15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9/5/23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47E83-6985-E145-9D59-AAB7F5CBE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E967D-41C1-7645-8252-77B061F44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94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DBBBB-E4AD-E44A-AA1E-9159AF663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E8260-8FE5-4C4C-8387-B46AF54762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7EB522-C037-D648-9754-4E3F18758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7A9A1-B860-3547-988F-0FC83CDB6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9/5/23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D4CB7-074E-044D-B0FC-051FB382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743034-3755-7247-AC0C-8C498B048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33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31757-14CF-5749-A4E1-C86063588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4D034-E237-4743-A0BC-5835CD083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6D563-5F85-C44B-8321-1D8FA8410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11B0CD-5101-7346-9947-A64789DA3E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42597A-FC49-E14E-A02E-926A190B6D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5DE657-A46E-9643-92BB-0786F721A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9/5/23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745BC2-096F-0345-AE2A-5ECC03B79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87DBF2-B731-3B49-9A81-509397B99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605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4975D-8976-F848-98B9-A136EE0F3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948BCE-BA00-0842-8B3A-D3093C3E9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9/5/23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074CE7-5F53-0649-BE10-41640E059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6C3AA4-E1CD-084D-929A-2EA7916EE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112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E41E0D-E257-9C4D-8E58-432524099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9/5/23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85226-1852-D444-9D99-566A54AD2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456CE-19E6-EC46-97BF-48B374D16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538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AAC0-A195-CB49-B85E-39BACD6D3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0D9CA-D2D6-FF44-9C43-1638964BA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148787-8214-EE4E-9CC8-79A15E33A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89B96-D63F-3548-B10C-C77DB87E9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9/5/23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079FC-F7CD-AE43-8904-2A1D842D8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192EB-299C-174B-93BB-C1BC11A97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32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1552-BDB4-5E47-8BF7-4D4F90047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7DFC3B-83AF-6942-A5BF-BD6299F0FB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A8784-6466-DD47-9D3C-A154B2C0D3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FE462-0B5E-0846-8557-B4C57789A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9/5/23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20A24-22F9-7744-98B4-C11ABE879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DFF8F-995D-A742-9A26-273C0A320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978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358FA-26F7-5F45-8DA1-50C5CBE7F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F9CD94-02FE-DF4D-B04D-F29811511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3502C-37EB-E94B-922A-9D86CD8A8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9/5/23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90590-4B88-9048-9653-9BA32574C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44139-2710-1E40-B030-1BCF1E5F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810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3DF969-72F6-D948-BD87-14B49EFC0E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B9AC3D-B30C-4E41-84C4-DDDE604DBC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2355E-8C94-3D45-8636-717B98B00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9/5/23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3A300-9EBD-F74C-802A-7972186BB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819D7-6012-454E-90B4-E50BF736F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294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C31F5F-F4D0-3046-85D3-3312E2609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458F6-76BF-3948-8800-92B3D9105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1A016-FE76-EB43-AEDA-692A55B113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E9101-D032-5741-A8AE-84BE5F8F4BEC}" type="datetimeFigureOut">
              <a:rPr lang="en-US" smtClean="0"/>
              <a:t>9/5/23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5FC82-7110-FB45-9256-1DB7DC71FB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C0BF4-1761-4742-94CC-4B52C02F14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58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B488A-2C15-784A-A29B-C7F6BD7DD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7597" y="2252818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Hive</a:t>
            </a:r>
          </a:p>
        </p:txBody>
      </p:sp>
    </p:spTree>
    <p:extLst>
      <p:ext uri="{BB962C8B-B14F-4D97-AF65-F5344CB8AC3E}">
        <p14:creationId xmlns:p14="http://schemas.microsoft.com/office/powerpoint/2010/main" val="910400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2067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Introduction to Hive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Hive architecture &amp; components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Metastore</a:t>
            </a:r>
            <a:endParaRPr lang="en-US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Thrift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Hive clients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Data types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Hive tables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File formats and record formats (</a:t>
            </a:r>
            <a:r>
              <a:rPr lang="en-US" sz="2400" dirty="0" err="1">
                <a:solidFill>
                  <a:schemeClr val="bg1"/>
                </a:solidFill>
                <a:latin typeface="Avenir Roman" panose="02000503020000020003" pitchFamily="2" charset="0"/>
              </a:rPr>
              <a:t>SerDe</a:t>
            </a: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HiveQL – DDL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HiveQL – DML </a:t>
            </a:r>
          </a:p>
        </p:txBody>
      </p:sp>
    </p:spTree>
    <p:extLst>
      <p:ext uri="{BB962C8B-B14F-4D97-AF65-F5344CB8AC3E}">
        <p14:creationId xmlns:p14="http://schemas.microsoft.com/office/powerpoint/2010/main" val="515681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2067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Partitioning &amp; bucketing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ACID transactions in Hive – UPDATE, DELETE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Configuration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Locks in Hive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Views &amp; indexes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Storage handlers for NoSQL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Hive integration with other frameworks</a:t>
            </a:r>
          </a:p>
        </p:txBody>
      </p:sp>
    </p:spTree>
    <p:extLst>
      <p:ext uri="{BB962C8B-B14F-4D97-AF65-F5344CB8AC3E}">
        <p14:creationId xmlns:p14="http://schemas.microsoft.com/office/powerpoint/2010/main" val="2556728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335767" cy="4351338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MapReduce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Mapper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Reducer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SQL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6365A6-4FB3-F942-B198-11344BD506CE}"/>
              </a:ext>
            </a:extLst>
          </p:cNvPr>
          <p:cNvSpPr/>
          <p:nvPr/>
        </p:nvSpPr>
        <p:spPr>
          <a:xfrm>
            <a:off x="3965981" y="1599480"/>
            <a:ext cx="925158" cy="197940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Roman" panose="02000503020000020003" pitchFamily="2" charset="0"/>
              </a:rPr>
              <a:t>File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DD64E6-DEAF-D644-8930-40335BA48889}"/>
              </a:ext>
            </a:extLst>
          </p:cNvPr>
          <p:cNvSpPr/>
          <p:nvPr/>
        </p:nvSpPr>
        <p:spPr>
          <a:xfrm>
            <a:off x="5170842" y="1613647"/>
            <a:ext cx="925158" cy="462579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Roman" panose="02000503020000020003" pitchFamily="2" charset="0"/>
              </a:rPr>
              <a:t>Split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65B4A6-C777-8B4B-A7ED-3119C37A0A3D}"/>
              </a:ext>
            </a:extLst>
          </p:cNvPr>
          <p:cNvSpPr/>
          <p:nvPr/>
        </p:nvSpPr>
        <p:spPr>
          <a:xfrm>
            <a:off x="5170842" y="2372060"/>
            <a:ext cx="925158" cy="462579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Roman" panose="02000503020000020003" pitchFamily="2" charset="0"/>
              </a:rPr>
              <a:t>Split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B2FB17-BF6B-D643-A853-69AE851B87A3}"/>
              </a:ext>
            </a:extLst>
          </p:cNvPr>
          <p:cNvSpPr/>
          <p:nvPr/>
        </p:nvSpPr>
        <p:spPr>
          <a:xfrm>
            <a:off x="5170842" y="3130475"/>
            <a:ext cx="925158" cy="462579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Roman" panose="02000503020000020003" pitchFamily="2" charset="0"/>
              </a:rPr>
              <a:t>Split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2BFC23-D5A8-7D4A-A761-33B9530E2CCA}"/>
              </a:ext>
            </a:extLst>
          </p:cNvPr>
          <p:cNvSpPr/>
          <p:nvPr/>
        </p:nvSpPr>
        <p:spPr>
          <a:xfrm>
            <a:off x="6332663" y="1599481"/>
            <a:ext cx="925158" cy="462579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Roman" panose="02000503020000020003" pitchFamily="2" charset="0"/>
              </a:rPr>
              <a:t>Map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2EEA6E-BF98-2B44-B0DA-EA8234058F5B}"/>
              </a:ext>
            </a:extLst>
          </p:cNvPr>
          <p:cNvSpPr/>
          <p:nvPr/>
        </p:nvSpPr>
        <p:spPr>
          <a:xfrm>
            <a:off x="6332663" y="2377205"/>
            <a:ext cx="925158" cy="462579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Roman" panose="02000503020000020003" pitchFamily="2" charset="0"/>
              </a:rPr>
              <a:t>Map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20635A-1320-304E-B186-E33C1789DD51}"/>
              </a:ext>
            </a:extLst>
          </p:cNvPr>
          <p:cNvSpPr/>
          <p:nvPr/>
        </p:nvSpPr>
        <p:spPr>
          <a:xfrm>
            <a:off x="6332662" y="3135620"/>
            <a:ext cx="925158" cy="462579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Roman" panose="02000503020000020003" pitchFamily="2" charset="0"/>
              </a:rPr>
              <a:t>Map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A1F823-3906-9744-95C3-A0D467F5F759}"/>
              </a:ext>
            </a:extLst>
          </p:cNvPr>
          <p:cNvSpPr/>
          <p:nvPr/>
        </p:nvSpPr>
        <p:spPr>
          <a:xfrm>
            <a:off x="7512414" y="1610239"/>
            <a:ext cx="1351877" cy="197940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Roman" panose="02000503020000020003" pitchFamily="2" charset="0"/>
              </a:rPr>
              <a:t>Partition</a:t>
            </a:r>
          </a:p>
          <a:p>
            <a:pPr algn="ctr"/>
            <a:r>
              <a:rPr lang="en-US" sz="1600" dirty="0">
                <a:latin typeface="Avenir Roman" panose="02000503020000020003" pitchFamily="2" charset="0"/>
              </a:rPr>
              <a:t>Sort</a:t>
            </a:r>
          </a:p>
          <a:p>
            <a:pPr algn="ctr"/>
            <a:r>
              <a:rPr lang="en-US" sz="1600" dirty="0">
                <a:latin typeface="Avenir Roman" panose="02000503020000020003" pitchFamily="2" charset="0"/>
              </a:rPr>
              <a:t>Copy</a:t>
            </a:r>
          </a:p>
          <a:p>
            <a:pPr algn="ctr"/>
            <a:r>
              <a:rPr lang="en-US" sz="1600" dirty="0">
                <a:latin typeface="Avenir Roman" panose="02000503020000020003" pitchFamily="2" charset="0"/>
              </a:rPr>
              <a:t>Merge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3B6B25-901C-2F42-8C81-1B40226A1BC1}"/>
              </a:ext>
            </a:extLst>
          </p:cNvPr>
          <p:cNvSpPr/>
          <p:nvPr/>
        </p:nvSpPr>
        <p:spPr>
          <a:xfrm>
            <a:off x="9118887" y="1608416"/>
            <a:ext cx="1104458" cy="462579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Roman" panose="02000503020000020003" pitchFamily="2" charset="0"/>
              </a:rPr>
              <a:t>Reduce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D9967B-F437-3F42-BE9D-F7BF8908AE49}"/>
              </a:ext>
            </a:extLst>
          </p:cNvPr>
          <p:cNvSpPr/>
          <p:nvPr/>
        </p:nvSpPr>
        <p:spPr>
          <a:xfrm>
            <a:off x="9118884" y="2383816"/>
            <a:ext cx="1104458" cy="462579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Roman" panose="02000503020000020003" pitchFamily="2" charset="0"/>
              </a:rPr>
              <a:t>Reduce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309351-5165-D640-ACA8-E78EDC59D804}"/>
              </a:ext>
            </a:extLst>
          </p:cNvPr>
          <p:cNvSpPr/>
          <p:nvPr/>
        </p:nvSpPr>
        <p:spPr>
          <a:xfrm>
            <a:off x="9118884" y="3137720"/>
            <a:ext cx="1104458" cy="462579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Roman" panose="02000503020000020003" pitchFamily="2" charset="0"/>
              </a:rPr>
              <a:t>Reduce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7EAE61-8A5D-D34F-924E-BB826DD216F5}"/>
              </a:ext>
            </a:extLst>
          </p:cNvPr>
          <p:cNvSpPr/>
          <p:nvPr/>
        </p:nvSpPr>
        <p:spPr>
          <a:xfrm>
            <a:off x="10463594" y="1599481"/>
            <a:ext cx="925158" cy="197940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Roman" panose="02000503020000020003" pitchFamily="2" charset="0"/>
              </a:rPr>
              <a:t>Output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81D174-6D50-EE49-8B5D-6C9DC9532A61}"/>
              </a:ext>
            </a:extLst>
          </p:cNvPr>
          <p:cNvSpPr/>
          <p:nvPr/>
        </p:nvSpPr>
        <p:spPr>
          <a:xfrm>
            <a:off x="3732904" y="1344706"/>
            <a:ext cx="8068235" cy="2452743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3D94F0-B15B-A54F-9FED-682F98E5ADBC}"/>
              </a:ext>
            </a:extLst>
          </p:cNvPr>
          <p:cNvSpPr/>
          <p:nvPr/>
        </p:nvSpPr>
        <p:spPr>
          <a:xfrm>
            <a:off x="3797440" y="4708861"/>
            <a:ext cx="1455874" cy="579474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Roman" panose="02000503020000020003" pitchFamily="2" charset="0"/>
              </a:rPr>
              <a:t>MapReduce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7303F6-0F90-E547-B46C-E112220D9608}"/>
              </a:ext>
            </a:extLst>
          </p:cNvPr>
          <p:cNvSpPr/>
          <p:nvPr/>
        </p:nvSpPr>
        <p:spPr>
          <a:xfrm>
            <a:off x="5781327" y="4197556"/>
            <a:ext cx="1455874" cy="579474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Roman" panose="02000503020000020003" pitchFamily="2" charset="0"/>
              </a:rPr>
              <a:t>MapReduce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69569C-6F82-BC47-87E0-4BCA81C19FD8}"/>
              </a:ext>
            </a:extLst>
          </p:cNvPr>
          <p:cNvSpPr/>
          <p:nvPr/>
        </p:nvSpPr>
        <p:spPr>
          <a:xfrm>
            <a:off x="5781327" y="5242381"/>
            <a:ext cx="1455874" cy="579474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Roman" panose="02000503020000020003" pitchFamily="2" charset="0"/>
              </a:rPr>
              <a:t>MapReduce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DD197D-7974-2B49-8FE5-7245A9BF1F63}"/>
              </a:ext>
            </a:extLst>
          </p:cNvPr>
          <p:cNvSpPr/>
          <p:nvPr/>
        </p:nvSpPr>
        <p:spPr>
          <a:xfrm>
            <a:off x="7673768" y="4197556"/>
            <a:ext cx="1455874" cy="579474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Roman" panose="02000503020000020003" pitchFamily="2" charset="0"/>
              </a:rPr>
              <a:t>MapReduce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70F3A1-8E0E-0D43-A0AA-2C08093E389F}"/>
              </a:ext>
            </a:extLst>
          </p:cNvPr>
          <p:cNvSpPr/>
          <p:nvPr/>
        </p:nvSpPr>
        <p:spPr>
          <a:xfrm>
            <a:off x="7718573" y="5177137"/>
            <a:ext cx="1455874" cy="394304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Roman" panose="02000503020000020003" pitchFamily="2" charset="0"/>
              </a:rPr>
              <a:t>MapReduce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BE3E38F-4F74-864D-9483-B0DB71C6C587}"/>
              </a:ext>
            </a:extLst>
          </p:cNvPr>
          <p:cNvSpPr/>
          <p:nvPr/>
        </p:nvSpPr>
        <p:spPr>
          <a:xfrm>
            <a:off x="7718573" y="5774396"/>
            <a:ext cx="1455874" cy="394304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Roman" panose="02000503020000020003" pitchFamily="2" charset="0"/>
              </a:rPr>
              <a:t>MapReduce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DEF512A-5224-3D4E-9780-38DD3CDBBD46}"/>
              </a:ext>
            </a:extLst>
          </p:cNvPr>
          <p:cNvSpPr/>
          <p:nvPr/>
        </p:nvSpPr>
        <p:spPr>
          <a:xfrm>
            <a:off x="9566209" y="4777030"/>
            <a:ext cx="1455874" cy="579474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Roman" panose="02000503020000020003" pitchFamily="2" charset="0"/>
              </a:rPr>
              <a:t>MapReduce</a:t>
            </a:r>
          </a:p>
        </p:txBody>
      </p: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64B6840F-5A6B-444F-A8A7-3DE255BF2ED9}"/>
              </a:ext>
            </a:extLst>
          </p:cNvPr>
          <p:cNvCxnSpPr>
            <a:stCxn id="22" idx="3"/>
            <a:endCxn id="23" idx="1"/>
          </p:cNvCxnSpPr>
          <p:nvPr/>
        </p:nvCxnSpPr>
        <p:spPr>
          <a:xfrm flipV="1">
            <a:off x="5253314" y="4487293"/>
            <a:ext cx="528013" cy="511305"/>
          </a:xfrm>
          <a:prstGeom prst="bentConnector3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2A9AEA02-4627-D649-B8A8-5C03ABEE6FF6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>
            <a:off x="5253314" y="4998598"/>
            <a:ext cx="528013" cy="533520"/>
          </a:xfrm>
          <a:prstGeom prst="bentConnector3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DAC518F4-4A4B-FA4B-B726-09EC554A152C}"/>
              </a:ext>
            </a:extLst>
          </p:cNvPr>
          <p:cNvCxnSpPr>
            <a:cxnSpLocks/>
            <a:stCxn id="24" idx="3"/>
            <a:endCxn id="26" idx="1"/>
          </p:cNvCxnSpPr>
          <p:nvPr/>
        </p:nvCxnSpPr>
        <p:spPr>
          <a:xfrm flipV="1">
            <a:off x="7237201" y="5374289"/>
            <a:ext cx="481372" cy="157829"/>
          </a:xfrm>
          <a:prstGeom prst="bentConnector3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D1967577-D4FB-DA4B-A9AE-20AC159C0262}"/>
              </a:ext>
            </a:extLst>
          </p:cNvPr>
          <p:cNvCxnSpPr>
            <a:cxnSpLocks/>
            <a:stCxn id="24" idx="3"/>
            <a:endCxn id="27" idx="1"/>
          </p:cNvCxnSpPr>
          <p:nvPr/>
        </p:nvCxnSpPr>
        <p:spPr>
          <a:xfrm>
            <a:off x="7237201" y="5532118"/>
            <a:ext cx="481372" cy="439430"/>
          </a:xfrm>
          <a:prstGeom prst="bentConnector3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8C6A61F7-5C2C-644C-BCBE-238F0C46C07C}"/>
              </a:ext>
            </a:extLst>
          </p:cNvPr>
          <p:cNvCxnSpPr>
            <a:cxnSpLocks/>
            <a:stCxn id="26" idx="3"/>
            <a:endCxn id="28" idx="1"/>
          </p:cNvCxnSpPr>
          <p:nvPr/>
        </p:nvCxnSpPr>
        <p:spPr>
          <a:xfrm flipV="1">
            <a:off x="9174447" y="5066767"/>
            <a:ext cx="391762" cy="307522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3CEA5559-5693-D443-AD5E-E99C0A9E95F6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 flipV="1">
            <a:off x="9174447" y="5066767"/>
            <a:ext cx="391762" cy="904781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65407823-8BE8-1E42-A727-42F0BFD1D82D}"/>
              </a:ext>
            </a:extLst>
          </p:cNvPr>
          <p:cNvCxnSpPr>
            <a:cxnSpLocks/>
            <a:stCxn id="25" idx="3"/>
            <a:endCxn id="28" idx="1"/>
          </p:cNvCxnSpPr>
          <p:nvPr/>
        </p:nvCxnSpPr>
        <p:spPr>
          <a:xfrm>
            <a:off x="9129642" y="4487293"/>
            <a:ext cx="436567" cy="579474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34F018B-2014-8A41-B819-BFA94BFC8AB1}"/>
              </a:ext>
            </a:extLst>
          </p:cNvPr>
          <p:cNvCxnSpPr>
            <a:stCxn id="23" idx="3"/>
            <a:endCxn id="25" idx="1"/>
          </p:cNvCxnSpPr>
          <p:nvPr/>
        </p:nvCxnSpPr>
        <p:spPr>
          <a:xfrm>
            <a:off x="7237201" y="4487293"/>
            <a:ext cx="43656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758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76247" cy="4351338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Hive was built on top of Hadoop for querying, summarizing, and </a:t>
            </a:r>
            <a:r>
              <a:rPr lang="en-IN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analyzing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 large data sets using a SQL-like interface. </a:t>
            </a:r>
            <a:endParaRPr lang="en-US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Hive Query Language (HiveQL).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It is noted for bringing the familiarity of relational technology to Big Data processing with Hive Query Language. 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HiveQL gets converted to MapReduce jobs and runs on Hadoop.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MapReduce is slow.</a:t>
            </a:r>
          </a:p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endParaRPr lang="en-US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C858BF-4E90-AB49-BD7F-E7119DC0D2A7}"/>
              </a:ext>
            </a:extLst>
          </p:cNvPr>
          <p:cNvSpPr/>
          <p:nvPr/>
        </p:nvSpPr>
        <p:spPr>
          <a:xfrm>
            <a:off x="8864299" y="1825625"/>
            <a:ext cx="2323654" cy="71318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HiveQL (SQL Like)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B574717-BF36-D641-B893-B7CB6C063EDF}"/>
              </a:ext>
            </a:extLst>
          </p:cNvPr>
          <p:cNvSpPr/>
          <p:nvPr/>
        </p:nvSpPr>
        <p:spPr>
          <a:xfrm>
            <a:off x="8864299" y="3288114"/>
            <a:ext cx="2323654" cy="71318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MapReduce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282C66-A924-8441-A4FD-AB56C9E7D31B}"/>
              </a:ext>
            </a:extLst>
          </p:cNvPr>
          <p:cNvCxnSpPr>
            <a:stCxn id="6" idx="2"/>
            <a:endCxn id="33" idx="0"/>
          </p:cNvCxnSpPr>
          <p:nvPr/>
        </p:nvCxnSpPr>
        <p:spPr>
          <a:xfrm>
            <a:off x="10026126" y="2538805"/>
            <a:ext cx="0" cy="749309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76DBE8D-FBED-8B4D-9725-8B5924AD315C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10026126" y="4001294"/>
            <a:ext cx="0" cy="62256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7850A86-5BE6-224A-85CA-8641F2021EE8}"/>
              </a:ext>
            </a:extLst>
          </p:cNvPr>
          <p:cNvGrpSpPr/>
          <p:nvPr/>
        </p:nvGrpSpPr>
        <p:grpSpPr>
          <a:xfrm>
            <a:off x="8864299" y="4623854"/>
            <a:ext cx="2323654" cy="1454217"/>
            <a:chOff x="8864299" y="4623854"/>
            <a:chExt cx="2323654" cy="1454217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AA08D4C-8BEE-0E41-B2A8-0098810F9D72}"/>
                </a:ext>
              </a:extLst>
            </p:cNvPr>
            <p:cNvSpPr/>
            <p:nvPr/>
          </p:nvSpPr>
          <p:spPr>
            <a:xfrm>
              <a:off x="8864299" y="4623854"/>
              <a:ext cx="2323654" cy="1454217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dirty="0">
                  <a:latin typeface="Avenir Roman" panose="02000503020000020003" pitchFamily="2" charset="0"/>
                </a:rPr>
                <a:t>Cluster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750F929-8563-B046-AAEF-D7DD07103077}"/>
                </a:ext>
              </a:extLst>
            </p:cNvPr>
            <p:cNvSpPr/>
            <p:nvPr/>
          </p:nvSpPr>
          <p:spPr>
            <a:xfrm>
              <a:off x="9731186" y="4796731"/>
              <a:ext cx="589880" cy="258325"/>
            </a:xfrm>
            <a:prstGeom prst="rect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Roman" panose="02000503020000020003" pitchFamily="2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4FB19BF-E10D-1A4B-BDBF-A73B4A25C096}"/>
                </a:ext>
              </a:extLst>
            </p:cNvPr>
            <p:cNvSpPr/>
            <p:nvPr/>
          </p:nvSpPr>
          <p:spPr>
            <a:xfrm>
              <a:off x="9001458" y="5325651"/>
              <a:ext cx="589880" cy="258325"/>
            </a:xfrm>
            <a:prstGeom prst="rect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Roman" panose="02000503020000020003" pitchFamily="2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6D5F92A-43FE-8549-867D-AA977D8AAC20}"/>
                </a:ext>
              </a:extLst>
            </p:cNvPr>
            <p:cNvSpPr/>
            <p:nvPr/>
          </p:nvSpPr>
          <p:spPr>
            <a:xfrm>
              <a:off x="9740596" y="5336409"/>
              <a:ext cx="589880" cy="258325"/>
            </a:xfrm>
            <a:prstGeom prst="rect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Roman" panose="02000503020000020003" pitchFamily="2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702AA95-117B-0543-924B-A568502C5C74}"/>
                </a:ext>
              </a:extLst>
            </p:cNvPr>
            <p:cNvSpPr/>
            <p:nvPr/>
          </p:nvSpPr>
          <p:spPr>
            <a:xfrm>
              <a:off x="10500581" y="5336409"/>
              <a:ext cx="589880" cy="258325"/>
            </a:xfrm>
            <a:prstGeom prst="rect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Roman" panose="02000503020000020003" pitchFamily="2" charset="0"/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098DA4F-237D-CA47-8DD1-85F68941AF26}"/>
                </a:ext>
              </a:extLst>
            </p:cNvPr>
            <p:cNvCxnSpPr>
              <a:stCxn id="39" idx="2"/>
              <a:endCxn id="40" idx="0"/>
            </p:cNvCxnSpPr>
            <p:nvPr/>
          </p:nvCxnSpPr>
          <p:spPr>
            <a:xfrm flipH="1">
              <a:off x="9296398" y="5055056"/>
              <a:ext cx="729728" cy="270595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AD7F5934-12D2-6F42-941A-32B03EDCD908}"/>
                </a:ext>
              </a:extLst>
            </p:cNvPr>
            <p:cNvCxnSpPr>
              <a:cxnSpLocks/>
              <a:stCxn id="39" idx="2"/>
              <a:endCxn id="41" idx="0"/>
            </p:cNvCxnSpPr>
            <p:nvPr/>
          </p:nvCxnSpPr>
          <p:spPr>
            <a:xfrm>
              <a:off x="10026126" y="5055056"/>
              <a:ext cx="9410" cy="281353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46F9A350-E787-4B4E-AC60-5B64D5B8DC6C}"/>
                </a:ext>
              </a:extLst>
            </p:cNvPr>
            <p:cNvCxnSpPr>
              <a:cxnSpLocks/>
              <a:stCxn id="39" idx="2"/>
              <a:endCxn id="42" idx="0"/>
            </p:cNvCxnSpPr>
            <p:nvPr/>
          </p:nvCxnSpPr>
          <p:spPr>
            <a:xfrm>
              <a:off x="10026126" y="5055056"/>
              <a:ext cx="769395" cy="281353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46915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  <a:latin typeface="Avenir Roman" panose="02000503020000020003" pitchFamily="2" charset="0"/>
              </a:rPr>
              <a:t>Tez</a:t>
            </a:r>
            <a:endParaRPr lang="en-US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100482" cy="43513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Execution engine for Hive. Replacement of MapReduce.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Complex flow of MapReduce jobs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2AD95B9-ABE0-5242-917D-5D195A090D72}"/>
              </a:ext>
            </a:extLst>
          </p:cNvPr>
          <p:cNvGrpSpPr/>
          <p:nvPr/>
        </p:nvGrpSpPr>
        <p:grpSpPr>
          <a:xfrm>
            <a:off x="6852621" y="1161826"/>
            <a:ext cx="4430359" cy="4376969"/>
            <a:chOff x="6852621" y="1161826"/>
            <a:chExt cx="4430359" cy="437696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A45128B-40E8-E646-80DA-3572B84A5426}"/>
                </a:ext>
              </a:extLst>
            </p:cNvPr>
            <p:cNvSpPr/>
            <p:nvPr/>
          </p:nvSpPr>
          <p:spPr>
            <a:xfrm>
              <a:off x="7024745" y="1323191"/>
              <a:ext cx="441064" cy="206133"/>
            </a:xfrm>
            <a:prstGeom prst="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305A0AF-101D-8E4E-8820-8BEE09CA71B4}"/>
                </a:ext>
              </a:extLst>
            </p:cNvPr>
            <p:cNvSpPr/>
            <p:nvPr/>
          </p:nvSpPr>
          <p:spPr>
            <a:xfrm>
              <a:off x="7596693" y="1323191"/>
              <a:ext cx="441064" cy="206133"/>
            </a:xfrm>
            <a:prstGeom prst="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CBF865B-41A0-DD48-85BC-E6AA8DB9B788}"/>
                </a:ext>
              </a:extLst>
            </p:cNvPr>
            <p:cNvSpPr/>
            <p:nvPr/>
          </p:nvSpPr>
          <p:spPr>
            <a:xfrm>
              <a:off x="8168641" y="1323190"/>
              <a:ext cx="441064" cy="206133"/>
            </a:xfrm>
            <a:prstGeom prst="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A48AB6-3D40-424C-BBF1-E7C900496DF0}"/>
                </a:ext>
              </a:extLst>
            </p:cNvPr>
            <p:cNvSpPr/>
            <p:nvPr/>
          </p:nvSpPr>
          <p:spPr>
            <a:xfrm>
              <a:off x="7245279" y="1722558"/>
              <a:ext cx="441064" cy="20613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91056B2-1E90-6542-A009-0506868150C4}"/>
                </a:ext>
              </a:extLst>
            </p:cNvPr>
            <p:cNvSpPr/>
            <p:nvPr/>
          </p:nvSpPr>
          <p:spPr>
            <a:xfrm>
              <a:off x="7921219" y="1722558"/>
              <a:ext cx="441064" cy="20613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C70C95D-98F5-874A-8494-00B91515F776}"/>
                </a:ext>
              </a:extLst>
            </p:cNvPr>
            <p:cNvSpPr/>
            <p:nvPr/>
          </p:nvSpPr>
          <p:spPr>
            <a:xfrm>
              <a:off x="9554585" y="1867218"/>
              <a:ext cx="441064" cy="206133"/>
            </a:xfrm>
            <a:prstGeom prst="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FCD3695-6C70-8B41-80E1-649D35A7845A}"/>
                </a:ext>
              </a:extLst>
            </p:cNvPr>
            <p:cNvSpPr/>
            <p:nvPr/>
          </p:nvSpPr>
          <p:spPr>
            <a:xfrm>
              <a:off x="10126533" y="1867218"/>
              <a:ext cx="441064" cy="206133"/>
            </a:xfrm>
            <a:prstGeom prst="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28F1F8D-56F0-EA4E-B777-7314B1929A4D}"/>
                </a:ext>
              </a:extLst>
            </p:cNvPr>
            <p:cNvSpPr/>
            <p:nvPr/>
          </p:nvSpPr>
          <p:spPr>
            <a:xfrm>
              <a:off x="10698481" y="1867217"/>
              <a:ext cx="441064" cy="206133"/>
            </a:xfrm>
            <a:prstGeom prst="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9018278-CCEE-2D4B-B372-71BBD52169D6}"/>
                </a:ext>
              </a:extLst>
            </p:cNvPr>
            <p:cNvSpPr/>
            <p:nvPr/>
          </p:nvSpPr>
          <p:spPr>
            <a:xfrm>
              <a:off x="9775119" y="2266585"/>
              <a:ext cx="441064" cy="20613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7E9EF53-A712-CE4B-A4AA-3A7E6850843A}"/>
                </a:ext>
              </a:extLst>
            </p:cNvPr>
            <p:cNvSpPr/>
            <p:nvPr/>
          </p:nvSpPr>
          <p:spPr>
            <a:xfrm>
              <a:off x="10451059" y="2266585"/>
              <a:ext cx="441064" cy="20613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7EA4069-6AAE-564B-BAEF-2A4D35D3E739}"/>
                </a:ext>
              </a:extLst>
            </p:cNvPr>
            <p:cNvSpPr/>
            <p:nvPr/>
          </p:nvSpPr>
          <p:spPr>
            <a:xfrm>
              <a:off x="7257831" y="3101169"/>
              <a:ext cx="441064" cy="206133"/>
            </a:xfrm>
            <a:prstGeom prst="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DFD0F5B-DC44-4543-A178-DE75DEB1508B}"/>
                </a:ext>
              </a:extLst>
            </p:cNvPr>
            <p:cNvSpPr/>
            <p:nvPr/>
          </p:nvSpPr>
          <p:spPr>
            <a:xfrm>
              <a:off x="7915836" y="3101169"/>
              <a:ext cx="441064" cy="206133"/>
            </a:xfrm>
            <a:prstGeom prst="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C7CB007E-F83E-4E4A-9350-6AD763A3CF87}"/>
                </a:ext>
              </a:extLst>
            </p:cNvPr>
            <p:cNvSpPr/>
            <p:nvPr/>
          </p:nvSpPr>
          <p:spPr>
            <a:xfrm>
              <a:off x="6852621" y="1161826"/>
              <a:ext cx="1871831" cy="911524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0B301216-B8E0-184D-B77C-8D45D11CAF41}"/>
                </a:ext>
              </a:extLst>
            </p:cNvPr>
            <p:cNvSpPr/>
            <p:nvPr/>
          </p:nvSpPr>
          <p:spPr>
            <a:xfrm>
              <a:off x="9411149" y="1708925"/>
              <a:ext cx="1871831" cy="911524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C49E365-4E18-C241-BAA5-BF497BF991EA}"/>
                </a:ext>
              </a:extLst>
            </p:cNvPr>
            <p:cNvSpPr/>
            <p:nvPr/>
          </p:nvSpPr>
          <p:spPr>
            <a:xfrm>
              <a:off x="7596692" y="3560467"/>
              <a:ext cx="441064" cy="20613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C047F98F-5BE6-F44A-849A-6AA49B1B7886}"/>
                </a:ext>
              </a:extLst>
            </p:cNvPr>
            <p:cNvSpPr/>
            <p:nvPr/>
          </p:nvSpPr>
          <p:spPr>
            <a:xfrm>
              <a:off x="7057015" y="2968800"/>
              <a:ext cx="1552690" cy="911524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BE55523-02C0-BC4A-BAB6-2A224121940C}"/>
                </a:ext>
              </a:extLst>
            </p:cNvPr>
            <p:cNvSpPr/>
            <p:nvPr/>
          </p:nvSpPr>
          <p:spPr>
            <a:xfrm>
              <a:off x="8550546" y="4759640"/>
              <a:ext cx="441064" cy="206133"/>
            </a:xfrm>
            <a:prstGeom prst="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F4E515A-D1C0-1644-AAAD-6EDE2E03FA1B}"/>
                </a:ext>
              </a:extLst>
            </p:cNvPr>
            <p:cNvSpPr/>
            <p:nvPr/>
          </p:nvSpPr>
          <p:spPr>
            <a:xfrm>
              <a:off x="9208551" y="4759640"/>
              <a:ext cx="441064" cy="206133"/>
            </a:xfrm>
            <a:prstGeom prst="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DE397CE-3608-D94A-87DC-54A47B52943D}"/>
                </a:ext>
              </a:extLst>
            </p:cNvPr>
            <p:cNvSpPr/>
            <p:nvPr/>
          </p:nvSpPr>
          <p:spPr>
            <a:xfrm>
              <a:off x="8889407" y="5218938"/>
              <a:ext cx="441064" cy="20613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5039FD44-867B-6846-B81E-E54779E5011B}"/>
                </a:ext>
              </a:extLst>
            </p:cNvPr>
            <p:cNvSpPr/>
            <p:nvPr/>
          </p:nvSpPr>
          <p:spPr>
            <a:xfrm>
              <a:off x="8349730" y="4627271"/>
              <a:ext cx="1552690" cy="911524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5EDC251-C08C-654D-81D2-A593DD33CB82}"/>
                </a:ext>
              </a:extLst>
            </p:cNvPr>
            <p:cNvCxnSpPr>
              <a:stCxn id="9" idx="2"/>
              <a:endCxn id="17" idx="0"/>
            </p:cNvCxnSpPr>
            <p:nvPr/>
          </p:nvCxnSpPr>
          <p:spPr>
            <a:xfrm>
              <a:off x="7465811" y="1928691"/>
              <a:ext cx="12552" cy="1172478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FA68A24-7B14-8B48-B35A-9D277B25D21F}"/>
                </a:ext>
              </a:extLst>
            </p:cNvPr>
            <p:cNvCxnSpPr/>
            <p:nvPr/>
          </p:nvCxnSpPr>
          <p:spPr>
            <a:xfrm>
              <a:off x="8093339" y="1922059"/>
              <a:ext cx="12552" cy="1172478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Elbow Connector 30">
              <a:extLst>
                <a:ext uri="{FF2B5EF4-FFF2-40B4-BE49-F238E27FC236}">
                  <a16:creationId xmlns:a16="http://schemas.microsoft.com/office/drawing/2014/main" id="{9143179B-2CE9-AD4F-BC3B-EA0ADC6A6367}"/>
                </a:ext>
              </a:extLst>
            </p:cNvPr>
            <p:cNvCxnSpPr>
              <a:endCxn id="23" idx="0"/>
            </p:cNvCxnSpPr>
            <p:nvPr/>
          </p:nvCxnSpPr>
          <p:spPr>
            <a:xfrm rot="16200000" flipH="1">
              <a:off x="7805699" y="3794261"/>
              <a:ext cx="993040" cy="937718"/>
            </a:xfrm>
            <a:prstGeom prst="bentConnector3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Elbow Connector 31">
              <a:extLst>
                <a:ext uri="{FF2B5EF4-FFF2-40B4-BE49-F238E27FC236}">
                  <a16:creationId xmlns:a16="http://schemas.microsoft.com/office/drawing/2014/main" id="{221FC8DD-CE2A-6242-B92B-ADE133D35555}"/>
                </a:ext>
              </a:extLst>
            </p:cNvPr>
            <p:cNvCxnSpPr>
              <a:cxnSpLocks/>
              <a:stCxn id="20" idx="2"/>
              <a:endCxn id="24" idx="0"/>
            </p:cNvCxnSpPr>
            <p:nvPr/>
          </p:nvCxnSpPr>
          <p:spPr>
            <a:xfrm rot="5400000">
              <a:off x="8818479" y="3231053"/>
              <a:ext cx="2139191" cy="917982"/>
            </a:xfrm>
            <a:prstGeom prst="bentConnector3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5274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  <a:latin typeface="Avenir Roman" panose="02000503020000020003" pitchFamily="2" charset="0"/>
              </a:rPr>
              <a:t>Tez</a:t>
            </a:r>
            <a:endParaRPr lang="en-US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6100482" cy="275202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Multiple MapReduce jobs can be replaced by single </a:t>
            </a:r>
            <a:r>
              <a:rPr lang="en-US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Tez</a:t>
            </a: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 job. 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Directed Acyclic Graph (DAG)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Hive queries gets converted to </a:t>
            </a:r>
            <a:r>
              <a:rPr lang="en-US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Tez</a:t>
            </a: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 DAGs.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Hive in EMR runs on </a:t>
            </a:r>
            <a:r>
              <a:rPr lang="en-US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Tez</a:t>
            </a: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US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hive.execution.engine</a:t>
            </a: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.</a:t>
            </a:r>
          </a:p>
          <a:p>
            <a:pPr>
              <a:spcAft>
                <a:spcPts val="600"/>
              </a:spcAft>
            </a:pPr>
            <a:endParaRPr lang="en-US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65EEEF9-C5FB-BD4D-8D1E-7B041EDEA0BC}"/>
              </a:ext>
            </a:extLst>
          </p:cNvPr>
          <p:cNvGrpSpPr/>
          <p:nvPr/>
        </p:nvGrpSpPr>
        <p:grpSpPr>
          <a:xfrm>
            <a:off x="7081895" y="1209416"/>
            <a:ext cx="4114800" cy="2311033"/>
            <a:chOff x="7024745" y="1323190"/>
            <a:chExt cx="4114800" cy="23110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A45128B-40E8-E646-80DA-3572B84A5426}"/>
                </a:ext>
              </a:extLst>
            </p:cNvPr>
            <p:cNvSpPr/>
            <p:nvPr/>
          </p:nvSpPr>
          <p:spPr>
            <a:xfrm>
              <a:off x="7024745" y="1323191"/>
              <a:ext cx="441064" cy="206133"/>
            </a:xfrm>
            <a:prstGeom prst="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305A0AF-101D-8E4E-8820-8BEE09CA71B4}"/>
                </a:ext>
              </a:extLst>
            </p:cNvPr>
            <p:cNvSpPr/>
            <p:nvPr/>
          </p:nvSpPr>
          <p:spPr>
            <a:xfrm>
              <a:off x="7596693" y="1323191"/>
              <a:ext cx="441064" cy="206133"/>
            </a:xfrm>
            <a:prstGeom prst="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CBF865B-41A0-DD48-85BC-E6AA8DB9B788}"/>
                </a:ext>
              </a:extLst>
            </p:cNvPr>
            <p:cNvSpPr/>
            <p:nvPr/>
          </p:nvSpPr>
          <p:spPr>
            <a:xfrm>
              <a:off x="8168641" y="1323190"/>
              <a:ext cx="441064" cy="206133"/>
            </a:xfrm>
            <a:prstGeom prst="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A48AB6-3D40-424C-BBF1-E7C900496DF0}"/>
                </a:ext>
              </a:extLst>
            </p:cNvPr>
            <p:cNvSpPr/>
            <p:nvPr/>
          </p:nvSpPr>
          <p:spPr>
            <a:xfrm>
              <a:off x="7245279" y="1722558"/>
              <a:ext cx="441064" cy="20613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91056B2-1E90-6542-A009-0506868150C4}"/>
                </a:ext>
              </a:extLst>
            </p:cNvPr>
            <p:cNvSpPr/>
            <p:nvPr/>
          </p:nvSpPr>
          <p:spPr>
            <a:xfrm>
              <a:off x="7921219" y="1722558"/>
              <a:ext cx="441064" cy="20613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C70C95D-98F5-874A-8494-00B91515F776}"/>
                </a:ext>
              </a:extLst>
            </p:cNvPr>
            <p:cNvSpPr/>
            <p:nvPr/>
          </p:nvSpPr>
          <p:spPr>
            <a:xfrm>
              <a:off x="9554585" y="1867218"/>
              <a:ext cx="441064" cy="206133"/>
            </a:xfrm>
            <a:prstGeom prst="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FCD3695-6C70-8B41-80E1-649D35A7845A}"/>
                </a:ext>
              </a:extLst>
            </p:cNvPr>
            <p:cNvSpPr/>
            <p:nvPr/>
          </p:nvSpPr>
          <p:spPr>
            <a:xfrm>
              <a:off x="10126533" y="1867218"/>
              <a:ext cx="441064" cy="206133"/>
            </a:xfrm>
            <a:prstGeom prst="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28F1F8D-56F0-EA4E-B777-7314B1929A4D}"/>
                </a:ext>
              </a:extLst>
            </p:cNvPr>
            <p:cNvSpPr/>
            <p:nvPr/>
          </p:nvSpPr>
          <p:spPr>
            <a:xfrm>
              <a:off x="10698481" y="1867217"/>
              <a:ext cx="441064" cy="206133"/>
            </a:xfrm>
            <a:prstGeom prst="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9018278-CCEE-2D4B-B372-71BBD52169D6}"/>
                </a:ext>
              </a:extLst>
            </p:cNvPr>
            <p:cNvSpPr/>
            <p:nvPr/>
          </p:nvSpPr>
          <p:spPr>
            <a:xfrm>
              <a:off x="9775119" y="2266585"/>
              <a:ext cx="441064" cy="20613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7E9EF53-A712-CE4B-A4AA-3A7E6850843A}"/>
                </a:ext>
              </a:extLst>
            </p:cNvPr>
            <p:cNvSpPr/>
            <p:nvPr/>
          </p:nvSpPr>
          <p:spPr>
            <a:xfrm>
              <a:off x="10451059" y="2266585"/>
              <a:ext cx="441064" cy="20613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C49E365-4E18-C241-BAA5-BF497BF991EA}"/>
                </a:ext>
              </a:extLst>
            </p:cNvPr>
            <p:cNvSpPr/>
            <p:nvPr/>
          </p:nvSpPr>
          <p:spPr>
            <a:xfrm>
              <a:off x="7621797" y="2648753"/>
              <a:ext cx="441064" cy="20613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DE397CE-3608-D94A-87DC-54A47B52943D}"/>
                </a:ext>
              </a:extLst>
            </p:cNvPr>
            <p:cNvSpPr/>
            <p:nvPr/>
          </p:nvSpPr>
          <p:spPr>
            <a:xfrm>
              <a:off x="9029256" y="3428090"/>
              <a:ext cx="441064" cy="20613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98663F7-DD98-AB4B-94C0-A5FF60271B0B}"/>
                </a:ext>
              </a:extLst>
            </p:cNvPr>
            <p:cNvCxnSpPr>
              <a:cxnSpLocks/>
              <a:stCxn id="9" idx="2"/>
              <a:endCxn id="21" idx="0"/>
            </p:cNvCxnSpPr>
            <p:nvPr/>
          </p:nvCxnSpPr>
          <p:spPr>
            <a:xfrm>
              <a:off x="7465811" y="1928691"/>
              <a:ext cx="376518" cy="720062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06DF4F1-6B77-2243-9E4A-2ADB19B92B1F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 flipH="1">
              <a:off x="7842329" y="1928691"/>
              <a:ext cx="326312" cy="720062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7B8CD89-DFEB-DD46-9B38-0A992092AF1B}"/>
                </a:ext>
              </a:extLst>
            </p:cNvPr>
            <p:cNvCxnSpPr>
              <a:cxnSpLocks/>
              <a:stCxn id="14" idx="2"/>
              <a:endCxn id="25" idx="0"/>
            </p:cNvCxnSpPr>
            <p:nvPr/>
          </p:nvCxnSpPr>
          <p:spPr>
            <a:xfrm flipH="1">
              <a:off x="9249788" y="2472718"/>
              <a:ext cx="745863" cy="955372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66934CB-1FE0-8740-8D08-07D1E1074183}"/>
                </a:ext>
              </a:extLst>
            </p:cNvPr>
            <p:cNvCxnSpPr>
              <a:cxnSpLocks/>
              <a:stCxn id="15" idx="2"/>
              <a:endCxn id="25" idx="0"/>
            </p:cNvCxnSpPr>
            <p:nvPr/>
          </p:nvCxnSpPr>
          <p:spPr>
            <a:xfrm flipH="1">
              <a:off x="9249788" y="2472718"/>
              <a:ext cx="1421803" cy="955372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5EEA642-61D0-0A42-B4FF-C74902D6468D}"/>
                </a:ext>
              </a:extLst>
            </p:cNvPr>
            <p:cNvCxnSpPr>
              <a:cxnSpLocks/>
              <a:stCxn id="21" idx="2"/>
              <a:endCxn id="25" idx="0"/>
            </p:cNvCxnSpPr>
            <p:nvPr/>
          </p:nvCxnSpPr>
          <p:spPr>
            <a:xfrm>
              <a:off x="7842329" y="2854886"/>
              <a:ext cx="1407459" cy="573204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C2EA1428-1E6D-1046-9D42-877639F0682D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>
              <a:off x="7245279" y="1529323"/>
              <a:ext cx="220532" cy="193235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E42895B2-6344-2C47-9C07-FE0EBBF72F05}"/>
                </a:ext>
              </a:extLst>
            </p:cNvPr>
            <p:cNvCxnSpPr>
              <a:cxnSpLocks/>
              <a:stCxn id="7" idx="2"/>
              <a:endCxn id="9" idx="0"/>
            </p:cNvCxnSpPr>
            <p:nvPr/>
          </p:nvCxnSpPr>
          <p:spPr>
            <a:xfrm flipH="1">
              <a:off x="7465811" y="1529324"/>
              <a:ext cx="351414" cy="193234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9AEA6CEB-D581-2945-81FD-94DFB62C766D}"/>
                </a:ext>
              </a:extLst>
            </p:cNvPr>
            <p:cNvCxnSpPr>
              <a:cxnSpLocks/>
              <a:stCxn id="8" idx="2"/>
              <a:endCxn id="10" idx="0"/>
            </p:cNvCxnSpPr>
            <p:nvPr/>
          </p:nvCxnSpPr>
          <p:spPr>
            <a:xfrm flipH="1">
              <a:off x="8141751" y="1529323"/>
              <a:ext cx="247422" cy="193235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C4903B9F-E36F-B049-90D4-E7042948D54B}"/>
                </a:ext>
              </a:extLst>
            </p:cNvPr>
            <p:cNvCxnSpPr>
              <a:cxnSpLocks/>
              <a:stCxn id="11" idx="2"/>
              <a:endCxn id="14" idx="0"/>
            </p:cNvCxnSpPr>
            <p:nvPr/>
          </p:nvCxnSpPr>
          <p:spPr>
            <a:xfrm>
              <a:off x="9775117" y="2073351"/>
              <a:ext cx="220534" cy="193234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7438FFA6-E571-7F45-B15C-7D2A8C4B248B}"/>
                </a:ext>
              </a:extLst>
            </p:cNvPr>
            <p:cNvCxnSpPr>
              <a:cxnSpLocks/>
              <a:stCxn id="12" idx="2"/>
              <a:endCxn id="15" idx="0"/>
            </p:cNvCxnSpPr>
            <p:nvPr/>
          </p:nvCxnSpPr>
          <p:spPr>
            <a:xfrm>
              <a:off x="10347065" y="2073351"/>
              <a:ext cx="324526" cy="193234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A25D63E2-960B-9C40-9389-64E4E37AA7DB}"/>
                </a:ext>
              </a:extLst>
            </p:cNvPr>
            <p:cNvCxnSpPr>
              <a:cxnSpLocks/>
              <a:stCxn id="13" idx="2"/>
              <a:endCxn id="15" idx="0"/>
            </p:cNvCxnSpPr>
            <p:nvPr/>
          </p:nvCxnSpPr>
          <p:spPr>
            <a:xfrm flipH="1">
              <a:off x="10671591" y="2073350"/>
              <a:ext cx="247422" cy="193235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9067DBAA-BFA7-414F-B2BD-4B0743709E88}"/>
              </a:ext>
            </a:extLst>
          </p:cNvPr>
          <p:cNvSpPr/>
          <p:nvPr/>
        </p:nvSpPr>
        <p:spPr>
          <a:xfrm>
            <a:off x="942184" y="4701883"/>
            <a:ext cx="2323654" cy="71318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HiveQL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19732DE-92A7-3448-9389-B99E259C4685}"/>
              </a:ext>
            </a:extLst>
          </p:cNvPr>
          <p:cNvSpPr/>
          <p:nvPr/>
        </p:nvSpPr>
        <p:spPr>
          <a:xfrm>
            <a:off x="5088543" y="4701883"/>
            <a:ext cx="2323654" cy="71318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venir Roman" panose="02000503020000020003" pitchFamily="2" charset="0"/>
              </a:rPr>
              <a:t>Tez</a:t>
            </a:r>
            <a:r>
              <a:rPr lang="en-US" dirty="0">
                <a:latin typeface="Avenir Roman" panose="02000503020000020003" pitchFamily="2" charset="0"/>
              </a:rPr>
              <a:t> DAG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630FE77-332A-3B4C-B7F5-EE5CC0EA3CE7}"/>
              </a:ext>
            </a:extLst>
          </p:cNvPr>
          <p:cNvCxnSpPr>
            <a:cxnSpLocks/>
            <a:stCxn id="69" idx="3"/>
            <a:endCxn id="70" idx="1"/>
          </p:cNvCxnSpPr>
          <p:nvPr/>
        </p:nvCxnSpPr>
        <p:spPr>
          <a:xfrm>
            <a:off x="3265838" y="5058473"/>
            <a:ext cx="1822705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4E8B712-FA53-964E-B624-9D95F50E7FF7}"/>
              </a:ext>
            </a:extLst>
          </p:cNvPr>
          <p:cNvCxnSpPr>
            <a:cxnSpLocks/>
            <a:stCxn id="70" idx="3"/>
            <a:endCxn id="74" idx="1"/>
          </p:cNvCxnSpPr>
          <p:nvPr/>
        </p:nvCxnSpPr>
        <p:spPr>
          <a:xfrm>
            <a:off x="7412197" y="5058473"/>
            <a:ext cx="12112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AAC1EBE-4383-774D-BA3D-CEAABAE2D934}"/>
              </a:ext>
            </a:extLst>
          </p:cNvPr>
          <p:cNvGrpSpPr/>
          <p:nvPr/>
        </p:nvGrpSpPr>
        <p:grpSpPr>
          <a:xfrm>
            <a:off x="8623439" y="4331364"/>
            <a:ext cx="2323654" cy="1454217"/>
            <a:chOff x="8864299" y="4623854"/>
            <a:chExt cx="2323654" cy="1454217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063B6663-12C8-7B46-A7EE-0730CD6935EB}"/>
                </a:ext>
              </a:extLst>
            </p:cNvPr>
            <p:cNvSpPr/>
            <p:nvPr/>
          </p:nvSpPr>
          <p:spPr>
            <a:xfrm>
              <a:off x="8864299" y="4623854"/>
              <a:ext cx="2323654" cy="1454217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dirty="0">
                  <a:latin typeface="Avenir Roman" panose="02000503020000020003" pitchFamily="2" charset="0"/>
                </a:rPr>
                <a:t>Cluster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41D68073-259D-1C40-959B-13F4FD2E0C7D}"/>
                </a:ext>
              </a:extLst>
            </p:cNvPr>
            <p:cNvSpPr/>
            <p:nvPr/>
          </p:nvSpPr>
          <p:spPr>
            <a:xfrm>
              <a:off x="9731186" y="4796731"/>
              <a:ext cx="589880" cy="258325"/>
            </a:xfrm>
            <a:prstGeom prst="rect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Roman" panose="02000503020000020003" pitchFamily="2" charset="0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80A4EFDF-CBAB-7847-ADBD-D6446B3D7651}"/>
                </a:ext>
              </a:extLst>
            </p:cNvPr>
            <p:cNvSpPr/>
            <p:nvPr/>
          </p:nvSpPr>
          <p:spPr>
            <a:xfrm>
              <a:off x="9001458" y="5325651"/>
              <a:ext cx="589880" cy="258325"/>
            </a:xfrm>
            <a:prstGeom prst="rect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Roman" panose="02000503020000020003" pitchFamily="2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C056B158-BD37-724C-89CC-7EA45286BA33}"/>
                </a:ext>
              </a:extLst>
            </p:cNvPr>
            <p:cNvSpPr/>
            <p:nvPr/>
          </p:nvSpPr>
          <p:spPr>
            <a:xfrm>
              <a:off x="9740596" y="5336409"/>
              <a:ext cx="589880" cy="258325"/>
            </a:xfrm>
            <a:prstGeom prst="rect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Roman" panose="02000503020000020003" pitchFamily="2" charset="0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4B976F2C-258F-234E-85A1-4E03565BF794}"/>
                </a:ext>
              </a:extLst>
            </p:cNvPr>
            <p:cNvSpPr/>
            <p:nvPr/>
          </p:nvSpPr>
          <p:spPr>
            <a:xfrm>
              <a:off x="10500581" y="5336409"/>
              <a:ext cx="589880" cy="258325"/>
            </a:xfrm>
            <a:prstGeom prst="rect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Roman" panose="02000503020000020003" pitchFamily="2" charset="0"/>
              </a:endParaRPr>
            </a:p>
          </p:txBody>
        </p: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361A9BC9-1CAF-4F4C-AB31-B837312BA934}"/>
                </a:ext>
              </a:extLst>
            </p:cNvPr>
            <p:cNvCxnSpPr>
              <a:stCxn id="75" idx="2"/>
              <a:endCxn id="76" idx="0"/>
            </p:cNvCxnSpPr>
            <p:nvPr/>
          </p:nvCxnSpPr>
          <p:spPr>
            <a:xfrm flipH="1">
              <a:off x="9296398" y="5055056"/>
              <a:ext cx="729728" cy="270595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74FF7D9D-483D-1747-AD2F-9CE0D1A0F223}"/>
                </a:ext>
              </a:extLst>
            </p:cNvPr>
            <p:cNvCxnSpPr>
              <a:cxnSpLocks/>
              <a:stCxn id="75" idx="2"/>
              <a:endCxn id="77" idx="0"/>
            </p:cNvCxnSpPr>
            <p:nvPr/>
          </p:nvCxnSpPr>
          <p:spPr>
            <a:xfrm>
              <a:off x="10026126" y="5055056"/>
              <a:ext cx="9410" cy="281353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5EDAD0FE-AB5E-EE4A-A30C-B63237416FF1}"/>
                </a:ext>
              </a:extLst>
            </p:cNvPr>
            <p:cNvCxnSpPr>
              <a:cxnSpLocks/>
              <a:stCxn id="75" idx="2"/>
              <a:endCxn id="78" idx="0"/>
            </p:cNvCxnSpPr>
            <p:nvPr/>
          </p:nvCxnSpPr>
          <p:spPr>
            <a:xfrm>
              <a:off x="10026126" y="5055056"/>
              <a:ext cx="769395" cy="281353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EDDAADD6-A138-F342-8128-ECD6F6503660}"/>
              </a:ext>
            </a:extLst>
          </p:cNvPr>
          <p:cNvSpPr txBox="1"/>
          <p:nvPr/>
        </p:nvSpPr>
        <p:spPr>
          <a:xfrm>
            <a:off x="8843719" y="5993283"/>
            <a:ext cx="1883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YARN</a:t>
            </a:r>
          </a:p>
        </p:txBody>
      </p:sp>
    </p:spTree>
    <p:extLst>
      <p:ext uri="{BB962C8B-B14F-4D97-AF65-F5344CB8AC3E}">
        <p14:creationId xmlns:p14="http://schemas.microsoft.com/office/powerpoint/2010/main" val="264681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9" grpId="0" animBg="1"/>
      <p:bldP spid="70" grpId="0" animBg="1"/>
      <p:bldP spid="9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Hive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5A49BF-870E-FE4B-9CF9-7EB3AFD83376}"/>
              </a:ext>
            </a:extLst>
          </p:cNvPr>
          <p:cNvSpPr/>
          <p:nvPr/>
        </p:nvSpPr>
        <p:spPr>
          <a:xfrm>
            <a:off x="2957513" y="1543050"/>
            <a:ext cx="6853238" cy="494347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8F87AB6-78CF-4240-B3C8-091E2CE75376}"/>
              </a:ext>
            </a:extLst>
          </p:cNvPr>
          <p:cNvSpPr/>
          <p:nvPr/>
        </p:nvSpPr>
        <p:spPr>
          <a:xfrm>
            <a:off x="5743576" y="2414586"/>
            <a:ext cx="1649609" cy="362902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venir Roman" panose="02000503020000020003" pitchFamily="2" charset="0"/>
              </a:rPr>
              <a:t>Hive Driver</a:t>
            </a:r>
          </a:p>
        </p:txBody>
      </p:sp>
      <p:sp>
        <p:nvSpPr>
          <p:cNvPr id="6" name="Can 5">
            <a:extLst>
              <a:ext uri="{FF2B5EF4-FFF2-40B4-BE49-F238E27FC236}">
                <a16:creationId xmlns:a16="http://schemas.microsoft.com/office/drawing/2014/main" id="{98D7BDDC-D652-A246-9112-022C6AA753EA}"/>
              </a:ext>
            </a:extLst>
          </p:cNvPr>
          <p:cNvSpPr/>
          <p:nvPr/>
        </p:nvSpPr>
        <p:spPr>
          <a:xfrm>
            <a:off x="10121356" y="2273073"/>
            <a:ext cx="1543049" cy="1497583"/>
          </a:xfrm>
          <a:prstGeom prst="can">
            <a:avLst>
              <a:gd name="adj" fmla="val 40068"/>
            </a:avLst>
          </a:prstGeom>
          <a:solidFill>
            <a:srgbClr val="FFD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venir Roman" panose="02000503020000020003" pitchFamily="2" charset="0"/>
              </a:rPr>
              <a:t>Metastore</a:t>
            </a:r>
            <a:endParaRPr lang="en-US" dirty="0">
              <a:solidFill>
                <a:schemeClr val="tx1"/>
              </a:solidFill>
              <a:latin typeface="Avenir Roman" panose="02000503020000020003" pitchFamily="2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Avenir Roman" panose="02000503020000020003" pitchFamily="2" charset="0"/>
              </a:rPr>
              <a:t>Database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4C2760-2636-EC43-A7AC-EB05E8D78825}"/>
              </a:ext>
            </a:extLst>
          </p:cNvPr>
          <p:cNvSpPr txBox="1"/>
          <p:nvPr/>
        </p:nvSpPr>
        <p:spPr>
          <a:xfrm>
            <a:off x="5241131" y="1660581"/>
            <a:ext cx="2286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Hive Services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E5155D-DF1F-724E-942A-D60EE9F33683}"/>
              </a:ext>
            </a:extLst>
          </p:cNvPr>
          <p:cNvSpPr/>
          <p:nvPr/>
        </p:nvSpPr>
        <p:spPr>
          <a:xfrm>
            <a:off x="3205759" y="3916590"/>
            <a:ext cx="1810940" cy="539353"/>
          </a:xfrm>
          <a:prstGeom prst="rect">
            <a:avLst/>
          </a:prstGeom>
          <a:solidFill>
            <a:srgbClr val="FF93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Hive Server2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459501-3162-1A4F-9DDF-4463E9A37E32}"/>
              </a:ext>
            </a:extLst>
          </p:cNvPr>
          <p:cNvSpPr/>
          <p:nvPr/>
        </p:nvSpPr>
        <p:spPr>
          <a:xfrm>
            <a:off x="3205759" y="2875924"/>
            <a:ext cx="1810940" cy="482635"/>
          </a:xfrm>
          <a:prstGeom prst="rect">
            <a:avLst/>
          </a:prstGeom>
          <a:solidFill>
            <a:srgbClr val="FF93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Hive CLI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65FDD3-6EF9-B648-A6F6-22FF6314E7A5}"/>
              </a:ext>
            </a:extLst>
          </p:cNvPr>
          <p:cNvSpPr/>
          <p:nvPr/>
        </p:nvSpPr>
        <p:spPr>
          <a:xfrm>
            <a:off x="3190578" y="5013974"/>
            <a:ext cx="1810940" cy="539353"/>
          </a:xfrm>
          <a:prstGeom prst="rect">
            <a:avLst/>
          </a:prstGeom>
          <a:solidFill>
            <a:srgbClr val="FF93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Hive Web UI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D5F5FEF-D24C-6546-885C-C359E14ED42D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5016699" y="4186266"/>
            <a:ext cx="726876" cy="1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D343963-0242-C144-ADBA-A263C380E9BA}"/>
              </a:ext>
            </a:extLst>
          </p:cNvPr>
          <p:cNvCxnSpPr>
            <a:cxnSpLocks/>
          </p:cNvCxnSpPr>
          <p:nvPr/>
        </p:nvCxnSpPr>
        <p:spPr>
          <a:xfrm flipV="1">
            <a:off x="5016699" y="3124272"/>
            <a:ext cx="726876" cy="1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F477B07-0EE2-3C48-9208-BDEA98A19F61}"/>
              </a:ext>
            </a:extLst>
          </p:cNvPr>
          <p:cNvCxnSpPr>
            <a:cxnSpLocks/>
          </p:cNvCxnSpPr>
          <p:nvPr/>
        </p:nvCxnSpPr>
        <p:spPr>
          <a:xfrm flipV="1">
            <a:off x="4983361" y="5283650"/>
            <a:ext cx="726876" cy="1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8CFBE7E8-94AC-EB48-BA08-DDBA5CEB90AD}"/>
              </a:ext>
            </a:extLst>
          </p:cNvPr>
          <p:cNvSpPr/>
          <p:nvPr/>
        </p:nvSpPr>
        <p:spPr>
          <a:xfrm>
            <a:off x="8086722" y="2735807"/>
            <a:ext cx="1462681" cy="762867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latin typeface="Avenir Roman" panose="02000503020000020003" pitchFamily="2" charset="0"/>
              </a:rPr>
              <a:t>Metastore</a:t>
            </a:r>
            <a:endParaRPr lang="en-US" sz="2000" dirty="0">
              <a:latin typeface="Avenir Roman" panose="02000503020000020003" pitchFamily="2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BB19A97-5510-B74C-8BDD-CEFC65A61D91}"/>
              </a:ext>
            </a:extLst>
          </p:cNvPr>
          <p:cNvSpPr/>
          <p:nvPr/>
        </p:nvSpPr>
        <p:spPr>
          <a:xfrm>
            <a:off x="8086723" y="4902216"/>
            <a:ext cx="1462681" cy="762867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venir Roman" panose="02000503020000020003" pitchFamily="2" charset="0"/>
              </a:rPr>
              <a:t>Execution Engine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5C162B0-1D02-5848-B80D-FC061559A51F}"/>
              </a:ext>
            </a:extLst>
          </p:cNvPr>
          <p:cNvSpPr/>
          <p:nvPr/>
        </p:nvSpPr>
        <p:spPr>
          <a:xfrm>
            <a:off x="8086722" y="3781294"/>
            <a:ext cx="1462681" cy="762867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venir Roman" panose="02000503020000020003" pitchFamily="2" charset="0"/>
              </a:rPr>
              <a:t>Filesystem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55416E3-783B-1743-9BA7-0B0D90E4AAB9}"/>
              </a:ext>
            </a:extLst>
          </p:cNvPr>
          <p:cNvCxnSpPr>
            <a:cxnSpLocks/>
          </p:cNvCxnSpPr>
          <p:nvPr/>
        </p:nvCxnSpPr>
        <p:spPr>
          <a:xfrm flipV="1">
            <a:off x="7376516" y="3144778"/>
            <a:ext cx="726876" cy="1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20B14A9-EB57-C646-8590-FA13DD14CFBB}"/>
              </a:ext>
            </a:extLst>
          </p:cNvPr>
          <p:cNvCxnSpPr>
            <a:cxnSpLocks/>
          </p:cNvCxnSpPr>
          <p:nvPr/>
        </p:nvCxnSpPr>
        <p:spPr>
          <a:xfrm flipV="1">
            <a:off x="7376516" y="4222534"/>
            <a:ext cx="726876" cy="1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2CFAE4A-4F81-E044-A9BD-48D3699ECA38}"/>
              </a:ext>
            </a:extLst>
          </p:cNvPr>
          <p:cNvCxnSpPr>
            <a:cxnSpLocks/>
          </p:cNvCxnSpPr>
          <p:nvPr/>
        </p:nvCxnSpPr>
        <p:spPr>
          <a:xfrm flipV="1">
            <a:off x="7376516" y="5300290"/>
            <a:ext cx="726876" cy="1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727AF033-CC8C-5D42-AAFB-B399DDE7C711}"/>
              </a:ext>
            </a:extLst>
          </p:cNvPr>
          <p:cNvSpPr/>
          <p:nvPr/>
        </p:nvSpPr>
        <p:spPr>
          <a:xfrm>
            <a:off x="10214671" y="4229098"/>
            <a:ext cx="1356420" cy="1143000"/>
          </a:xfrm>
          <a:prstGeom prst="rect">
            <a:avLst/>
          </a:prstGeom>
          <a:solidFill>
            <a:srgbClr val="FFD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Roman" panose="02000503020000020003" pitchFamily="2" charset="0"/>
              </a:rPr>
              <a:t>Hadoop Cluster (</a:t>
            </a:r>
            <a:r>
              <a:rPr lang="en-US">
                <a:solidFill>
                  <a:schemeClr val="tx1"/>
                </a:solidFill>
                <a:latin typeface="Avenir Roman" panose="02000503020000020003" pitchFamily="2" charset="0"/>
              </a:rPr>
              <a:t>EMR)</a:t>
            </a:r>
            <a:endParaRPr lang="en-US" dirty="0">
              <a:solidFill>
                <a:schemeClr val="tx1"/>
              </a:solidFill>
              <a:latin typeface="Avenir Roman" panose="02000503020000020003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7D2ED3F-BDC9-244A-8100-1CA17A2C9729}"/>
              </a:ext>
            </a:extLst>
          </p:cNvPr>
          <p:cNvSpPr txBox="1"/>
          <p:nvPr/>
        </p:nvSpPr>
        <p:spPr>
          <a:xfrm>
            <a:off x="5273872" y="6129022"/>
            <a:ext cx="2286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EMR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77C66AC-9C58-1745-9278-C67978B98D03}"/>
              </a:ext>
            </a:extLst>
          </p:cNvPr>
          <p:cNvSpPr/>
          <p:nvPr/>
        </p:nvSpPr>
        <p:spPr>
          <a:xfrm>
            <a:off x="173828" y="1543050"/>
            <a:ext cx="2473080" cy="494347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504218-A2E7-764B-A9AE-F48258B1F372}"/>
              </a:ext>
            </a:extLst>
          </p:cNvPr>
          <p:cNvSpPr txBox="1"/>
          <p:nvPr/>
        </p:nvSpPr>
        <p:spPr>
          <a:xfrm>
            <a:off x="267367" y="1613082"/>
            <a:ext cx="2286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Hive Clients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78AEBDA-3BF8-8747-9DE3-351C3B195CB7}"/>
              </a:ext>
            </a:extLst>
          </p:cNvPr>
          <p:cNvCxnSpPr/>
          <p:nvPr/>
        </p:nvCxnSpPr>
        <p:spPr>
          <a:xfrm>
            <a:off x="9549403" y="3124272"/>
            <a:ext cx="571953" cy="14174"/>
          </a:xfrm>
          <a:prstGeom prst="straightConnector1">
            <a:avLst/>
          </a:prstGeom>
          <a:ln w="28575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FDF4129-1381-144C-8536-F4AF2D08E069}"/>
              </a:ext>
            </a:extLst>
          </p:cNvPr>
          <p:cNvCxnSpPr>
            <a:cxnSpLocks/>
            <a:stCxn id="31" idx="3"/>
            <a:endCxn id="35" idx="1"/>
          </p:cNvCxnSpPr>
          <p:nvPr/>
        </p:nvCxnSpPr>
        <p:spPr>
          <a:xfrm>
            <a:off x="9549403" y="4162728"/>
            <a:ext cx="665268" cy="637870"/>
          </a:xfrm>
          <a:prstGeom prst="straightConnector1">
            <a:avLst/>
          </a:prstGeom>
          <a:ln w="28575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A2A8D6C-B474-C046-BFC0-B1C32A115C26}"/>
              </a:ext>
            </a:extLst>
          </p:cNvPr>
          <p:cNvCxnSpPr>
            <a:cxnSpLocks/>
            <a:stCxn id="30" idx="3"/>
            <a:endCxn id="35" idx="1"/>
          </p:cNvCxnSpPr>
          <p:nvPr/>
        </p:nvCxnSpPr>
        <p:spPr>
          <a:xfrm flipV="1">
            <a:off x="9549404" y="4800598"/>
            <a:ext cx="665267" cy="483052"/>
          </a:xfrm>
          <a:prstGeom prst="straightConnector1">
            <a:avLst/>
          </a:prstGeom>
          <a:ln w="28575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109125E8-9C04-2D4B-A839-593A7C8FC133}"/>
              </a:ext>
            </a:extLst>
          </p:cNvPr>
          <p:cNvSpPr/>
          <p:nvPr/>
        </p:nvSpPr>
        <p:spPr>
          <a:xfrm>
            <a:off x="476249" y="2398017"/>
            <a:ext cx="1643063" cy="793099"/>
          </a:xfrm>
          <a:prstGeom prst="rect">
            <a:avLst/>
          </a:prstGeom>
          <a:solidFill>
            <a:srgbClr val="94209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Thrift Application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7A56ED9-FC35-5D42-9AD0-185A64C0407B}"/>
              </a:ext>
            </a:extLst>
          </p:cNvPr>
          <p:cNvSpPr/>
          <p:nvPr/>
        </p:nvSpPr>
        <p:spPr>
          <a:xfrm>
            <a:off x="476248" y="3766177"/>
            <a:ext cx="1643063" cy="793099"/>
          </a:xfrm>
          <a:prstGeom prst="rect">
            <a:avLst/>
          </a:prstGeom>
          <a:solidFill>
            <a:srgbClr val="94209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JDBC Application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83C8186-26E5-5045-A032-5B9F8A5BAD57}"/>
              </a:ext>
            </a:extLst>
          </p:cNvPr>
          <p:cNvSpPr/>
          <p:nvPr/>
        </p:nvSpPr>
        <p:spPr>
          <a:xfrm>
            <a:off x="469104" y="5156777"/>
            <a:ext cx="1643063" cy="793099"/>
          </a:xfrm>
          <a:prstGeom prst="rect">
            <a:avLst/>
          </a:prstGeom>
          <a:solidFill>
            <a:srgbClr val="94209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ODBC Application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E2756B4-5295-6845-BA45-BC6147749BFE}"/>
              </a:ext>
            </a:extLst>
          </p:cNvPr>
          <p:cNvCxnSpPr>
            <a:cxnSpLocks/>
            <a:stCxn id="47" idx="3"/>
          </p:cNvCxnSpPr>
          <p:nvPr/>
        </p:nvCxnSpPr>
        <p:spPr>
          <a:xfrm>
            <a:off x="2119312" y="2794567"/>
            <a:ext cx="1071266" cy="1122023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6D06F54-FD3C-B04E-8596-3F82E80F1EAC}"/>
              </a:ext>
            </a:extLst>
          </p:cNvPr>
          <p:cNvCxnSpPr>
            <a:cxnSpLocks/>
            <a:stCxn id="48" idx="3"/>
          </p:cNvCxnSpPr>
          <p:nvPr/>
        </p:nvCxnSpPr>
        <p:spPr>
          <a:xfrm>
            <a:off x="2119311" y="4162727"/>
            <a:ext cx="107126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77775A8-9D36-1C4F-86B8-470CBB848D6D}"/>
              </a:ext>
            </a:extLst>
          </p:cNvPr>
          <p:cNvCxnSpPr>
            <a:cxnSpLocks/>
            <a:stCxn id="49" idx="3"/>
          </p:cNvCxnSpPr>
          <p:nvPr/>
        </p:nvCxnSpPr>
        <p:spPr>
          <a:xfrm flipV="1">
            <a:off x="2112167" y="4454061"/>
            <a:ext cx="1093592" cy="1099266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8611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 animBg="1"/>
      <p:bldP spid="9" grpId="0" animBg="1"/>
      <p:bldP spid="10" grpId="0" animBg="1"/>
      <p:bldP spid="28" grpId="0" animBg="1"/>
      <p:bldP spid="30" grpId="0" animBg="1"/>
      <p:bldP spid="31" grpId="0" animBg="1"/>
      <p:bldP spid="35" grpId="0" animBg="1"/>
      <p:bldP spid="36" grpId="0"/>
      <p:bldP spid="37" grpId="0" animBg="1"/>
      <p:bldP spid="38" grpId="0"/>
      <p:bldP spid="47" grpId="0" animBg="1"/>
      <p:bldP spid="48" grpId="0" animBg="1"/>
      <p:bldP spid="4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Hive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88"/>
            <a:ext cx="10515600" cy="5057775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sz="2200" dirty="0">
                <a:solidFill>
                  <a:schemeClr val="bg1"/>
                </a:solidFill>
                <a:latin typeface="Avenir Roman" panose="02000503020000020003" pitchFamily="2" charset="0"/>
              </a:rPr>
              <a:t>Hiveserver2 – Runs Hive as a server exposing Thrift service. Enables access from programming languages that support Thrift, JDBC and ODBC.</a:t>
            </a:r>
          </a:p>
          <a:p>
            <a:pPr>
              <a:spcAft>
                <a:spcPts val="600"/>
              </a:spcAft>
            </a:pPr>
            <a:r>
              <a:rPr lang="en-US" sz="2200" dirty="0">
                <a:solidFill>
                  <a:schemeClr val="bg1"/>
                </a:solidFill>
                <a:latin typeface="Avenir Roman" panose="02000503020000020003" pitchFamily="2" charset="0"/>
              </a:rPr>
              <a:t>CLI – Command line interface for Hive. Hive shell.</a:t>
            </a:r>
          </a:p>
          <a:p>
            <a:pPr>
              <a:spcAft>
                <a:spcPts val="600"/>
              </a:spcAft>
            </a:pPr>
            <a:r>
              <a:rPr lang="en-US" sz="2200" dirty="0">
                <a:solidFill>
                  <a:schemeClr val="bg1"/>
                </a:solidFill>
                <a:latin typeface="Avenir Roman" panose="02000503020000020003" pitchFamily="2" charset="0"/>
              </a:rPr>
              <a:t>Web UI – </a:t>
            </a:r>
            <a:r>
              <a:rPr lang="en-IN" sz="2200" dirty="0">
                <a:solidFill>
                  <a:schemeClr val="bg1"/>
                </a:solidFill>
                <a:latin typeface="Avenir Roman" panose="02000503020000020003" pitchFamily="2" charset="0"/>
              </a:rPr>
              <a:t>Alternative of Hive CLI. It provides a web-based GUI for executing Hive queries and commands.</a:t>
            </a:r>
          </a:p>
          <a:p>
            <a:pPr>
              <a:spcAft>
                <a:spcPts val="600"/>
              </a:spcAft>
            </a:pPr>
            <a:r>
              <a:rPr lang="en-IN" sz="2200" dirty="0">
                <a:solidFill>
                  <a:schemeClr val="bg1"/>
                </a:solidFill>
                <a:latin typeface="Avenir Roman" panose="02000503020000020003" pitchFamily="2" charset="0"/>
              </a:rPr>
              <a:t>Hive </a:t>
            </a:r>
            <a:r>
              <a:rPr lang="en-IN" sz="2200" dirty="0" err="1">
                <a:solidFill>
                  <a:schemeClr val="bg1"/>
                </a:solidFill>
                <a:latin typeface="Avenir Roman" panose="02000503020000020003" pitchFamily="2" charset="0"/>
              </a:rPr>
              <a:t>Metastore</a:t>
            </a:r>
            <a:r>
              <a:rPr lang="en-IN" sz="2200" dirty="0">
                <a:solidFill>
                  <a:schemeClr val="bg1"/>
                </a:solidFill>
                <a:latin typeface="Avenir Roman" panose="02000503020000020003" pitchFamily="2" charset="0"/>
              </a:rPr>
              <a:t> (HMS) – Stores all the structure information of various tables and partitions.</a:t>
            </a:r>
          </a:p>
          <a:p>
            <a:pPr>
              <a:spcAft>
                <a:spcPts val="600"/>
              </a:spcAft>
            </a:pPr>
            <a:r>
              <a:rPr lang="en-IN" sz="2200" dirty="0">
                <a:solidFill>
                  <a:schemeClr val="bg1"/>
                </a:solidFill>
                <a:latin typeface="Avenir Roman" panose="02000503020000020003" pitchFamily="2" charset="0"/>
              </a:rPr>
              <a:t>Execution Engine - Optimizer generates logical plan in the form of DAG of </a:t>
            </a:r>
            <a:r>
              <a:rPr lang="en-IN" sz="2200" dirty="0" err="1">
                <a:solidFill>
                  <a:schemeClr val="bg1"/>
                </a:solidFill>
                <a:latin typeface="Avenir Roman" panose="02000503020000020003" pitchFamily="2" charset="0"/>
              </a:rPr>
              <a:t>Tez</a:t>
            </a:r>
            <a:r>
              <a:rPr lang="en-IN" sz="2200" dirty="0">
                <a:solidFill>
                  <a:schemeClr val="bg1"/>
                </a:solidFill>
                <a:latin typeface="Avenir Roman" panose="02000503020000020003" pitchFamily="2" charset="0"/>
              </a:rPr>
              <a:t> tasks or MapReduce tasks and HDFS tasks.</a:t>
            </a:r>
          </a:p>
          <a:p>
            <a:pPr>
              <a:spcAft>
                <a:spcPts val="600"/>
              </a:spcAft>
            </a:pPr>
            <a:r>
              <a:rPr lang="en-IN" sz="2200" dirty="0">
                <a:solidFill>
                  <a:schemeClr val="bg1"/>
                </a:solidFill>
                <a:latin typeface="Avenir Roman" panose="02000503020000020003" pitchFamily="2" charset="0"/>
              </a:rPr>
              <a:t>Filesystem – Communicates with various file formats and record formats.</a:t>
            </a:r>
          </a:p>
          <a:p>
            <a:pPr>
              <a:spcAft>
                <a:spcPts val="600"/>
              </a:spcAft>
            </a:pPr>
            <a:r>
              <a:rPr lang="en-IN" sz="2200" dirty="0">
                <a:solidFill>
                  <a:schemeClr val="bg1"/>
                </a:solidFill>
                <a:latin typeface="Avenir Roman" panose="02000503020000020003" pitchFamily="2" charset="0"/>
              </a:rPr>
              <a:t>Beeline – JDBC based command line shell.</a:t>
            </a:r>
          </a:p>
        </p:txBody>
      </p:sp>
    </p:spTree>
    <p:extLst>
      <p:ext uri="{BB962C8B-B14F-4D97-AF65-F5344CB8AC3E}">
        <p14:creationId xmlns:p14="http://schemas.microsoft.com/office/powerpoint/2010/main" val="2658038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Hive </a:t>
            </a:r>
            <a:r>
              <a:rPr lang="en-US" dirty="0" err="1">
                <a:solidFill>
                  <a:schemeClr val="bg1"/>
                </a:solidFill>
                <a:latin typeface="Avenir Roman" panose="02000503020000020003" pitchFamily="2" charset="0"/>
              </a:rPr>
              <a:t>Metastore</a:t>
            </a: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 (HMS)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99185" cy="43513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200" dirty="0">
                <a:solidFill>
                  <a:schemeClr val="bg1"/>
                </a:solidFill>
                <a:latin typeface="Avenir Roman" panose="02000503020000020003" pitchFamily="2" charset="0"/>
              </a:rPr>
              <a:t>Why do we need </a:t>
            </a:r>
            <a:r>
              <a:rPr lang="en-US" sz="2200" dirty="0" err="1">
                <a:solidFill>
                  <a:schemeClr val="bg1"/>
                </a:solidFill>
                <a:latin typeface="Avenir Roman" panose="02000503020000020003" pitchFamily="2" charset="0"/>
              </a:rPr>
              <a:t>metastore</a:t>
            </a:r>
            <a:r>
              <a:rPr lang="en-US" sz="2200" dirty="0">
                <a:solidFill>
                  <a:schemeClr val="bg1"/>
                </a:solidFill>
                <a:latin typeface="Avenir Roman" panose="02000503020000020003" pitchFamily="2" charset="0"/>
              </a:rPr>
              <a:t>? </a:t>
            </a:r>
          </a:p>
          <a:p>
            <a:pPr>
              <a:spcAft>
                <a:spcPts val="600"/>
              </a:spcAft>
            </a:pPr>
            <a:r>
              <a:rPr lang="en-US" sz="2200" dirty="0">
                <a:solidFill>
                  <a:schemeClr val="bg1"/>
                </a:solidFill>
                <a:latin typeface="Avenir Roman" panose="02000503020000020003" pitchFamily="2" charset="0"/>
              </a:rPr>
              <a:t>Central repository for Hive metadata.</a:t>
            </a:r>
          </a:p>
          <a:p>
            <a:pPr>
              <a:spcAft>
                <a:spcPts val="600"/>
              </a:spcAft>
            </a:pPr>
            <a:r>
              <a:rPr lang="en-US" sz="2200" dirty="0">
                <a:solidFill>
                  <a:schemeClr val="bg1"/>
                </a:solidFill>
                <a:latin typeface="Avenir Roman" panose="02000503020000020003" pitchFamily="2" charset="0"/>
              </a:rPr>
              <a:t>Two components:</a:t>
            </a:r>
          </a:p>
          <a:p>
            <a:pPr lvl="1"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latin typeface="Avenir Roman" panose="02000503020000020003" pitchFamily="2" charset="0"/>
              </a:rPr>
              <a:t>Service</a:t>
            </a:r>
          </a:p>
          <a:p>
            <a:pPr lvl="1"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latin typeface="Avenir Roman" panose="02000503020000020003" pitchFamily="2" charset="0"/>
              </a:rPr>
              <a:t>Data storage</a:t>
            </a:r>
          </a:p>
          <a:p>
            <a:pPr>
              <a:spcAft>
                <a:spcPts val="600"/>
              </a:spcAft>
            </a:pPr>
            <a:r>
              <a:rPr lang="en-US" sz="2200" dirty="0">
                <a:solidFill>
                  <a:schemeClr val="bg1"/>
                </a:solidFill>
                <a:latin typeface="Avenir Roman" panose="02000503020000020003" pitchFamily="2" charset="0"/>
              </a:rPr>
              <a:t>Types of </a:t>
            </a:r>
            <a:r>
              <a:rPr lang="en-US" sz="2200" dirty="0" err="1">
                <a:solidFill>
                  <a:schemeClr val="bg1"/>
                </a:solidFill>
                <a:latin typeface="Avenir Roman" panose="02000503020000020003" pitchFamily="2" charset="0"/>
              </a:rPr>
              <a:t>metastores</a:t>
            </a:r>
            <a:endParaRPr lang="en-US" sz="22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 lvl="1"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latin typeface="Avenir Roman" panose="02000503020000020003" pitchFamily="2" charset="0"/>
              </a:rPr>
              <a:t>Embedded </a:t>
            </a:r>
            <a:r>
              <a:rPr lang="en-US" sz="1800" dirty="0" err="1">
                <a:solidFill>
                  <a:schemeClr val="bg1"/>
                </a:solidFill>
                <a:latin typeface="Avenir Roman" panose="02000503020000020003" pitchFamily="2" charset="0"/>
              </a:rPr>
              <a:t>metastore</a:t>
            </a:r>
            <a:r>
              <a:rPr lang="en-US" sz="1800" dirty="0">
                <a:solidFill>
                  <a:schemeClr val="bg1"/>
                </a:solidFill>
                <a:latin typeface="Avenir Roman" panose="02000503020000020003" pitchFamily="2" charset="0"/>
              </a:rPr>
              <a:t> – Derby </a:t>
            </a:r>
          </a:p>
          <a:p>
            <a:pPr lvl="1"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latin typeface="Avenir Roman" panose="02000503020000020003" pitchFamily="2" charset="0"/>
              </a:rPr>
              <a:t>Local </a:t>
            </a:r>
            <a:r>
              <a:rPr lang="en-US" sz="1800" dirty="0" err="1">
                <a:solidFill>
                  <a:schemeClr val="bg1"/>
                </a:solidFill>
                <a:latin typeface="Avenir Roman" panose="02000503020000020003" pitchFamily="2" charset="0"/>
              </a:rPr>
              <a:t>metastore</a:t>
            </a:r>
            <a:endParaRPr lang="en-US" sz="1800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E2AFC0-D36E-054C-9266-7FFC3C30E7EE}"/>
              </a:ext>
            </a:extLst>
          </p:cNvPr>
          <p:cNvSpPr/>
          <p:nvPr/>
        </p:nvSpPr>
        <p:spPr>
          <a:xfrm>
            <a:off x="6424246" y="1690688"/>
            <a:ext cx="5152293" cy="1046529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ACB97B-26B1-FE48-BD08-9D67F0ADD608}"/>
              </a:ext>
            </a:extLst>
          </p:cNvPr>
          <p:cNvSpPr/>
          <p:nvPr/>
        </p:nvSpPr>
        <p:spPr>
          <a:xfrm>
            <a:off x="6655776" y="1898712"/>
            <a:ext cx="1292470" cy="630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Driver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40F285-FED2-E14B-A00C-D821D2F8433C}"/>
              </a:ext>
            </a:extLst>
          </p:cNvPr>
          <p:cNvSpPr/>
          <p:nvPr/>
        </p:nvSpPr>
        <p:spPr>
          <a:xfrm>
            <a:off x="8393722" y="1898712"/>
            <a:ext cx="1406770" cy="630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venir Roman" panose="02000503020000020003" pitchFamily="2" charset="0"/>
              </a:rPr>
              <a:t>Metastore</a:t>
            </a:r>
            <a:endParaRPr lang="en-US" dirty="0">
              <a:latin typeface="Avenir Roman" panose="02000503020000020003" pitchFamily="2" charset="0"/>
            </a:endParaRP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A07DCD4A-AB33-4148-971F-6BE009BB8654}"/>
              </a:ext>
            </a:extLst>
          </p:cNvPr>
          <p:cNvSpPr/>
          <p:nvPr/>
        </p:nvSpPr>
        <p:spPr>
          <a:xfrm>
            <a:off x="10245968" y="1794700"/>
            <a:ext cx="1107831" cy="734493"/>
          </a:xfrm>
          <a:prstGeom prst="can">
            <a:avLst>
              <a:gd name="adj" fmla="val 41369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Derby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309F453-E1A0-2F4E-B4ED-1DC855DEB7A1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7948246" y="2213953"/>
            <a:ext cx="445476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BD0B635-174F-BA47-BAD7-95E7C8BFC14E}"/>
              </a:ext>
            </a:extLst>
          </p:cNvPr>
          <p:cNvCxnSpPr/>
          <p:nvPr/>
        </p:nvCxnSpPr>
        <p:spPr>
          <a:xfrm>
            <a:off x="9800492" y="2213952"/>
            <a:ext cx="445476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097B136-D2BD-204C-89CB-59E8145989C0}"/>
              </a:ext>
            </a:extLst>
          </p:cNvPr>
          <p:cNvSpPr/>
          <p:nvPr/>
        </p:nvSpPr>
        <p:spPr>
          <a:xfrm>
            <a:off x="6424246" y="3648442"/>
            <a:ext cx="3622431" cy="1046529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n 11">
            <a:extLst>
              <a:ext uri="{FF2B5EF4-FFF2-40B4-BE49-F238E27FC236}">
                <a16:creationId xmlns:a16="http://schemas.microsoft.com/office/drawing/2014/main" id="{1A400B61-B804-344C-A7AF-6EF7321E666F}"/>
              </a:ext>
            </a:extLst>
          </p:cNvPr>
          <p:cNvSpPr/>
          <p:nvPr/>
        </p:nvSpPr>
        <p:spPr>
          <a:xfrm>
            <a:off x="10656277" y="4498670"/>
            <a:ext cx="1107831" cy="754736"/>
          </a:xfrm>
          <a:prstGeom prst="can">
            <a:avLst>
              <a:gd name="adj" fmla="val 41369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MySQL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F59407-47B9-7D43-9CBF-1312A55380C8}"/>
              </a:ext>
            </a:extLst>
          </p:cNvPr>
          <p:cNvSpPr/>
          <p:nvPr/>
        </p:nvSpPr>
        <p:spPr>
          <a:xfrm>
            <a:off x="6655776" y="3868189"/>
            <a:ext cx="1292470" cy="630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Driver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1A5EC0-4834-8E46-9ECE-9DC2E179C1E7}"/>
              </a:ext>
            </a:extLst>
          </p:cNvPr>
          <p:cNvSpPr/>
          <p:nvPr/>
        </p:nvSpPr>
        <p:spPr>
          <a:xfrm>
            <a:off x="8393722" y="3868189"/>
            <a:ext cx="1406770" cy="630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venir Roman" panose="02000503020000020003" pitchFamily="2" charset="0"/>
              </a:rPr>
              <a:t>Metastore</a:t>
            </a:r>
            <a:endParaRPr lang="en-US" dirty="0">
              <a:latin typeface="Avenir Roman" panose="02000503020000020003" pitchFamily="2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A5611F2-A713-E944-926B-E43892F66C5D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7948246" y="4183430"/>
            <a:ext cx="445476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DA07016-8A03-714A-AEC4-61C4AAB1F1EF}"/>
              </a:ext>
            </a:extLst>
          </p:cNvPr>
          <p:cNvSpPr/>
          <p:nvPr/>
        </p:nvSpPr>
        <p:spPr>
          <a:xfrm>
            <a:off x="6424246" y="5033658"/>
            <a:ext cx="3622431" cy="1046529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B059D8-0865-414B-A366-FC2876AF3565}"/>
              </a:ext>
            </a:extLst>
          </p:cNvPr>
          <p:cNvSpPr/>
          <p:nvPr/>
        </p:nvSpPr>
        <p:spPr>
          <a:xfrm>
            <a:off x="6655776" y="5253405"/>
            <a:ext cx="1292470" cy="630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Driver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D12713-B9DD-6047-9E44-CAFCB3FAA916}"/>
              </a:ext>
            </a:extLst>
          </p:cNvPr>
          <p:cNvSpPr/>
          <p:nvPr/>
        </p:nvSpPr>
        <p:spPr>
          <a:xfrm>
            <a:off x="8393722" y="5253405"/>
            <a:ext cx="1406770" cy="630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venir Roman" panose="02000503020000020003" pitchFamily="2" charset="0"/>
              </a:rPr>
              <a:t>Metastore</a:t>
            </a:r>
            <a:endParaRPr lang="en-US" dirty="0">
              <a:latin typeface="Avenir Roman" panose="02000503020000020003" pitchFamily="2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E22558B-2AEB-224D-9FFA-439C04A51580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7948246" y="5568646"/>
            <a:ext cx="445476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20B6DF78-1AAF-0A43-A24B-7DD9F444DDC4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10046677" y="4171707"/>
            <a:ext cx="1163516" cy="326963"/>
          </a:xfrm>
          <a:prstGeom prst="bentConnector2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B1C73883-230A-6E45-99FD-C2F3A0FE375F}"/>
              </a:ext>
            </a:extLst>
          </p:cNvPr>
          <p:cNvCxnSpPr>
            <a:cxnSpLocks/>
            <a:stCxn id="17" idx="3"/>
            <a:endCxn id="12" idx="3"/>
          </p:cNvCxnSpPr>
          <p:nvPr/>
        </p:nvCxnSpPr>
        <p:spPr>
          <a:xfrm flipV="1">
            <a:off x="10046677" y="5253406"/>
            <a:ext cx="1163516" cy="303517"/>
          </a:xfrm>
          <a:prstGeom prst="bentConnector2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4C22C4E-80EE-7141-A05A-BD2E5B94E02A}"/>
              </a:ext>
            </a:extLst>
          </p:cNvPr>
          <p:cNvSpPr txBox="1"/>
          <p:nvPr/>
        </p:nvSpPr>
        <p:spPr>
          <a:xfrm>
            <a:off x="7605345" y="2831585"/>
            <a:ext cx="27900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venir Roman" panose="02000503020000020003" pitchFamily="2" charset="0"/>
              </a:rPr>
              <a:t>Embedded </a:t>
            </a:r>
            <a:r>
              <a:rPr lang="en-US" sz="1600" dirty="0" err="1">
                <a:solidFill>
                  <a:schemeClr val="bg1"/>
                </a:solidFill>
                <a:latin typeface="Avenir Roman" panose="02000503020000020003" pitchFamily="2" charset="0"/>
              </a:rPr>
              <a:t>metastore</a:t>
            </a:r>
            <a:endParaRPr lang="en-US" sz="1600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A15D7D-2E5A-0443-B127-556C3A8CF988}"/>
              </a:ext>
            </a:extLst>
          </p:cNvPr>
          <p:cNvSpPr txBox="1"/>
          <p:nvPr/>
        </p:nvSpPr>
        <p:spPr>
          <a:xfrm>
            <a:off x="7209690" y="6166680"/>
            <a:ext cx="27900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venir Roman" panose="02000503020000020003" pitchFamily="2" charset="0"/>
              </a:rPr>
              <a:t>Local </a:t>
            </a:r>
            <a:r>
              <a:rPr lang="en-US" sz="1600" dirty="0" err="1">
                <a:solidFill>
                  <a:schemeClr val="bg1"/>
                </a:solidFill>
                <a:latin typeface="Avenir Roman" panose="02000503020000020003" pitchFamily="2" charset="0"/>
              </a:rPr>
              <a:t>metastore</a:t>
            </a:r>
            <a:endParaRPr lang="en-US" sz="1600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994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  <p:bldP spid="11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30" grpId="0"/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Hive </a:t>
            </a:r>
            <a:r>
              <a:rPr lang="en-US" dirty="0" err="1">
                <a:solidFill>
                  <a:schemeClr val="bg1"/>
                </a:solidFill>
                <a:latin typeface="Avenir Roman" panose="02000503020000020003" pitchFamily="2" charset="0"/>
              </a:rPr>
              <a:t>Metastore</a:t>
            </a: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 (HMS)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99185" cy="43513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200" dirty="0">
                <a:solidFill>
                  <a:schemeClr val="bg1"/>
                </a:solidFill>
                <a:latin typeface="Avenir Roman" panose="02000503020000020003" pitchFamily="2" charset="0"/>
              </a:rPr>
              <a:t>Why do we need </a:t>
            </a:r>
            <a:r>
              <a:rPr lang="en-US" sz="2200" dirty="0" err="1">
                <a:solidFill>
                  <a:schemeClr val="bg1"/>
                </a:solidFill>
                <a:latin typeface="Avenir Roman" panose="02000503020000020003" pitchFamily="2" charset="0"/>
              </a:rPr>
              <a:t>metastore</a:t>
            </a:r>
            <a:r>
              <a:rPr lang="en-US" sz="2200" dirty="0">
                <a:solidFill>
                  <a:schemeClr val="bg1"/>
                </a:solidFill>
                <a:latin typeface="Avenir Roman" panose="02000503020000020003" pitchFamily="2" charset="0"/>
              </a:rPr>
              <a:t>? </a:t>
            </a:r>
          </a:p>
          <a:p>
            <a:pPr>
              <a:spcAft>
                <a:spcPts val="600"/>
              </a:spcAft>
            </a:pPr>
            <a:r>
              <a:rPr lang="en-US" sz="2200" dirty="0">
                <a:solidFill>
                  <a:schemeClr val="bg1"/>
                </a:solidFill>
                <a:latin typeface="Avenir Roman" panose="02000503020000020003" pitchFamily="2" charset="0"/>
              </a:rPr>
              <a:t>Central repository for Hive metadata.</a:t>
            </a:r>
          </a:p>
          <a:p>
            <a:pPr>
              <a:spcAft>
                <a:spcPts val="600"/>
              </a:spcAft>
            </a:pPr>
            <a:r>
              <a:rPr lang="en-US" sz="2200" dirty="0">
                <a:solidFill>
                  <a:schemeClr val="bg1"/>
                </a:solidFill>
                <a:latin typeface="Avenir Roman" panose="02000503020000020003" pitchFamily="2" charset="0"/>
              </a:rPr>
              <a:t>Two components:</a:t>
            </a:r>
          </a:p>
          <a:p>
            <a:pPr lvl="1"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latin typeface="Avenir Roman" panose="02000503020000020003" pitchFamily="2" charset="0"/>
              </a:rPr>
              <a:t>Service</a:t>
            </a:r>
          </a:p>
          <a:p>
            <a:pPr lvl="1"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latin typeface="Avenir Roman" panose="02000503020000020003" pitchFamily="2" charset="0"/>
              </a:rPr>
              <a:t>Data storage</a:t>
            </a:r>
          </a:p>
          <a:p>
            <a:pPr>
              <a:spcAft>
                <a:spcPts val="600"/>
              </a:spcAft>
            </a:pPr>
            <a:r>
              <a:rPr lang="en-US" sz="2200" dirty="0">
                <a:solidFill>
                  <a:schemeClr val="bg1"/>
                </a:solidFill>
                <a:latin typeface="Avenir Roman" panose="02000503020000020003" pitchFamily="2" charset="0"/>
              </a:rPr>
              <a:t>Types of </a:t>
            </a:r>
            <a:r>
              <a:rPr lang="en-US" sz="2200" dirty="0" err="1">
                <a:solidFill>
                  <a:schemeClr val="bg1"/>
                </a:solidFill>
                <a:latin typeface="Avenir Roman" panose="02000503020000020003" pitchFamily="2" charset="0"/>
              </a:rPr>
              <a:t>metastores</a:t>
            </a:r>
            <a:endParaRPr lang="en-US" sz="22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 lvl="1"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latin typeface="Avenir Roman" panose="02000503020000020003" pitchFamily="2" charset="0"/>
              </a:rPr>
              <a:t>Embedded </a:t>
            </a:r>
            <a:r>
              <a:rPr lang="en-US" sz="1800" dirty="0" err="1">
                <a:solidFill>
                  <a:schemeClr val="bg1"/>
                </a:solidFill>
                <a:latin typeface="Avenir Roman" panose="02000503020000020003" pitchFamily="2" charset="0"/>
              </a:rPr>
              <a:t>metastore</a:t>
            </a:r>
            <a:r>
              <a:rPr lang="en-US" sz="1800" dirty="0">
                <a:solidFill>
                  <a:schemeClr val="bg1"/>
                </a:solidFill>
                <a:latin typeface="Avenir Roman" panose="02000503020000020003" pitchFamily="2" charset="0"/>
              </a:rPr>
              <a:t> – Derby </a:t>
            </a:r>
          </a:p>
          <a:p>
            <a:pPr lvl="1"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latin typeface="Avenir Roman" panose="02000503020000020003" pitchFamily="2" charset="0"/>
              </a:rPr>
              <a:t>Local </a:t>
            </a:r>
            <a:r>
              <a:rPr lang="en-US" sz="1800" dirty="0" err="1">
                <a:solidFill>
                  <a:schemeClr val="bg1"/>
                </a:solidFill>
                <a:latin typeface="Avenir Roman" panose="02000503020000020003" pitchFamily="2" charset="0"/>
              </a:rPr>
              <a:t>metastore</a:t>
            </a:r>
            <a:endParaRPr lang="en-US" sz="18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 lvl="1"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latin typeface="Avenir Roman" panose="02000503020000020003" pitchFamily="2" charset="0"/>
              </a:rPr>
              <a:t>Remote </a:t>
            </a:r>
            <a:r>
              <a:rPr lang="en-US" sz="1800" dirty="0" err="1">
                <a:solidFill>
                  <a:schemeClr val="bg1"/>
                </a:solidFill>
                <a:latin typeface="Avenir Roman" panose="02000503020000020003" pitchFamily="2" charset="0"/>
              </a:rPr>
              <a:t>metastore</a:t>
            </a:r>
            <a:endParaRPr lang="en-US" sz="1800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97B136-D2BD-204C-89CB-59E8145989C0}"/>
              </a:ext>
            </a:extLst>
          </p:cNvPr>
          <p:cNvSpPr/>
          <p:nvPr/>
        </p:nvSpPr>
        <p:spPr>
          <a:xfrm>
            <a:off x="6342186" y="2297112"/>
            <a:ext cx="1746738" cy="1046529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n 11">
            <a:extLst>
              <a:ext uri="{FF2B5EF4-FFF2-40B4-BE49-F238E27FC236}">
                <a16:creationId xmlns:a16="http://schemas.microsoft.com/office/drawing/2014/main" id="{1A400B61-B804-344C-A7AF-6EF7321E666F}"/>
              </a:ext>
            </a:extLst>
          </p:cNvPr>
          <p:cNvSpPr/>
          <p:nvPr/>
        </p:nvSpPr>
        <p:spPr>
          <a:xfrm>
            <a:off x="10458450" y="3510751"/>
            <a:ext cx="1449265" cy="1261819"/>
          </a:xfrm>
          <a:prstGeom prst="can">
            <a:avLst>
              <a:gd name="adj" fmla="val 33962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MySQL /</a:t>
            </a:r>
          </a:p>
          <a:p>
            <a:pPr algn="ctr"/>
            <a:r>
              <a:rPr lang="en-US" dirty="0">
                <a:latin typeface="Avenir Roman" panose="02000503020000020003" pitchFamily="2" charset="0"/>
              </a:rPr>
              <a:t>AWS Glue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F59407-47B9-7D43-9CBF-1312A55380C8}"/>
              </a:ext>
            </a:extLst>
          </p:cNvPr>
          <p:cNvSpPr/>
          <p:nvPr/>
        </p:nvSpPr>
        <p:spPr>
          <a:xfrm>
            <a:off x="6573715" y="2516859"/>
            <a:ext cx="1292470" cy="630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Driver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1A5EC0-4834-8E46-9ECE-9DC2E179C1E7}"/>
              </a:ext>
            </a:extLst>
          </p:cNvPr>
          <p:cNvSpPr/>
          <p:nvPr/>
        </p:nvSpPr>
        <p:spPr>
          <a:xfrm>
            <a:off x="8311661" y="2516859"/>
            <a:ext cx="1406770" cy="630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venir Roman" panose="02000503020000020003" pitchFamily="2" charset="0"/>
              </a:rPr>
              <a:t>Metastore</a:t>
            </a:r>
            <a:endParaRPr lang="en-US" dirty="0">
              <a:latin typeface="Avenir Roman" panose="02000503020000020003" pitchFamily="2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A5611F2-A713-E944-926B-E43892F66C5D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7866185" y="2832100"/>
            <a:ext cx="445476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DA07016-8A03-714A-AEC4-61C4AAB1F1EF}"/>
              </a:ext>
            </a:extLst>
          </p:cNvPr>
          <p:cNvSpPr/>
          <p:nvPr/>
        </p:nvSpPr>
        <p:spPr>
          <a:xfrm>
            <a:off x="6342185" y="4772571"/>
            <a:ext cx="1746739" cy="1046529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B059D8-0865-414B-A366-FC2876AF3565}"/>
              </a:ext>
            </a:extLst>
          </p:cNvPr>
          <p:cNvSpPr/>
          <p:nvPr/>
        </p:nvSpPr>
        <p:spPr>
          <a:xfrm>
            <a:off x="6573715" y="4992318"/>
            <a:ext cx="1292470" cy="630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Driver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D12713-B9DD-6047-9E44-CAFCB3FAA916}"/>
              </a:ext>
            </a:extLst>
          </p:cNvPr>
          <p:cNvSpPr/>
          <p:nvPr/>
        </p:nvSpPr>
        <p:spPr>
          <a:xfrm>
            <a:off x="8311661" y="4992318"/>
            <a:ext cx="1406770" cy="630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venir Roman" panose="02000503020000020003" pitchFamily="2" charset="0"/>
              </a:rPr>
              <a:t>Metastore</a:t>
            </a:r>
            <a:endParaRPr lang="en-US" dirty="0">
              <a:latin typeface="Avenir Roman" panose="02000503020000020003" pitchFamily="2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E22558B-2AEB-224D-9FFA-439C04A51580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7866185" y="5307559"/>
            <a:ext cx="445476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20B6DF78-1AAF-0A43-A24B-7DD9F444DDC4}"/>
              </a:ext>
            </a:extLst>
          </p:cNvPr>
          <p:cNvCxnSpPr>
            <a:cxnSpLocks/>
            <a:stCxn id="14" idx="3"/>
            <a:endCxn id="12" idx="1"/>
          </p:cNvCxnSpPr>
          <p:nvPr/>
        </p:nvCxnSpPr>
        <p:spPr>
          <a:xfrm>
            <a:off x="9718431" y="2832100"/>
            <a:ext cx="1464652" cy="678651"/>
          </a:xfrm>
          <a:prstGeom prst="bentConnector2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B1C73883-230A-6E45-99FD-C2F3A0FE375F}"/>
              </a:ext>
            </a:extLst>
          </p:cNvPr>
          <p:cNvCxnSpPr>
            <a:cxnSpLocks/>
            <a:stCxn id="19" idx="3"/>
            <a:endCxn id="12" idx="3"/>
          </p:cNvCxnSpPr>
          <p:nvPr/>
        </p:nvCxnSpPr>
        <p:spPr>
          <a:xfrm flipV="1">
            <a:off x="9718431" y="4772570"/>
            <a:ext cx="1464652" cy="534989"/>
          </a:xfrm>
          <a:prstGeom prst="bentConnector2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35AEFAA-2DC8-0844-AD68-27546AAA0CB4}"/>
              </a:ext>
            </a:extLst>
          </p:cNvPr>
          <p:cNvSpPr txBox="1"/>
          <p:nvPr/>
        </p:nvSpPr>
        <p:spPr>
          <a:xfrm>
            <a:off x="6855068" y="6025544"/>
            <a:ext cx="27900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venir Roman" panose="02000503020000020003" pitchFamily="2" charset="0"/>
              </a:rPr>
              <a:t>Remote </a:t>
            </a:r>
            <a:r>
              <a:rPr lang="en-US" sz="1600" dirty="0" err="1">
                <a:solidFill>
                  <a:schemeClr val="bg1"/>
                </a:solidFill>
                <a:latin typeface="Avenir Roman" panose="02000503020000020003" pitchFamily="2" charset="0"/>
              </a:rPr>
              <a:t>metastore</a:t>
            </a:r>
            <a:endParaRPr lang="en-US" sz="1600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77D0CC-9969-F042-8801-D3467A7A020E}"/>
              </a:ext>
            </a:extLst>
          </p:cNvPr>
          <p:cNvSpPr txBox="1"/>
          <p:nvPr/>
        </p:nvSpPr>
        <p:spPr>
          <a:xfrm>
            <a:off x="11073911" y="4866446"/>
            <a:ext cx="1118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venir Roman" panose="02000503020000020003" pitchFamily="2" charset="0"/>
              </a:rPr>
              <a:t>Remote server</a:t>
            </a:r>
          </a:p>
        </p:txBody>
      </p:sp>
    </p:spTree>
    <p:extLst>
      <p:ext uri="{BB962C8B-B14F-4D97-AF65-F5344CB8AC3E}">
        <p14:creationId xmlns:p14="http://schemas.microsoft.com/office/powerpoint/2010/main" val="3989700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9" grpId="0"/>
      <p:bldP spid="3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Schema on 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078415" cy="43513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Traditional database (schema on write)</a:t>
            </a: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Schema is enforced at write time.</a:t>
            </a: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If data does not conform to schema, it is rejected.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Hive (schema on read)</a:t>
            </a: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Data is not verified when loaded, but when it is read.</a:t>
            </a: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If data does not conform to schema while reading, NULL is returned.</a:t>
            </a:r>
          </a:p>
        </p:txBody>
      </p:sp>
      <p:sp>
        <p:nvSpPr>
          <p:cNvPr id="4" name="Can 3">
            <a:extLst>
              <a:ext uri="{FF2B5EF4-FFF2-40B4-BE49-F238E27FC236}">
                <a16:creationId xmlns:a16="http://schemas.microsoft.com/office/drawing/2014/main" id="{D4924E8E-3AC3-F445-B877-01FEB7BDBE28}"/>
              </a:ext>
            </a:extLst>
          </p:cNvPr>
          <p:cNvSpPr/>
          <p:nvPr/>
        </p:nvSpPr>
        <p:spPr>
          <a:xfrm>
            <a:off x="9185031" y="4448908"/>
            <a:ext cx="1245576" cy="774916"/>
          </a:xfrm>
          <a:prstGeom prst="can">
            <a:avLst>
              <a:gd name="adj" fmla="val 33962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Storage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A8836F-09E8-BB46-BA23-8A3C56B1CE11}"/>
              </a:ext>
            </a:extLst>
          </p:cNvPr>
          <p:cNvSpPr/>
          <p:nvPr/>
        </p:nvSpPr>
        <p:spPr>
          <a:xfrm>
            <a:off x="8024446" y="2972306"/>
            <a:ext cx="1160585" cy="399763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Schema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9E073E-30F8-224F-8B75-42C33BE50F20}"/>
              </a:ext>
            </a:extLst>
          </p:cNvPr>
          <p:cNvSpPr/>
          <p:nvPr/>
        </p:nvSpPr>
        <p:spPr>
          <a:xfrm>
            <a:off x="10081846" y="2972306"/>
            <a:ext cx="1271954" cy="41273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Schema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B7FDAB-6E6A-EC4C-97A4-B690C6E7F971}"/>
              </a:ext>
            </a:extLst>
          </p:cNvPr>
          <p:cNvSpPr txBox="1"/>
          <p:nvPr/>
        </p:nvSpPr>
        <p:spPr>
          <a:xfrm>
            <a:off x="7936523" y="1618557"/>
            <a:ext cx="1324708" cy="369332"/>
          </a:xfrm>
          <a:prstGeom prst="rect">
            <a:avLst/>
          </a:prstGeom>
          <a:solidFill>
            <a:srgbClr val="0096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Write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E6CB20-2936-3C46-9F3D-E474D37D3A9F}"/>
              </a:ext>
            </a:extLst>
          </p:cNvPr>
          <p:cNvSpPr txBox="1"/>
          <p:nvPr/>
        </p:nvSpPr>
        <p:spPr>
          <a:xfrm>
            <a:off x="10430607" y="4997914"/>
            <a:ext cx="1324708" cy="369332"/>
          </a:xfrm>
          <a:prstGeom prst="rect">
            <a:avLst/>
          </a:prstGeom>
          <a:solidFill>
            <a:srgbClr val="0096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Read data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B5C174F5-3C93-4E47-A792-B9D2F948506A}"/>
              </a:ext>
            </a:extLst>
          </p:cNvPr>
          <p:cNvCxnSpPr>
            <a:cxnSpLocks/>
          </p:cNvCxnSpPr>
          <p:nvPr/>
        </p:nvCxnSpPr>
        <p:spPr>
          <a:xfrm rot="16200000" flipH="1">
            <a:off x="8711345" y="3383938"/>
            <a:ext cx="1063869" cy="1066067"/>
          </a:xfrm>
          <a:prstGeom prst="bent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663BA84E-E49B-244F-A497-6ACFC05F45A4}"/>
              </a:ext>
            </a:extLst>
          </p:cNvPr>
          <p:cNvCxnSpPr>
            <a:cxnSpLocks/>
          </p:cNvCxnSpPr>
          <p:nvPr/>
        </p:nvCxnSpPr>
        <p:spPr>
          <a:xfrm rot="5400000">
            <a:off x="7510964" y="3403069"/>
            <a:ext cx="1026964" cy="1019908"/>
          </a:xfrm>
          <a:prstGeom prst="bent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8E4FF-A3E7-F04E-96FF-FA1F579A0B76}"/>
              </a:ext>
            </a:extLst>
          </p:cNvPr>
          <p:cNvSpPr/>
          <p:nvPr/>
        </p:nvSpPr>
        <p:spPr>
          <a:xfrm>
            <a:off x="7019923" y="4481449"/>
            <a:ext cx="1004523" cy="41879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Reject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BF52D56-99A9-D246-B91B-729059D05151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>
            <a:off x="8598877" y="1987889"/>
            <a:ext cx="5862" cy="984417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572903E-C68C-0243-ACEB-2997B3765AAB}"/>
              </a:ext>
            </a:extLst>
          </p:cNvPr>
          <p:cNvSpPr txBox="1"/>
          <p:nvPr/>
        </p:nvSpPr>
        <p:spPr>
          <a:xfrm>
            <a:off x="8706583" y="3548696"/>
            <a:ext cx="1109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  <a:latin typeface="Avenir Roman" panose="02000503020000020003" pitchFamily="2" charset="0"/>
              </a:defRPr>
            </a:lvl1pPr>
          </a:lstStyle>
          <a:p>
            <a:r>
              <a:rPr lang="en-US"/>
              <a:t>Yes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EF7A59-01B9-8C46-B844-CA6EA108FCED}"/>
              </a:ext>
            </a:extLst>
          </p:cNvPr>
          <p:cNvSpPr txBox="1"/>
          <p:nvPr/>
        </p:nvSpPr>
        <p:spPr>
          <a:xfrm>
            <a:off x="7381875" y="3548696"/>
            <a:ext cx="1109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  <a:latin typeface="Avenir Roman" panose="02000503020000020003" pitchFamily="2" charset="0"/>
              </a:defRPr>
            </a:lvl1pPr>
          </a:lstStyle>
          <a:p>
            <a:r>
              <a:rPr lang="en-US" dirty="0"/>
              <a:t>No</a:t>
            </a: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1608E67C-07F5-AF4E-8B61-68A07DC005EA}"/>
              </a:ext>
            </a:extLst>
          </p:cNvPr>
          <p:cNvCxnSpPr>
            <a:cxnSpLocks/>
            <a:stCxn id="4" idx="4"/>
            <a:endCxn id="6" idx="2"/>
          </p:cNvCxnSpPr>
          <p:nvPr/>
        </p:nvCxnSpPr>
        <p:spPr>
          <a:xfrm flipV="1">
            <a:off x="10430607" y="3385037"/>
            <a:ext cx="287216" cy="1451329"/>
          </a:xfrm>
          <a:prstGeom prst="bentConnector2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E1CA3C29-5034-D04B-8ABB-828F56090B42}"/>
              </a:ext>
            </a:extLst>
          </p:cNvPr>
          <p:cNvCxnSpPr>
            <a:cxnSpLocks/>
          </p:cNvCxnSpPr>
          <p:nvPr/>
        </p:nvCxnSpPr>
        <p:spPr>
          <a:xfrm rot="16200000" flipV="1">
            <a:off x="9813275" y="2138095"/>
            <a:ext cx="934265" cy="734157"/>
          </a:xfrm>
          <a:prstGeom prst="bentConnector3">
            <a:avLst>
              <a:gd name="adj1" fmla="val 50000"/>
            </a:avLst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72C941B-157D-8C4C-AE43-44233F640385}"/>
              </a:ext>
            </a:extLst>
          </p:cNvPr>
          <p:cNvSpPr/>
          <p:nvPr/>
        </p:nvSpPr>
        <p:spPr>
          <a:xfrm>
            <a:off x="9536724" y="1618557"/>
            <a:ext cx="893883" cy="419484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Null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C438C8-4153-1C4D-B318-163577C847C6}"/>
              </a:ext>
            </a:extLst>
          </p:cNvPr>
          <p:cNvSpPr/>
          <p:nvPr/>
        </p:nvSpPr>
        <p:spPr>
          <a:xfrm>
            <a:off x="10735410" y="1618557"/>
            <a:ext cx="893883" cy="419484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Data</a:t>
            </a:r>
          </a:p>
        </p:txBody>
      </p: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D50955F2-6B5F-BB45-A104-091F4D691CD7}"/>
              </a:ext>
            </a:extLst>
          </p:cNvPr>
          <p:cNvCxnSpPr>
            <a:cxnSpLocks/>
            <a:endCxn id="26" idx="2"/>
          </p:cNvCxnSpPr>
          <p:nvPr/>
        </p:nvCxnSpPr>
        <p:spPr>
          <a:xfrm rot="5400000" flipH="1" flipV="1">
            <a:off x="10554200" y="2315968"/>
            <a:ext cx="906079" cy="350226"/>
          </a:xfrm>
          <a:prstGeom prst="bentConnector3">
            <a:avLst>
              <a:gd name="adj1" fmla="val 50000"/>
            </a:avLst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8761104-E1E3-3049-8010-E28FBA64CFB8}"/>
              </a:ext>
            </a:extLst>
          </p:cNvPr>
          <p:cNvSpPr txBox="1"/>
          <p:nvPr/>
        </p:nvSpPr>
        <p:spPr>
          <a:xfrm>
            <a:off x="10821136" y="2491081"/>
            <a:ext cx="1109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  <a:latin typeface="Avenir Roman" panose="02000503020000020003" pitchFamily="2" charset="0"/>
              </a:defRPr>
            </a:lvl1pPr>
          </a:lstStyle>
          <a:p>
            <a:r>
              <a:rPr lang="en-US"/>
              <a:t>Yes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AADCA1-2AC3-D947-B25B-C346A46A6C00}"/>
              </a:ext>
            </a:extLst>
          </p:cNvPr>
          <p:cNvSpPr txBox="1"/>
          <p:nvPr/>
        </p:nvSpPr>
        <p:spPr>
          <a:xfrm>
            <a:off x="9527198" y="2495793"/>
            <a:ext cx="1109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  <a:latin typeface="Avenir Roman" panose="02000503020000020003" pitchFamily="2" charset="0"/>
              </a:defRPr>
            </a:lvl1pPr>
          </a:lstStyle>
          <a:p>
            <a:r>
              <a:rPr lang="en-US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372772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3" grpId="0" animBg="1"/>
      <p:bldP spid="16" grpId="0"/>
      <p:bldP spid="17" grpId="0"/>
      <p:bldP spid="24" grpId="0" animBg="1"/>
      <p:bldP spid="26" grpId="0" animBg="1"/>
      <p:bldP spid="35" grpId="0"/>
      <p:bldP spid="3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62" y="279400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Hive CLI on EMR</a:t>
            </a:r>
          </a:p>
        </p:txBody>
      </p:sp>
    </p:spTree>
    <p:extLst>
      <p:ext uri="{BB962C8B-B14F-4D97-AF65-F5344CB8AC3E}">
        <p14:creationId xmlns:p14="http://schemas.microsoft.com/office/powerpoint/2010/main" val="1153555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2350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Numeric type</a:t>
            </a: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TINYINT, SMALLINT, INT, BIGINT</a:t>
            </a: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FLOAT, DOUBLE</a:t>
            </a: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DECIMAL(p, s), NUMERIC(p, s) 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Date/Time type</a:t>
            </a: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TIMESTAMP – 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YYYY-MM-DD </a:t>
            </a:r>
            <a:r>
              <a:rPr lang="en-IN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HH:MM:SS.fffffffff</a:t>
            </a:r>
            <a:endParaRPr lang="en-US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DATE – 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YYYY-MM-DD </a:t>
            </a:r>
            <a:endParaRPr lang="en-US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INTERVAL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String type</a:t>
            </a: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STRING</a:t>
            </a: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VARCHAR(n = 1-65535)</a:t>
            </a: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CHAR(n = 1-255)</a:t>
            </a:r>
          </a:p>
        </p:txBody>
      </p:sp>
    </p:spTree>
    <p:extLst>
      <p:ext uri="{BB962C8B-B14F-4D97-AF65-F5344CB8AC3E}">
        <p14:creationId xmlns:p14="http://schemas.microsoft.com/office/powerpoint/2010/main" val="1679115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200" dirty="0">
                <a:solidFill>
                  <a:schemeClr val="bg1"/>
                </a:solidFill>
                <a:latin typeface="Avenir Roman" panose="02000503020000020003" pitchFamily="2" charset="0"/>
              </a:rPr>
              <a:t>Complex type</a:t>
            </a:r>
          </a:p>
          <a:p>
            <a:pPr lvl="1">
              <a:spcAft>
                <a:spcPts val="600"/>
              </a:spcAft>
            </a:pPr>
            <a:r>
              <a:rPr lang="en-US" sz="1900" dirty="0">
                <a:solidFill>
                  <a:schemeClr val="bg1"/>
                </a:solidFill>
                <a:latin typeface="Avenir Roman" panose="02000503020000020003" pitchFamily="2" charset="0"/>
              </a:rPr>
              <a:t>Arrays - ARRAY&lt;</a:t>
            </a:r>
            <a:r>
              <a:rPr lang="en-US" sz="1900" dirty="0" err="1">
                <a:solidFill>
                  <a:schemeClr val="bg1"/>
                </a:solidFill>
                <a:latin typeface="Avenir Roman" panose="02000503020000020003" pitchFamily="2" charset="0"/>
              </a:rPr>
              <a:t>data_type</a:t>
            </a:r>
            <a:r>
              <a:rPr lang="en-US" sz="1900" dirty="0">
                <a:solidFill>
                  <a:schemeClr val="bg1"/>
                </a:solidFill>
                <a:latin typeface="Avenir Roman" panose="02000503020000020003" pitchFamily="2" charset="0"/>
              </a:rPr>
              <a:t>&gt;. </a:t>
            </a:r>
          </a:p>
          <a:p>
            <a:pPr lvl="1">
              <a:spcAft>
                <a:spcPts val="600"/>
              </a:spcAft>
            </a:pPr>
            <a:r>
              <a:rPr lang="en-US" sz="1900" dirty="0">
                <a:solidFill>
                  <a:schemeClr val="bg1"/>
                </a:solidFill>
                <a:latin typeface="Avenir Roman" panose="02000503020000020003" pitchFamily="2" charset="0"/>
              </a:rPr>
              <a:t>Maps - MAP&lt;</a:t>
            </a:r>
            <a:r>
              <a:rPr lang="en-US" sz="1900" dirty="0" err="1">
                <a:solidFill>
                  <a:schemeClr val="bg1"/>
                </a:solidFill>
                <a:latin typeface="Avenir Roman" panose="02000503020000020003" pitchFamily="2" charset="0"/>
              </a:rPr>
              <a:t>col_name</a:t>
            </a:r>
            <a:r>
              <a:rPr lang="en-US" sz="1900" dirty="0">
                <a:solidFill>
                  <a:schemeClr val="bg1"/>
                </a:solidFill>
                <a:latin typeface="Avenir Roman" panose="02000503020000020003" pitchFamily="2" charset="0"/>
              </a:rPr>
              <a:t>, </a:t>
            </a:r>
            <a:r>
              <a:rPr lang="en-US" sz="1900" dirty="0" err="1">
                <a:solidFill>
                  <a:schemeClr val="bg1"/>
                </a:solidFill>
                <a:latin typeface="Avenir Roman" panose="02000503020000020003" pitchFamily="2" charset="0"/>
              </a:rPr>
              <a:t>data_type</a:t>
            </a:r>
            <a:r>
              <a:rPr lang="en-US" sz="1900" dirty="0">
                <a:solidFill>
                  <a:schemeClr val="bg1"/>
                </a:solidFill>
                <a:latin typeface="Avenir Roman" panose="02000503020000020003" pitchFamily="2" charset="0"/>
              </a:rPr>
              <a:t>, … &gt;. </a:t>
            </a:r>
          </a:p>
          <a:p>
            <a:pPr lvl="1">
              <a:spcAft>
                <a:spcPts val="600"/>
              </a:spcAft>
            </a:pPr>
            <a:r>
              <a:rPr lang="en-US" sz="1900" dirty="0">
                <a:solidFill>
                  <a:schemeClr val="bg1"/>
                </a:solidFill>
                <a:latin typeface="Avenir Roman" panose="02000503020000020003" pitchFamily="2" charset="0"/>
              </a:rPr>
              <a:t>STRUCT&lt;</a:t>
            </a:r>
            <a:r>
              <a:rPr lang="en-US" sz="1900" dirty="0" err="1">
                <a:solidFill>
                  <a:schemeClr val="bg1"/>
                </a:solidFill>
                <a:latin typeface="Avenir Roman" panose="02000503020000020003" pitchFamily="2" charset="0"/>
              </a:rPr>
              <a:t>col_name</a:t>
            </a:r>
            <a:r>
              <a:rPr lang="en-US" sz="1900" dirty="0">
                <a:solidFill>
                  <a:schemeClr val="bg1"/>
                </a:solidFill>
                <a:latin typeface="Avenir Roman" panose="02000503020000020003" pitchFamily="2" charset="0"/>
              </a:rPr>
              <a:t>: </a:t>
            </a:r>
            <a:r>
              <a:rPr lang="en-US" sz="1900" dirty="0" err="1">
                <a:solidFill>
                  <a:schemeClr val="bg1"/>
                </a:solidFill>
                <a:latin typeface="Avenir Roman" panose="02000503020000020003" pitchFamily="2" charset="0"/>
              </a:rPr>
              <a:t>data_type</a:t>
            </a:r>
            <a:r>
              <a:rPr lang="en-US" sz="1900" dirty="0">
                <a:solidFill>
                  <a:schemeClr val="bg1"/>
                </a:solidFill>
                <a:latin typeface="Avenir Roman" panose="02000503020000020003" pitchFamily="2" charset="0"/>
              </a:rPr>
              <a:t>, </a:t>
            </a:r>
            <a:r>
              <a:rPr lang="en-US" sz="1900" dirty="0" err="1">
                <a:solidFill>
                  <a:schemeClr val="bg1"/>
                </a:solidFill>
                <a:latin typeface="Avenir Roman" panose="02000503020000020003" pitchFamily="2" charset="0"/>
              </a:rPr>
              <a:t>col_name</a:t>
            </a:r>
            <a:r>
              <a:rPr lang="en-US" sz="1900" dirty="0">
                <a:solidFill>
                  <a:schemeClr val="bg1"/>
                </a:solidFill>
                <a:latin typeface="Avenir Roman" panose="02000503020000020003" pitchFamily="2" charset="0"/>
              </a:rPr>
              <a:t>: </a:t>
            </a:r>
            <a:r>
              <a:rPr lang="en-US" sz="1900" dirty="0" err="1">
                <a:solidFill>
                  <a:schemeClr val="bg1"/>
                </a:solidFill>
                <a:latin typeface="Avenir Roman" panose="02000503020000020003" pitchFamily="2" charset="0"/>
              </a:rPr>
              <a:t>data_type</a:t>
            </a:r>
            <a:r>
              <a:rPr lang="en-US" sz="1900" dirty="0">
                <a:solidFill>
                  <a:schemeClr val="bg1"/>
                </a:solidFill>
                <a:latin typeface="Avenir Roman" panose="02000503020000020003" pitchFamily="2" charset="0"/>
              </a:rPr>
              <a:t> … &gt;</a:t>
            </a:r>
          </a:p>
        </p:txBody>
      </p:sp>
    </p:spTree>
    <p:extLst>
      <p:ext uri="{BB962C8B-B14F-4D97-AF65-F5344CB8AC3E}">
        <p14:creationId xmlns:p14="http://schemas.microsoft.com/office/powerpoint/2010/main" val="2853252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Databases &amp; Tables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26970" cy="43513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Database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Table</a:t>
            </a:r>
          </a:p>
          <a:p>
            <a:pPr lvl="1"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CREATE TABLE</a:t>
            </a:r>
          </a:p>
          <a:p>
            <a:pPr lvl="1"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Managed table – Data lifecycle is managed by Hive.</a:t>
            </a:r>
          </a:p>
          <a:p>
            <a:pPr lvl="1"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External table – Hive does not own the data.</a:t>
            </a:r>
          </a:p>
          <a:p>
            <a:pPr lvl="1"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Temporary table – Tables are visible to the current session only.</a:t>
            </a:r>
          </a:p>
          <a:p>
            <a:pPr>
              <a:spcAft>
                <a:spcPts val="600"/>
              </a:spcAft>
            </a:pPr>
            <a:endParaRPr lang="en-US" sz="2400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  <p:sp>
        <p:nvSpPr>
          <p:cNvPr id="4" name="Snip Single Corner Rectangle 3">
            <a:extLst>
              <a:ext uri="{FF2B5EF4-FFF2-40B4-BE49-F238E27FC236}">
                <a16:creationId xmlns:a16="http://schemas.microsoft.com/office/drawing/2014/main" id="{B312C8C2-3BCE-9E49-A52D-C2B113F1A6D0}"/>
              </a:ext>
            </a:extLst>
          </p:cNvPr>
          <p:cNvSpPr/>
          <p:nvPr/>
        </p:nvSpPr>
        <p:spPr>
          <a:xfrm>
            <a:off x="7281875" y="1591942"/>
            <a:ext cx="1000125" cy="1243012"/>
          </a:xfrm>
          <a:prstGeom prst="snip1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venir Roman" panose="02000503020000020003" pitchFamily="2" charset="0"/>
              </a:rPr>
              <a:t>File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10FCCF-A1CC-1649-BDB1-0E087D7262D3}"/>
              </a:ext>
            </a:extLst>
          </p:cNvPr>
          <p:cNvSpPr/>
          <p:nvPr/>
        </p:nvSpPr>
        <p:spPr>
          <a:xfrm>
            <a:off x="10206049" y="1776564"/>
            <a:ext cx="1624014" cy="87376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Managed Table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9993391-A582-C343-9B88-22C3D42D99CE}"/>
              </a:ext>
            </a:extLst>
          </p:cNvPr>
          <p:cNvCxnSpPr>
            <a:stCxn id="4" idx="0"/>
            <a:endCxn id="5" idx="1"/>
          </p:cNvCxnSpPr>
          <p:nvPr/>
        </p:nvCxnSpPr>
        <p:spPr>
          <a:xfrm>
            <a:off x="8282000" y="2213448"/>
            <a:ext cx="1924049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120B8C5-9B80-024B-BDEE-E93A1FB05FCC}"/>
              </a:ext>
            </a:extLst>
          </p:cNvPr>
          <p:cNvSpPr txBox="1"/>
          <p:nvPr/>
        </p:nvSpPr>
        <p:spPr>
          <a:xfrm>
            <a:off x="8689194" y="1673768"/>
            <a:ext cx="1200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Load</a:t>
            </a:r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DF78BAD3-BABC-8444-8AF9-C336BF6F3338}"/>
              </a:ext>
            </a:extLst>
          </p:cNvPr>
          <p:cNvSpPr/>
          <p:nvPr/>
        </p:nvSpPr>
        <p:spPr>
          <a:xfrm>
            <a:off x="10206049" y="3200400"/>
            <a:ext cx="1624014" cy="542925"/>
          </a:xfrm>
          <a:prstGeom prst="cube">
            <a:avLst>
              <a:gd name="adj" fmla="val 40790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latin typeface="Avenir Roman" panose="02000503020000020003" pitchFamily="2" charset="0"/>
              </a:rPr>
              <a:t>HDFS</a:t>
            </a:r>
            <a:endParaRPr lang="en-US" dirty="0">
              <a:latin typeface="Avenir Roman" panose="02000503020000020003" pitchFamily="2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C16992-090F-AD41-A557-B57ABF50A95A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018056" y="2650331"/>
            <a:ext cx="0" cy="550069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nip Single Corner Rectangle 12">
            <a:extLst>
              <a:ext uri="{FF2B5EF4-FFF2-40B4-BE49-F238E27FC236}">
                <a16:creationId xmlns:a16="http://schemas.microsoft.com/office/drawing/2014/main" id="{4BC9FFD3-5B1D-7543-A259-579BEEE5367C}"/>
              </a:ext>
            </a:extLst>
          </p:cNvPr>
          <p:cNvSpPr/>
          <p:nvPr/>
        </p:nvSpPr>
        <p:spPr>
          <a:xfrm>
            <a:off x="7281875" y="4878991"/>
            <a:ext cx="1000125" cy="1243012"/>
          </a:xfrm>
          <a:prstGeom prst="snip1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venir Roman" panose="02000503020000020003" pitchFamily="2" charset="0"/>
              </a:rPr>
              <a:t>File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1E06F2-4F24-724C-A990-67D04EC61C28}"/>
              </a:ext>
            </a:extLst>
          </p:cNvPr>
          <p:cNvSpPr/>
          <p:nvPr/>
        </p:nvSpPr>
        <p:spPr>
          <a:xfrm>
            <a:off x="10206049" y="5063613"/>
            <a:ext cx="1624014" cy="87376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External Table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A39BFA7-ABCA-9C47-B037-40E62FE38ECB}"/>
              </a:ext>
            </a:extLst>
          </p:cNvPr>
          <p:cNvCxnSpPr>
            <a:cxnSpLocks/>
            <a:stCxn id="14" idx="1"/>
            <a:endCxn id="13" idx="0"/>
          </p:cNvCxnSpPr>
          <p:nvPr/>
        </p:nvCxnSpPr>
        <p:spPr>
          <a:xfrm flipH="1">
            <a:off x="8282000" y="5500497"/>
            <a:ext cx="1924049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3D2BF63-8F76-F24D-874B-CEBFCAAE15F7}"/>
              </a:ext>
            </a:extLst>
          </p:cNvPr>
          <p:cNvSpPr txBox="1"/>
          <p:nvPr/>
        </p:nvSpPr>
        <p:spPr>
          <a:xfrm>
            <a:off x="8689194" y="5625180"/>
            <a:ext cx="12001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Point to location</a:t>
            </a:r>
          </a:p>
        </p:txBody>
      </p:sp>
    </p:spTree>
    <p:extLst>
      <p:ext uri="{BB962C8B-B14F-4D97-AF65-F5344CB8AC3E}">
        <p14:creationId xmlns:p14="http://schemas.microsoft.com/office/powerpoint/2010/main" val="2777544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8" grpId="0"/>
      <p:bldP spid="9" grpId="0" animBg="1"/>
      <p:bldP spid="13" grpId="0" animBg="1"/>
      <p:bldP spid="14" grpId="0" animBg="1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File/Storage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20438" cy="4351338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bg1"/>
                </a:solidFill>
                <a:latin typeface="Avenir Roman" panose="02000503020000020003" pitchFamily="2" charset="0"/>
              </a:rPr>
              <a:t>CREATE TABLE … </a:t>
            </a:r>
            <a:r>
              <a:rPr lang="en-US" sz="2200" dirty="0">
                <a:solidFill>
                  <a:srgbClr val="FF9300"/>
                </a:solidFill>
                <a:latin typeface="Avenir Roman" panose="02000503020000020003" pitchFamily="2" charset="0"/>
              </a:rPr>
              <a:t>STORED AS &lt;</a:t>
            </a:r>
            <a:r>
              <a:rPr lang="en-US" sz="2200" dirty="0" err="1">
                <a:solidFill>
                  <a:srgbClr val="FF9300"/>
                </a:solidFill>
                <a:latin typeface="Avenir Roman" panose="02000503020000020003" pitchFamily="2" charset="0"/>
              </a:rPr>
              <a:t>file_format</a:t>
            </a:r>
            <a:r>
              <a:rPr lang="en-US" sz="2200" dirty="0">
                <a:solidFill>
                  <a:srgbClr val="FF9300"/>
                </a:solidFill>
                <a:latin typeface="Avenir Roman" panose="02000503020000020003" pitchFamily="2" charset="0"/>
              </a:rPr>
              <a:t>&gt; </a:t>
            </a:r>
            <a:r>
              <a:rPr lang="en-US" sz="2200" dirty="0">
                <a:solidFill>
                  <a:schemeClr val="bg1"/>
                </a:solidFill>
                <a:latin typeface="Avenir Roman" panose="02000503020000020003" pitchFamily="2" charset="0"/>
              </a:rPr>
              <a:t>…</a:t>
            </a:r>
            <a:r>
              <a:rPr lang="en-US" sz="2200" dirty="0">
                <a:solidFill>
                  <a:srgbClr val="FF9300"/>
                </a:solidFill>
                <a:latin typeface="Avenir Roman" panose="02000503020000020003" pitchFamily="2" charset="0"/>
              </a:rPr>
              <a:t> ROW FORMAT &lt;</a:t>
            </a:r>
            <a:r>
              <a:rPr lang="en-US" sz="2200" dirty="0" err="1">
                <a:solidFill>
                  <a:srgbClr val="FF9300"/>
                </a:solidFill>
                <a:latin typeface="Avenir Roman" panose="02000503020000020003" pitchFamily="2" charset="0"/>
              </a:rPr>
              <a:t>row_format</a:t>
            </a:r>
            <a:r>
              <a:rPr lang="en-US" sz="2200" dirty="0">
                <a:solidFill>
                  <a:srgbClr val="FF9300"/>
                </a:solidFill>
                <a:latin typeface="Avenir Roman" panose="02000503020000020003" pitchFamily="2" charset="0"/>
              </a:rPr>
              <a:t>&gt;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Supported file formats</a:t>
            </a: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Text File</a:t>
            </a:r>
          </a:p>
          <a:p>
            <a:pPr lvl="1">
              <a:spcAft>
                <a:spcPts val="600"/>
              </a:spcAft>
            </a:pPr>
            <a:r>
              <a:rPr lang="en-US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SequenceFile</a:t>
            </a:r>
            <a:endParaRPr lang="en-US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Parquet</a:t>
            </a: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Avro</a:t>
            </a: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ORC</a:t>
            </a:r>
          </a:p>
          <a:p>
            <a:pPr lvl="1">
              <a:spcAft>
                <a:spcPts val="600"/>
              </a:spcAft>
            </a:pPr>
            <a:r>
              <a:rPr lang="en-US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RCFile</a:t>
            </a:r>
            <a:endParaRPr lang="en-US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Custom file formats using INPUTFORMAT and OUTPUTFORMAT</a:t>
            </a:r>
          </a:p>
        </p:txBody>
      </p:sp>
    </p:spTree>
    <p:extLst>
      <p:ext uri="{BB962C8B-B14F-4D97-AF65-F5344CB8AC3E}">
        <p14:creationId xmlns:p14="http://schemas.microsoft.com/office/powerpoint/2010/main" val="3405543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File/Storage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20438" cy="4703763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bg1"/>
                </a:solidFill>
                <a:latin typeface="Avenir Roman" panose="02000503020000020003" pitchFamily="2" charset="0"/>
              </a:rPr>
              <a:t>CREATE TABLE … </a:t>
            </a:r>
            <a:r>
              <a:rPr lang="en-US" sz="2200" dirty="0">
                <a:solidFill>
                  <a:srgbClr val="FF9300"/>
                </a:solidFill>
                <a:latin typeface="Avenir Roman" panose="02000503020000020003" pitchFamily="2" charset="0"/>
              </a:rPr>
              <a:t>STORED AS &lt;</a:t>
            </a:r>
            <a:r>
              <a:rPr lang="en-US" sz="2200" dirty="0" err="1">
                <a:solidFill>
                  <a:srgbClr val="FF9300"/>
                </a:solidFill>
                <a:latin typeface="Avenir Roman" panose="02000503020000020003" pitchFamily="2" charset="0"/>
              </a:rPr>
              <a:t>file_format</a:t>
            </a:r>
            <a:r>
              <a:rPr lang="en-US" sz="2200" dirty="0">
                <a:solidFill>
                  <a:srgbClr val="FF9300"/>
                </a:solidFill>
                <a:latin typeface="Avenir Roman" panose="02000503020000020003" pitchFamily="2" charset="0"/>
              </a:rPr>
              <a:t>&gt; </a:t>
            </a:r>
            <a:r>
              <a:rPr lang="en-US" sz="2200" dirty="0">
                <a:solidFill>
                  <a:schemeClr val="bg1"/>
                </a:solidFill>
                <a:latin typeface="Avenir Roman" panose="02000503020000020003" pitchFamily="2" charset="0"/>
              </a:rPr>
              <a:t>…</a:t>
            </a:r>
            <a:r>
              <a:rPr lang="en-US" sz="2200" dirty="0">
                <a:solidFill>
                  <a:srgbClr val="FF9300"/>
                </a:solidFill>
                <a:latin typeface="Avenir Roman" panose="02000503020000020003" pitchFamily="2" charset="0"/>
              </a:rPr>
              <a:t> </a:t>
            </a:r>
            <a:r>
              <a:rPr lang="en-US" sz="2200" dirty="0">
                <a:solidFill>
                  <a:schemeClr val="bg1"/>
                </a:solidFill>
                <a:latin typeface="Avenir Roman" panose="02000503020000020003" pitchFamily="2" charset="0"/>
              </a:rPr>
              <a:t>ROW FORMAT &lt;</a:t>
            </a:r>
            <a:r>
              <a:rPr lang="en-US" sz="2200" dirty="0" err="1">
                <a:solidFill>
                  <a:schemeClr val="bg1"/>
                </a:solidFill>
                <a:latin typeface="Avenir Roman" panose="02000503020000020003" pitchFamily="2" charset="0"/>
              </a:rPr>
              <a:t>row_format</a:t>
            </a:r>
            <a:r>
              <a:rPr lang="en-US" sz="2200" dirty="0">
                <a:solidFill>
                  <a:schemeClr val="bg1"/>
                </a:solidFill>
                <a:latin typeface="Avenir Roman" panose="02000503020000020003" pitchFamily="2" charset="0"/>
              </a:rPr>
              <a:t>&gt;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SEQUENCEFILE – 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Stored as compressed Sequence File.</a:t>
            </a:r>
            <a:endParaRPr lang="en-US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TEXTFILE – Stored as plain text file. 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RCFILE – Stored as record columnar file format.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ORC – Stored as ORC format. Supports ACID transactions. 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PARQUET – Stored as Parquet columnar format.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AVRO – Stored as Avro file format.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JSONFILE – Stored as JSON files. 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INPUTFORMAT </a:t>
            </a:r>
            <a:r>
              <a:rPr lang="en-US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input_format_classname</a:t>
            </a: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 OUTPUTFORMAT </a:t>
            </a:r>
            <a:r>
              <a:rPr lang="en-US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output_format_classname</a:t>
            </a: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 - Custom file format.</a:t>
            </a:r>
          </a:p>
        </p:txBody>
      </p:sp>
    </p:spTree>
    <p:extLst>
      <p:ext uri="{BB962C8B-B14F-4D97-AF65-F5344CB8AC3E}">
        <p14:creationId xmlns:p14="http://schemas.microsoft.com/office/powerpoint/2010/main" val="4102853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Record/Row Format (</a:t>
            </a:r>
            <a:r>
              <a:rPr lang="en-US" dirty="0" err="1">
                <a:solidFill>
                  <a:schemeClr val="bg1"/>
                </a:solidFill>
                <a:latin typeface="Avenir Roman" panose="02000503020000020003" pitchFamily="2" charset="0"/>
              </a:rPr>
              <a:t>SerDe</a:t>
            </a: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CFBA71-6028-7F44-AED6-4F492F0441FC}"/>
              </a:ext>
            </a:extLst>
          </p:cNvPr>
          <p:cNvSpPr/>
          <p:nvPr/>
        </p:nvSpPr>
        <p:spPr>
          <a:xfrm>
            <a:off x="638168" y="1857367"/>
            <a:ext cx="2119319" cy="9429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venir Roman" panose="02000503020000020003" pitchFamily="2" charset="0"/>
              </a:rPr>
              <a:t>Input file with records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E1AA6F-054E-C14C-AE96-93AEDC0EEA21}"/>
              </a:ext>
            </a:extLst>
          </p:cNvPr>
          <p:cNvSpPr/>
          <p:nvPr/>
        </p:nvSpPr>
        <p:spPr>
          <a:xfrm>
            <a:off x="4205283" y="1857365"/>
            <a:ext cx="2419350" cy="9429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venir Roman" panose="02000503020000020003" pitchFamily="2" charset="0"/>
              </a:rPr>
              <a:t>Read records one by one from file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061744-A40B-1C46-B3AB-960ABA715BCD}"/>
              </a:ext>
            </a:extLst>
          </p:cNvPr>
          <p:cNvSpPr/>
          <p:nvPr/>
        </p:nvSpPr>
        <p:spPr>
          <a:xfrm>
            <a:off x="8072430" y="1857366"/>
            <a:ext cx="2743202" cy="9429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venir Roman" panose="02000503020000020003" pitchFamily="2" charset="0"/>
              </a:rPr>
              <a:t>Convert each record into a Java object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3223CA-13A2-6146-8B43-65A6EC4E21C7}"/>
              </a:ext>
            </a:extLst>
          </p:cNvPr>
          <p:cNvSpPr/>
          <p:nvPr/>
        </p:nvSpPr>
        <p:spPr>
          <a:xfrm>
            <a:off x="8072430" y="3552816"/>
            <a:ext cx="2743202" cy="942975"/>
          </a:xfrm>
          <a:prstGeom prst="rect">
            <a:avLst/>
          </a:prstGeom>
          <a:solidFill>
            <a:srgbClr val="0096FF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venir Roman" panose="02000503020000020003" pitchFamily="2" charset="0"/>
              </a:rPr>
              <a:t>Serialize based on row format - </a:t>
            </a:r>
            <a:r>
              <a:rPr lang="en-US" sz="2000" dirty="0" err="1">
                <a:latin typeface="Avenir Roman" panose="02000503020000020003" pitchFamily="2" charset="0"/>
              </a:rPr>
              <a:t>SerDe</a:t>
            </a:r>
            <a:endParaRPr lang="en-US" sz="2000" dirty="0">
              <a:latin typeface="Avenir Roman" panose="02000503020000020003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105E94-07FC-5F42-B44E-ED1B96B304FD}"/>
              </a:ext>
            </a:extLst>
          </p:cNvPr>
          <p:cNvSpPr/>
          <p:nvPr/>
        </p:nvSpPr>
        <p:spPr>
          <a:xfrm>
            <a:off x="4205283" y="3552816"/>
            <a:ext cx="2419350" cy="9429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venir Roman" panose="02000503020000020003" pitchFamily="2" charset="0"/>
              </a:rPr>
              <a:t>Serialize each record objects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B2EFF3-FEB5-0F4D-9BC4-09B9F036042A}"/>
              </a:ext>
            </a:extLst>
          </p:cNvPr>
          <p:cNvSpPr/>
          <p:nvPr/>
        </p:nvSpPr>
        <p:spPr>
          <a:xfrm>
            <a:off x="638169" y="3517097"/>
            <a:ext cx="2119318" cy="9429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venir Roman" panose="02000503020000020003" pitchFamily="2" charset="0"/>
              </a:rPr>
              <a:t>Write to Hive table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E9C4E22-9004-454E-A87A-F1BDE5991247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2757487" y="2328853"/>
            <a:ext cx="1447796" cy="2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0FF702E-D58B-1342-A657-B33FC657BEBA}"/>
              </a:ext>
            </a:extLst>
          </p:cNvPr>
          <p:cNvCxnSpPr>
            <a:cxnSpLocks/>
          </p:cNvCxnSpPr>
          <p:nvPr/>
        </p:nvCxnSpPr>
        <p:spPr>
          <a:xfrm flipV="1">
            <a:off x="6624633" y="2328850"/>
            <a:ext cx="1447796" cy="2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A55357D-31FE-4945-A277-72571249D3A4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9444031" y="2800341"/>
            <a:ext cx="0" cy="752475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C5739CB-58E2-E548-A9A8-9B1C10144F44}"/>
              </a:ext>
            </a:extLst>
          </p:cNvPr>
          <p:cNvCxnSpPr>
            <a:cxnSpLocks/>
            <a:stCxn id="8" idx="1"/>
            <a:endCxn id="9" idx="3"/>
          </p:cNvCxnSpPr>
          <p:nvPr/>
        </p:nvCxnSpPr>
        <p:spPr>
          <a:xfrm flipH="1">
            <a:off x="6624633" y="4024304"/>
            <a:ext cx="144779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B9E1FD5-E17F-0E41-8263-361E0819DD12}"/>
              </a:ext>
            </a:extLst>
          </p:cNvPr>
          <p:cNvCxnSpPr>
            <a:cxnSpLocks/>
          </p:cNvCxnSpPr>
          <p:nvPr/>
        </p:nvCxnSpPr>
        <p:spPr>
          <a:xfrm flipH="1">
            <a:off x="2757486" y="4024303"/>
            <a:ext cx="144779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422CCEB9-4888-144B-A302-DAD9B484EC62}"/>
              </a:ext>
            </a:extLst>
          </p:cNvPr>
          <p:cNvSpPr/>
          <p:nvPr/>
        </p:nvSpPr>
        <p:spPr>
          <a:xfrm>
            <a:off x="638168" y="5362566"/>
            <a:ext cx="1690695" cy="738198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venir Roman" panose="02000503020000020003" pitchFamily="2" charset="0"/>
              </a:rPr>
              <a:t>Read from Hive table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6C725D-FE3F-334B-A2A3-5AAD5CC9D328}"/>
              </a:ext>
            </a:extLst>
          </p:cNvPr>
          <p:cNvSpPr/>
          <p:nvPr/>
        </p:nvSpPr>
        <p:spPr>
          <a:xfrm>
            <a:off x="3767126" y="5362566"/>
            <a:ext cx="1690695" cy="738198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venir Roman" panose="02000503020000020003" pitchFamily="2" charset="0"/>
              </a:rPr>
              <a:t>Serialized record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88F4D2-5578-E940-BB1D-3AEB67DEF90C}"/>
              </a:ext>
            </a:extLst>
          </p:cNvPr>
          <p:cNvSpPr/>
          <p:nvPr/>
        </p:nvSpPr>
        <p:spPr>
          <a:xfrm>
            <a:off x="6424605" y="5362567"/>
            <a:ext cx="2433645" cy="738198"/>
          </a:xfrm>
          <a:prstGeom prst="rect">
            <a:avLst/>
          </a:prstGeom>
          <a:solidFill>
            <a:srgbClr val="FF7E79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venir Roman" panose="02000503020000020003" pitchFamily="2" charset="0"/>
              </a:rPr>
              <a:t>Deserialize - </a:t>
            </a:r>
            <a:r>
              <a:rPr lang="en-US" sz="2000" dirty="0" err="1">
                <a:latin typeface="Avenir Roman" panose="02000503020000020003" pitchFamily="2" charset="0"/>
              </a:rPr>
              <a:t>SerDe</a:t>
            </a:r>
            <a:endParaRPr lang="en-US" sz="2000" dirty="0">
              <a:latin typeface="Avenir Roman" panose="02000503020000020003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353CCA-8BE1-C74E-8827-DA1D8383D62B}"/>
              </a:ext>
            </a:extLst>
          </p:cNvPr>
          <p:cNvSpPr/>
          <p:nvPr/>
        </p:nvSpPr>
        <p:spPr>
          <a:xfrm>
            <a:off x="9825034" y="5362566"/>
            <a:ext cx="1690695" cy="738198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venir Roman" panose="02000503020000020003" pitchFamily="2" charset="0"/>
              </a:rPr>
              <a:t>Show user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270A5AF-EDB3-1E48-A4DD-C26DA3965A09}"/>
              </a:ext>
            </a:extLst>
          </p:cNvPr>
          <p:cNvCxnSpPr>
            <a:cxnSpLocks/>
          </p:cNvCxnSpPr>
          <p:nvPr/>
        </p:nvCxnSpPr>
        <p:spPr>
          <a:xfrm flipV="1">
            <a:off x="2340775" y="5741188"/>
            <a:ext cx="1447796" cy="2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EAF28B8-5689-944D-BA11-9061577031A8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>
            <a:off x="5457821" y="5731665"/>
            <a:ext cx="966784" cy="1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1D79201-97B4-CA4B-8A2E-E402890702A1}"/>
              </a:ext>
            </a:extLst>
          </p:cNvPr>
          <p:cNvCxnSpPr>
            <a:cxnSpLocks/>
          </p:cNvCxnSpPr>
          <p:nvPr/>
        </p:nvCxnSpPr>
        <p:spPr>
          <a:xfrm>
            <a:off x="8858250" y="5717365"/>
            <a:ext cx="966784" cy="1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642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Record/Row Format (</a:t>
            </a:r>
            <a:r>
              <a:rPr lang="en-US" dirty="0" err="1">
                <a:solidFill>
                  <a:schemeClr val="bg1"/>
                </a:solidFill>
                <a:latin typeface="Avenir Roman" panose="02000503020000020003" pitchFamily="2" charset="0"/>
              </a:rPr>
              <a:t>SerDe</a:t>
            </a: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5723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Native </a:t>
            </a:r>
            <a:r>
              <a:rPr lang="en-US" sz="2400" dirty="0" err="1">
                <a:solidFill>
                  <a:schemeClr val="bg1"/>
                </a:solidFill>
                <a:latin typeface="Avenir Roman" panose="02000503020000020003" pitchFamily="2" charset="0"/>
              </a:rPr>
              <a:t>SerDe</a:t>
            </a:r>
            <a:endParaRPr lang="en-US" sz="24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“STORED AS” does not need explicit row format to be mentioned.</a:t>
            </a: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Hive </a:t>
            </a:r>
            <a:r>
              <a:rPr lang="en-US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SerDe</a:t>
            </a: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 library - 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org.apache.hadoop.hive.serde2</a:t>
            </a:r>
          </a:p>
          <a:p>
            <a:pPr lvl="1">
              <a:spcAft>
                <a:spcPts val="600"/>
              </a:spcAft>
            </a:pP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JSON - ROW FORMAT SERDE '</a:t>
            </a:r>
            <a:r>
              <a:rPr lang="en-IN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org.apache.hive.hcatalog.data.JsonSerDe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'</a:t>
            </a:r>
            <a:b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</a:b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STORED AS TEXTFILE</a:t>
            </a:r>
          </a:p>
          <a:p>
            <a:pPr lvl="1">
              <a:spcAft>
                <a:spcPts val="600"/>
              </a:spcAft>
            </a:pP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CSV - ROW FORMAT SERDE 'org.apache.hadoop.hive.serde2.OpenCSVSerde'</a:t>
            </a:r>
            <a:b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</a:b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STORED AS TEXTFILE</a:t>
            </a:r>
            <a:endParaRPr lang="en-US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Custom </a:t>
            </a:r>
            <a:r>
              <a:rPr lang="en-US" sz="2400" dirty="0" err="1">
                <a:solidFill>
                  <a:schemeClr val="bg1"/>
                </a:solidFill>
                <a:latin typeface="Avenir Roman" panose="02000503020000020003" pitchFamily="2" charset="0"/>
              </a:rPr>
              <a:t>SerDe</a:t>
            </a:r>
            <a:endParaRPr lang="en-US" sz="24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Stored as parquet, </a:t>
            </a:r>
            <a:r>
              <a:rPr lang="en-US" sz="2400" dirty="0" err="1">
                <a:solidFill>
                  <a:schemeClr val="bg1"/>
                </a:solidFill>
                <a:latin typeface="Avenir Roman" panose="02000503020000020003" pitchFamily="2" charset="0"/>
              </a:rPr>
              <a:t>rcfile</a:t>
            </a: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, orc, </a:t>
            </a:r>
            <a:r>
              <a:rPr lang="en-US" sz="2400" dirty="0" err="1">
                <a:solidFill>
                  <a:schemeClr val="bg1"/>
                </a:solidFill>
                <a:latin typeface="Avenir Roman" panose="02000503020000020003" pitchFamily="2" charset="0"/>
              </a:rPr>
              <a:t>avro</a:t>
            </a: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Avenir Roman" panose="02000503020000020003" pitchFamily="2" charset="0"/>
              </a:rPr>
              <a:t>sequencefile</a:t>
            </a: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 does not need ROW FORMAT to be mentioned. </a:t>
            </a:r>
            <a:r>
              <a:rPr lang="en-US" sz="2400" dirty="0">
                <a:solidFill>
                  <a:srgbClr val="FF9300"/>
                </a:solidFill>
                <a:latin typeface="Avenir Roman" panose="02000503020000020003" pitchFamily="2" charset="0"/>
              </a:rPr>
              <a:t>Row format is controlled by the file format itself.</a:t>
            </a:r>
          </a:p>
        </p:txBody>
      </p:sp>
    </p:spTree>
    <p:extLst>
      <p:ext uri="{BB962C8B-B14F-4D97-AF65-F5344CB8AC3E}">
        <p14:creationId xmlns:p14="http://schemas.microsoft.com/office/powerpoint/2010/main" val="1476581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Record/Row Format (</a:t>
            </a:r>
            <a:r>
              <a:rPr lang="en-US" dirty="0" err="1">
                <a:solidFill>
                  <a:schemeClr val="bg1"/>
                </a:solidFill>
                <a:latin typeface="Avenir Roman" panose="02000503020000020003" pitchFamily="2" charset="0"/>
              </a:rPr>
              <a:t>SerDe</a:t>
            </a: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34713" cy="4351338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CREATE TABLE </a:t>
            </a:r>
            <a:r>
              <a:rPr lang="en-US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de_test</a:t>
            </a:r>
            <a:endParaRPr lang="en-US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ROW FORMAT SERDE ‘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org.apache.hadoop.hive.serde2.avro.AvroSerDe’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STORED AS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INPUTFORMAT ‘</a:t>
            </a:r>
            <a:r>
              <a:rPr lang="en-IN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org.apache.hadoop.hive.ql.io.avro.AvroContainerInputFormat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’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OUTPUTFORMAT ‘</a:t>
            </a:r>
            <a:r>
              <a:rPr lang="en-IN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org.apache.hadoop.hive.ql.io.avro.AvroContainerOutputFormat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’</a:t>
            </a:r>
            <a:endParaRPr lang="en-US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8526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Create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CREATE TABLE </a:t>
            </a:r>
            <a:r>
              <a:rPr lang="en-US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table_name</a:t>
            </a:r>
            <a:endParaRPr lang="en-US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CREATE EXTERNAL TABLE </a:t>
            </a:r>
            <a:r>
              <a:rPr lang="en-US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table_name</a:t>
            </a:r>
            <a:endParaRPr lang="en-US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CREATE TEMPORARY TABLE </a:t>
            </a:r>
            <a:r>
              <a:rPr lang="en-US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table_name</a:t>
            </a:r>
            <a:endParaRPr lang="en-US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STORED AS </a:t>
            </a:r>
            <a:r>
              <a:rPr lang="en-US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file_format</a:t>
            </a:r>
            <a:endParaRPr lang="en-US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ROW FORMATE SERDE 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LOCATION </a:t>
            </a:r>
            <a:r>
              <a:rPr lang="en-US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distributed_storage_path</a:t>
            </a:r>
            <a:endParaRPr lang="en-US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TBLPROPERTIES ( … )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PRIMARY KEY (</a:t>
            </a:r>
            <a:r>
              <a:rPr lang="en-US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col_name</a:t>
            </a: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, … )</a:t>
            </a:r>
          </a:p>
        </p:txBody>
      </p:sp>
    </p:spTree>
    <p:extLst>
      <p:ext uri="{BB962C8B-B14F-4D97-AF65-F5344CB8AC3E}">
        <p14:creationId xmlns:p14="http://schemas.microsoft.com/office/powerpoint/2010/main" val="32796035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Hive Write Path – Service 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5EE17C-4F96-D54B-81E2-3AB774B3C6B3}"/>
              </a:ext>
            </a:extLst>
          </p:cNvPr>
          <p:cNvSpPr/>
          <p:nvPr/>
        </p:nvSpPr>
        <p:spPr>
          <a:xfrm>
            <a:off x="1323968" y="2043104"/>
            <a:ext cx="2119319" cy="9429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venir Roman" panose="02000503020000020003" pitchFamily="2" charset="0"/>
              </a:rPr>
              <a:t>Create table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D7C6659-F06E-7645-89ED-9CD0849A6822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3443287" y="2514590"/>
            <a:ext cx="1447796" cy="2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EF179E1-4293-A84E-B755-4B39796B3B56}"/>
              </a:ext>
            </a:extLst>
          </p:cNvPr>
          <p:cNvSpPr/>
          <p:nvPr/>
        </p:nvSpPr>
        <p:spPr>
          <a:xfrm>
            <a:off x="4891082" y="2043102"/>
            <a:ext cx="2119319" cy="9429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latin typeface="Avenir Roman" panose="02000503020000020003" pitchFamily="2" charset="0"/>
              </a:rPr>
              <a:t>Metastore</a:t>
            </a:r>
            <a:r>
              <a:rPr lang="en-US" sz="2000" dirty="0">
                <a:latin typeface="Avenir Roman" panose="02000503020000020003" pitchFamily="2" charset="0"/>
              </a:rPr>
              <a:t> Service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F6C7A96-9041-0740-A0C5-55EDA7732C77}"/>
              </a:ext>
            </a:extLst>
          </p:cNvPr>
          <p:cNvCxnSpPr>
            <a:cxnSpLocks/>
          </p:cNvCxnSpPr>
          <p:nvPr/>
        </p:nvCxnSpPr>
        <p:spPr>
          <a:xfrm flipV="1">
            <a:off x="7010400" y="2509806"/>
            <a:ext cx="1447796" cy="2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n 8">
            <a:extLst>
              <a:ext uri="{FF2B5EF4-FFF2-40B4-BE49-F238E27FC236}">
                <a16:creationId xmlns:a16="http://schemas.microsoft.com/office/drawing/2014/main" id="{32160449-D3B5-C04A-9ED5-B118C7853D07}"/>
              </a:ext>
            </a:extLst>
          </p:cNvPr>
          <p:cNvSpPr/>
          <p:nvPr/>
        </p:nvSpPr>
        <p:spPr>
          <a:xfrm>
            <a:off x="8458196" y="1876425"/>
            <a:ext cx="1871667" cy="1261819"/>
          </a:xfrm>
          <a:prstGeom prst="can">
            <a:avLst>
              <a:gd name="adj" fmla="val 33962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latin typeface="Avenir Roman" panose="02000503020000020003" pitchFamily="2" charset="0"/>
              </a:rPr>
              <a:t>Metastore</a:t>
            </a:r>
            <a:r>
              <a:rPr lang="en-US" dirty="0">
                <a:latin typeface="Avenir Roman" panose="02000503020000020003" pitchFamily="2" charset="0"/>
              </a:rPr>
              <a:t> database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4BFD18-628B-654F-AC7E-F9A4BD7BF41B}"/>
              </a:ext>
            </a:extLst>
          </p:cNvPr>
          <p:cNvSpPr/>
          <p:nvPr/>
        </p:nvSpPr>
        <p:spPr>
          <a:xfrm>
            <a:off x="1323968" y="3619460"/>
            <a:ext cx="2119319" cy="9429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venir Roman" panose="02000503020000020003" pitchFamily="2" charset="0"/>
              </a:rPr>
              <a:t>Insert Data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C5C664-3C7E-7542-A665-67979B58A6BB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3443287" y="4090946"/>
            <a:ext cx="1447796" cy="2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7B60CFD-ED0E-0340-820D-B89141CF3A60}"/>
              </a:ext>
            </a:extLst>
          </p:cNvPr>
          <p:cNvSpPr/>
          <p:nvPr/>
        </p:nvSpPr>
        <p:spPr>
          <a:xfrm>
            <a:off x="4891082" y="3619458"/>
            <a:ext cx="2119319" cy="9429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latin typeface="Avenir Roman" panose="02000503020000020003" pitchFamily="2" charset="0"/>
              </a:rPr>
              <a:t>Metastore</a:t>
            </a:r>
            <a:r>
              <a:rPr lang="en-US" sz="2000" dirty="0">
                <a:latin typeface="Avenir Roman" panose="02000503020000020003" pitchFamily="2" charset="0"/>
              </a:rPr>
              <a:t> Service</a:t>
            </a:r>
          </a:p>
        </p:txBody>
      </p:sp>
      <p:sp>
        <p:nvSpPr>
          <p:cNvPr id="14" name="Can 13">
            <a:extLst>
              <a:ext uri="{FF2B5EF4-FFF2-40B4-BE49-F238E27FC236}">
                <a16:creationId xmlns:a16="http://schemas.microsoft.com/office/drawing/2014/main" id="{542CE0ED-6AAC-FD43-8996-676298E8226D}"/>
              </a:ext>
            </a:extLst>
          </p:cNvPr>
          <p:cNvSpPr/>
          <p:nvPr/>
        </p:nvSpPr>
        <p:spPr>
          <a:xfrm>
            <a:off x="8458196" y="3452781"/>
            <a:ext cx="1871667" cy="1261819"/>
          </a:xfrm>
          <a:prstGeom prst="can">
            <a:avLst>
              <a:gd name="adj" fmla="val 33962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latin typeface="Avenir Roman" panose="02000503020000020003" pitchFamily="2" charset="0"/>
              </a:rPr>
              <a:t>Metastore</a:t>
            </a:r>
            <a:r>
              <a:rPr lang="en-US" dirty="0">
                <a:latin typeface="Avenir Roman" panose="02000503020000020003" pitchFamily="2" charset="0"/>
              </a:rPr>
              <a:t> database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9A3EA74-FFED-9C48-805A-BCD15AB51ED4}"/>
              </a:ext>
            </a:extLst>
          </p:cNvPr>
          <p:cNvCxnSpPr>
            <a:stCxn id="12" idx="3"/>
            <a:endCxn id="14" idx="2"/>
          </p:cNvCxnSpPr>
          <p:nvPr/>
        </p:nvCxnSpPr>
        <p:spPr>
          <a:xfrm flipV="1">
            <a:off x="7010401" y="4083691"/>
            <a:ext cx="1447795" cy="7255"/>
          </a:xfrm>
          <a:prstGeom prst="straightConnector1">
            <a:avLst/>
          </a:prstGeom>
          <a:ln w="28575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C95DCEE-8864-8D48-BCCE-E6B03A91DCF1}"/>
              </a:ext>
            </a:extLst>
          </p:cNvPr>
          <p:cNvSpPr/>
          <p:nvPr/>
        </p:nvSpPr>
        <p:spPr>
          <a:xfrm>
            <a:off x="4891082" y="4900570"/>
            <a:ext cx="2119319" cy="9429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venir Roman" panose="02000503020000020003" pitchFamily="2" charset="0"/>
              </a:rPr>
              <a:t>Filesystem Service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7A12833-44FC-4449-8770-3FF267CB91BB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>
            <a:off x="3443287" y="4090948"/>
            <a:ext cx="1447795" cy="128111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be 22">
            <a:extLst>
              <a:ext uri="{FF2B5EF4-FFF2-40B4-BE49-F238E27FC236}">
                <a16:creationId xmlns:a16="http://schemas.microsoft.com/office/drawing/2014/main" id="{5C3D8415-DC1D-A84C-957C-4E6890FF5FBC}"/>
              </a:ext>
            </a:extLst>
          </p:cNvPr>
          <p:cNvSpPr/>
          <p:nvPr/>
        </p:nvSpPr>
        <p:spPr>
          <a:xfrm>
            <a:off x="8458196" y="5024512"/>
            <a:ext cx="1871667" cy="695092"/>
          </a:xfrm>
          <a:prstGeom prst="cube">
            <a:avLst>
              <a:gd name="adj" fmla="val 40790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latin typeface="Avenir Roman" panose="02000503020000020003" pitchFamily="2" charset="0"/>
              </a:rPr>
              <a:t>HDFS</a:t>
            </a:r>
            <a:endParaRPr lang="en-US" dirty="0">
              <a:latin typeface="Avenir Roman" panose="02000503020000020003" pitchFamily="2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2897DD9-2975-1744-9093-77FAB1B0D9A1}"/>
              </a:ext>
            </a:extLst>
          </p:cNvPr>
          <p:cNvCxnSpPr>
            <a:cxnSpLocks/>
          </p:cNvCxnSpPr>
          <p:nvPr/>
        </p:nvCxnSpPr>
        <p:spPr>
          <a:xfrm flipV="1">
            <a:off x="7010400" y="5372057"/>
            <a:ext cx="1447796" cy="2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6205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 animBg="1"/>
      <p:bldP spid="10" grpId="0" animBg="1"/>
      <p:bldP spid="12" grpId="0" animBg="1"/>
      <p:bldP spid="14" grpId="0" animBg="1"/>
      <p:bldP spid="19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Hive Read Path – Service 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E11D5E-F3B0-2A4C-9AB4-D468DDDD2034}"/>
              </a:ext>
            </a:extLst>
          </p:cNvPr>
          <p:cNvSpPr/>
          <p:nvPr/>
        </p:nvSpPr>
        <p:spPr>
          <a:xfrm>
            <a:off x="966781" y="2104985"/>
            <a:ext cx="2119319" cy="9429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venir Roman" panose="02000503020000020003" pitchFamily="2" charset="0"/>
              </a:rPr>
              <a:t>Read Data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6089B94-631F-1342-B827-A01F74CC3612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3086100" y="2576471"/>
            <a:ext cx="1447796" cy="2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C6293731-F35F-3E4C-853D-97CB907945EB}"/>
              </a:ext>
            </a:extLst>
          </p:cNvPr>
          <p:cNvSpPr/>
          <p:nvPr/>
        </p:nvSpPr>
        <p:spPr>
          <a:xfrm>
            <a:off x="4533895" y="2104983"/>
            <a:ext cx="2119319" cy="9429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latin typeface="Avenir Roman" panose="02000503020000020003" pitchFamily="2" charset="0"/>
              </a:rPr>
              <a:t>Metastore</a:t>
            </a:r>
            <a:r>
              <a:rPr lang="en-US" sz="2000" dirty="0">
                <a:latin typeface="Avenir Roman" panose="02000503020000020003" pitchFamily="2" charset="0"/>
              </a:rPr>
              <a:t> Service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A3CF450F-0465-0547-8840-CA71BCF13EB2}"/>
              </a:ext>
            </a:extLst>
          </p:cNvPr>
          <p:cNvSpPr/>
          <p:nvPr/>
        </p:nvSpPr>
        <p:spPr>
          <a:xfrm>
            <a:off x="8101009" y="1938306"/>
            <a:ext cx="1871667" cy="1261819"/>
          </a:xfrm>
          <a:prstGeom prst="can">
            <a:avLst>
              <a:gd name="adj" fmla="val 33962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latin typeface="Avenir Roman" panose="02000503020000020003" pitchFamily="2" charset="0"/>
              </a:rPr>
              <a:t>Metastore</a:t>
            </a:r>
            <a:r>
              <a:rPr lang="en-US" dirty="0">
                <a:latin typeface="Avenir Roman" panose="02000503020000020003" pitchFamily="2" charset="0"/>
              </a:rPr>
              <a:t> database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FD9EE21-1B01-3E40-924E-573544821B37}"/>
              </a:ext>
            </a:extLst>
          </p:cNvPr>
          <p:cNvCxnSpPr>
            <a:stCxn id="6" idx="3"/>
            <a:endCxn id="7" idx="2"/>
          </p:cNvCxnSpPr>
          <p:nvPr/>
        </p:nvCxnSpPr>
        <p:spPr>
          <a:xfrm flipV="1">
            <a:off x="6653214" y="2569216"/>
            <a:ext cx="1447795" cy="7255"/>
          </a:xfrm>
          <a:prstGeom prst="straightConnector1">
            <a:avLst/>
          </a:prstGeom>
          <a:ln w="28575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2C5B45A-B0F2-5F4A-A728-DCFDD35E28A3}"/>
              </a:ext>
            </a:extLst>
          </p:cNvPr>
          <p:cNvSpPr/>
          <p:nvPr/>
        </p:nvSpPr>
        <p:spPr>
          <a:xfrm>
            <a:off x="4533895" y="3386095"/>
            <a:ext cx="2119319" cy="9429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venir Roman" panose="02000503020000020003" pitchFamily="2" charset="0"/>
              </a:rPr>
              <a:t>Filesystem Service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6FD7DAB-FAC6-3F44-9C58-1095C95FA88C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>
            <a:off x="3086100" y="2576473"/>
            <a:ext cx="1447795" cy="128111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be 10">
            <a:extLst>
              <a:ext uri="{FF2B5EF4-FFF2-40B4-BE49-F238E27FC236}">
                <a16:creationId xmlns:a16="http://schemas.microsoft.com/office/drawing/2014/main" id="{CC8C4106-FD2F-D948-AEE4-5ECA12BA3417}"/>
              </a:ext>
            </a:extLst>
          </p:cNvPr>
          <p:cNvSpPr/>
          <p:nvPr/>
        </p:nvSpPr>
        <p:spPr>
          <a:xfrm>
            <a:off x="8101009" y="3510037"/>
            <a:ext cx="1871667" cy="695092"/>
          </a:xfrm>
          <a:prstGeom prst="cube">
            <a:avLst>
              <a:gd name="adj" fmla="val 40790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latin typeface="Avenir Roman" panose="02000503020000020003" pitchFamily="2" charset="0"/>
              </a:rPr>
              <a:t>HDFS</a:t>
            </a:r>
            <a:endParaRPr lang="en-US" dirty="0">
              <a:latin typeface="Avenir Roman" panose="02000503020000020003" pitchFamily="2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40A544D-FEE3-424F-8FFC-3085B60CC853}"/>
              </a:ext>
            </a:extLst>
          </p:cNvPr>
          <p:cNvCxnSpPr>
            <a:cxnSpLocks/>
          </p:cNvCxnSpPr>
          <p:nvPr/>
        </p:nvCxnSpPr>
        <p:spPr>
          <a:xfrm flipV="1">
            <a:off x="6653213" y="3857582"/>
            <a:ext cx="1447796" cy="2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775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75" y="2865437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Hive hands-on </a:t>
            </a:r>
          </a:p>
        </p:txBody>
      </p:sp>
    </p:spTree>
    <p:extLst>
      <p:ext uri="{BB962C8B-B14F-4D97-AF65-F5344CB8AC3E}">
        <p14:creationId xmlns:p14="http://schemas.microsoft.com/office/powerpoint/2010/main" val="4464368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Table Partitioning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57E18A-53A9-1C43-A20F-6E9863AA1078}"/>
              </a:ext>
            </a:extLst>
          </p:cNvPr>
          <p:cNvSpPr/>
          <p:nvPr/>
        </p:nvSpPr>
        <p:spPr>
          <a:xfrm>
            <a:off x="4308230" y="1690688"/>
            <a:ext cx="2145323" cy="618758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venir Roman" panose="02000503020000020003" pitchFamily="2" charset="0"/>
              </a:rPr>
              <a:t>car_sales_data</a:t>
            </a:r>
            <a:endParaRPr lang="en-US" dirty="0">
              <a:latin typeface="Avenir Roman" panose="02000503020000020003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314D76-A53C-3747-8C43-F60F31262FE8}"/>
              </a:ext>
            </a:extLst>
          </p:cNvPr>
          <p:cNvSpPr/>
          <p:nvPr/>
        </p:nvSpPr>
        <p:spPr>
          <a:xfrm>
            <a:off x="339968" y="3074010"/>
            <a:ext cx="2145323" cy="618758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venir Roman" panose="02000503020000020003" pitchFamily="2" charset="0"/>
              </a:rPr>
              <a:t>model_yr</a:t>
            </a:r>
            <a:r>
              <a:rPr lang="en-US" dirty="0">
                <a:latin typeface="Avenir Roman" panose="02000503020000020003" pitchFamily="2" charset="0"/>
              </a:rPr>
              <a:t> = 2021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A4D946-2A57-C845-9230-D89FA7239E8E}"/>
              </a:ext>
            </a:extLst>
          </p:cNvPr>
          <p:cNvSpPr/>
          <p:nvPr/>
        </p:nvSpPr>
        <p:spPr>
          <a:xfrm>
            <a:off x="2907322" y="3074010"/>
            <a:ext cx="2145323" cy="618758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venir Roman" panose="02000503020000020003" pitchFamily="2" charset="0"/>
              </a:rPr>
              <a:t>model_yr</a:t>
            </a:r>
            <a:r>
              <a:rPr lang="en-US" dirty="0">
                <a:latin typeface="Avenir Roman" panose="02000503020000020003" pitchFamily="2" charset="0"/>
              </a:rPr>
              <a:t> = 2022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2DE94F-53EA-F042-85EC-1BCE92B02422}"/>
              </a:ext>
            </a:extLst>
          </p:cNvPr>
          <p:cNvSpPr/>
          <p:nvPr/>
        </p:nvSpPr>
        <p:spPr>
          <a:xfrm>
            <a:off x="5474676" y="3077430"/>
            <a:ext cx="2145323" cy="618758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venir Roman" panose="02000503020000020003" pitchFamily="2" charset="0"/>
              </a:rPr>
              <a:t>model_yr</a:t>
            </a:r>
            <a:r>
              <a:rPr lang="en-US" dirty="0">
                <a:latin typeface="Avenir Roman" panose="02000503020000020003" pitchFamily="2" charset="0"/>
              </a:rPr>
              <a:t> = 2023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FB8314-573E-3D46-8C2E-24B1F43FDBC1}"/>
              </a:ext>
            </a:extLst>
          </p:cNvPr>
          <p:cNvSpPr/>
          <p:nvPr/>
        </p:nvSpPr>
        <p:spPr>
          <a:xfrm>
            <a:off x="8042030" y="3076574"/>
            <a:ext cx="2145323" cy="618758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venir Roman" panose="02000503020000020003" pitchFamily="2" charset="0"/>
              </a:rPr>
              <a:t>model_yr</a:t>
            </a:r>
            <a:r>
              <a:rPr lang="en-US" dirty="0">
                <a:latin typeface="Avenir Roman" panose="02000503020000020003" pitchFamily="2" charset="0"/>
              </a:rPr>
              <a:t> = 2024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AD0A774C-6C35-124E-B9E4-F47F068DBB32}"/>
              </a:ext>
            </a:extLst>
          </p:cNvPr>
          <p:cNvCxnSpPr>
            <a:stCxn id="8" idx="2"/>
            <a:endCxn id="9" idx="0"/>
          </p:cNvCxnSpPr>
          <p:nvPr/>
        </p:nvCxnSpPr>
        <p:spPr>
          <a:xfrm rot="5400000">
            <a:off x="3014479" y="707597"/>
            <a:ext cx="764564" cy="3968262"/>
          </a:xfrm>
          <a:prstGeom prst="bentConnector3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CA63C915-01C2-3540-8ED3-727E2ABF00AC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rot="5400000">
            <a:off x="4298156" y="1991274"/>
            <a:ext cx="764564" cy="1400908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46EDD34B-1327-4E43-8492-9C6E8FB3B920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rot="16200000" flipH="1">
            <a:off x="5580123" y="2110215"/>
            <a:ext cx="767984" cy="1166446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D68E30A2-2586-054D-A480-FF1CB09DC8C8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 rot="16200000" flipH="1">
            <a:off x="6864228" y="826110"/>
            <a:ext cx="767128" cy="3733800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6A708FF-34FA-0A43-95C4-E53D2B0584BD}"/>
              </a:ext>
            </a:extLst>
          </p:cNvPr>
          <p:cNvSpPr txBox="1"/>
          <p:nvPr/>
        </p:nvSpPr>
        <p:spPr>
          <a:xfrm>
            <a:off x="10404231" y="3046437"/>
            <a:ext cx="1699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Partition Column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E2F27FB-D665-4249-8F42-FE8855E0260D}"/>
              </a:ext>
            </a:extLst>
          </p:cNvPr>
          <p:cNvSpPr/>
          <p:nvPr/>
        </p:nvSpPr>
        <p:spPr>
          <a:xfrm>
            <a:off x="339968" y="4304933"/>
            <a:ext cx="890956" cy="36085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Roman" panose="02000503020000020003" pitchFamily="2" charset="0"/>
              </a:rPr>
              <a:t>color=r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FEB046-9527-B142-83DD-54C03E61FFC6}"/>
              </a:ext>
            </a:extLst>
          </p:cNvPr>
          <p:cNvSpPr/>
          <p:nvPr/>
        </p:nvSpPr>
        <p:spPr>
          <a:xfrm>
            <a:off x="1594335" y="4304933"/>
            <a:ext cx="890956" cy="36085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Roman" panose="02000503020000020003" pitchFamily="2" charset="0"/>
              </a:rPr>
              <a:t>color=b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BEAD41-50D8-1444-B478-473E68F784A7}"/>
              </a:ext>
            </a:extLst>
          </p:cNvPr>
          <p:cNvSpPr/>
          <p:nvPr/>
        </p:nvSpPr>
        <p:spPr>
          <a:xfrm>
            <a:off x="2907322" y="4294491"/>
            <a:ext cx="890956" cy="36085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Roman" panose="02000503020000020003" pitchFamily="2" charset="0"/>
              </a:rPr>
              <a:t>color=y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0A56706-3663-D843-B81C-480D4A97C6A5}"/>
              </a:ext>
            </a:extLst>
          </p:cNvPr>
          <p:cNvSpPr/>
          <p:nvPr/>
        </p:nvSpPr>
        <p:spPr>
          <a:xfrm>
            <a:off x="6729043" y="4304933"/>
            <a:ext cx="890956" cy="36085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Roman" panose="02000503020000020003" pitchFamily="2" charset="0"/>
              </a:rPr>
              <a:t>color=r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C2F2AD4-7659-C641-B6C8-65338DFCBF7D}"/>
              </a:ext>
            </a:extLst>
          </p:cNvPr>
          <p:cNvSpPr/>
          <p:nvPr/>
        </p:nvSpPr>
        <p:spPr>
          <a:xfrm>
            <a:off x="5474676" y="4308778"/>
            <a:ext cx="890956" cy="36085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Roman" panose="02000503020000020003" pitchFamily="2" charset="0"/>
              </a:rPr>
              <a:t>color=y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F0650C8-8EE0-2A41-B49E-C28F3E2E4614}"/>
              </a:ext>
            </a:extLst>
          </p:cNvPr>
          <p:cNvSpPr/>
          <p:nvPr/>
        </p:nvSpPr>
        <p:spPr>
          <a:xfrm>
            <a:off x="4161689" y="4294491"/>
            <a:ext cx="890956" cy="36085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Roman" panose="02000503020000020003" pitchFamily="2" charset="0"/>
              </a:rPr>
              <a:t>color=b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2E2530A-C72E-B746-88B0-55A72BE70583}"/>
              </a:ext>
            </a:extLst>
          </p:cNvPr>
          <p:cNvSpPr/>
          <p:nvPr/>
        </p:nvSpPr>
        <p:spPr>
          <a:xfrm>
            <a:off x="8047892" y="4294491"/>
            <a:ext cx="890956" cy="36085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Roman" panose="02000503020000020003" pitchFamily="2" charset="0"/>
              </a:rPr>
              <a:t>color=r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37F0253-DC0C-414B-A1F6-F67822E792C1}"/>
              </a:ext>
            </a:extLst>
          </p:cNvPr>
          <p:cNvSpPr/>
          <p:nvPr/>
        </p:nvSpPr>
        <p:spPr>
          <a:xfrm>
            <a:off x="9296397" y="4304933"/>
            <a:ext cx="890956" cy="36085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Roman" panose="02000503020000020003" pitchFamily="2" charset="0"/>
              </a:rPr>
              <a:t>color=b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2DD2480-13C9-F041-B51F-02ACC639F7BB}"/>
              </a:ext>
            </a:extLst>
          </p:cNvPr>
          <p:cNvSpPr/>
          <p:nvPr/>
        </p:nvSpPr>
        <p:spPr>
          <a:xfrm>
            <a:off x="339968" y="5559302"/>
            <a:ext cx="890956" cy="36085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Roman" panose="02000503020000020003" pitchFamily="2" charset="0"/>
              </a:rPr>
              <a:t>data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E28171C-B4DA-AB48-A4B7-1A35AC0DA2AF}"/>
              </a:ext>
            </a:extLst>
          </p:cNvPr>
          <p:cNvSpPr/>
          <p:nvPr/>
        </p:nvSpPr>
        <p:spPr>
          <a:xfrm>
            <a:off x="4161689" y="5559302"/>
            <a:ext cx="890956" cy="36085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Roman" panose="02000503020000020003" pitchFamily="2" charset="0"/>
              </a:rPr>
              <a:t>data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551F43C-5907-8A4B-AD09-A6765C2B9425}"/>
              </a:ext>
            </a:extLst>
          </p:cNvPr>
          <p:cNvSpPr/>
          <p:nvPr/>
        </p:nvSpPr>
        <p:spPr>
          <a:xfrm>
            <a:off x="2901459" y="5559302"/>
            <a:ext cx="890956" cy="36085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Roman" panose="02000503020000020003" pitchFamily="2" charset="0"/>
              </a:rPr>
              <a:t>data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8EC4025-77AC-9C44-806F-E3632C743090}"/>
              </a:ext>
            </a:extLst>
          </p:cNvPr>
          <p:cNvSpPr/>
          <p:nvPr/>
        </p:nvSpPr>
        <p:spPr>
          <a:xfrm>
            <a:off x="1535724" y="5559302"/>
            <a:ext cx="890956" cy="36085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Roman" panose="02000503020000020003" pitchFamily="2" charset="0"/>
              </a:rPr>
              <a:t>data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0E18754-F2E0-1243-A78F-2685CFE76997}"/>
              </a:ext>
            </a:extLst>
          </p:cNvPr>
          <p:cNvSpPr/>
          <p:nvPr/>
        </p:nvSpPr>
        <p:spPr>
          <a:xfrm>
            <a:off x="6729043" y="5559302"/>
            <a:ext cx="890956" cy="36085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Roman" panose="02000503020000020003" pitchFamily="2" charset="0"/>
              </a:rPr>
              <a:t>data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F8A7CF1-17C4-B546-BAFC-20E3F39400EC}"/>
              </a:ext>
            </a:extLst>
          </p:cNvPr>
          <p:cNvSpPr/>
          <p:nvPr/>
        </p:nvSpPr>
        <p:spPr>
          <a:xfrm>
            <a:off x="5421919" y="5559302"/>
            <a:ext cx="890956" cy="36085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Roman" panose="02000503020000020003" pitchFamily="2" charset="0"/>
              </a:rPr>
              <a:t>data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28E92C7-D76C-E44E-9545-8A082C2E75B4}"/>
              </a:ext>
            </a:extLst>
          </p:cNvPr>
          <p:cNvSpPr/>
          <p:nvPr/>
        </p:nvSpPr>
        <p:spPr>
          <a:xfrm>
            <a:off x="9296398" y="5559302"/>
            <a:ext cx="890956" cy="36085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Roman" panose="02000503020000020003" pitchFamily="2" charset="0"/>
              </a:rPr>
              <a:t>data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0B7C82D-E174-C34C-A884-9A5D96281B78}"/>
              </a:ext>
            </a:extLst>
          </p:cNvPr>
          <p:cNvSpPr/>
          <p:nvPr/>
        </p:nvSpPr>
        <p:spPr>
          <a:xfrm>
            <a:off x="8036167" y="5559302"/>
            <a:ext cx="890956" cy="36085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Roman" panose="02000503020000020003" pitchFamily="2" charset="0"/>
              </a:rPr>
              <a:t>data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CD604C2-FE77-334D-989A-A4DBF4E711D0}"/>
              </a:ext>
            </a:extLst>
          </p:cNvPr>
          <p:cNvCxnSpPr>
            <a:stCxn id="9" idx="2"/>
            <a:endCxn id="29" idx="0"/>
          </p:cNvCxnSpPr>
          <p:nvPr/>
        </p:nvCxnSpPr>
        <p:spPr>
          <a:xfrm flipH="1">
            <a:off x="785446" y="3692768"/>
            <a:ext cx="627184" cy="612165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5023BDC-8868-944E-9FE1-42B393C3AD88}"/>
              </a:ext>
            </a:extLst>
          </p:cNvPr>
          <p:cNvCxnSpPr>
            <a:cxnSpLocks/>
            <a:stCxn id="9" idx="2"/>
            <a:endCxn id="30" idx="0"/>
          </p:cNvCxnSpPr>
          <p:nvPr/>
        </p:nvCxnSpPr>
        <p:spPr>
          <a:xfrm>
            <a:off x="1412630" y="3692768"/>
            <a:ext cx="627183" cy="612165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E569B3D-4F4E-D248-8230-24D1100DF09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3979984" y="3692768"/>
            <a:ext cx="641837" cy="591283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3B0BB5F-E775-EB4E-A5AD-B1E41C55D773}"/>
              </a:ext>
            </a:extLst>
          </p:cNvPr>
          <p:cNvCxnSpPr>
            <a:cxnSpLocks/>
            <a:stCxn id="10" idx="2"/>
            <a:endCxn id="31" idx="0"/>
          </p:cNvCxnSpPr>
          <p:nvPr/>
        </p:nvCxnSpPr>
        <p:spPr>
          <a:xfrm flipH="1">
            <a:off x="3352800" y="3692768"/>
            <a:ext cx="627184" cy="601723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907DADA-F07D-944E-AC8A-C2245F119B40}"/>
              </a:ext>
            </a:extLst>
          </p:cNvPr>
          <p:cNvCxnSpPr>
            <a:cxnSpLocks/>
            <a:stCxn id="11" idx="2"/>
            <a:endCxn id="33" idx="0"/>
          </p:cNvCxnSpPr>
          <p:nvPr/>
        </p:nvCxnSpPr>
        <p:spPr>
          <a:xfrm flipH="1">
            <a:off x="5920154" y="3696188"/>
            <a:ext cx="627184" cy="61259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CD6107D-B87E-6143-9F0B-3015B2F07071}"/>
              </a:ext>
            </a:extLst>
          </p:cNvPr>
          <p:cNvCxnSpPr>
            <a:cxnSpLocks/>
            <a:stCxn id="11" idx="2"/>
            <a:endCxn id="32" idx="0"/>
          </p:cNvCxnSpPr>
          <p:nvPr/>
        </p:nvCxnSpPr>
        <p:spPr>
          <a:xfrm>
            <a:off x="6547338" y="3696188"/>
            <a:ext cx="627183" cy="608745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F2F3D4B-BBFF-E54B-A849-EFF4A0E49742}"/>
              </a:ext>
            </a:extLst>
          </p:cNvPr>
          <p:cNvCxnSpPr>
            <a:cxnSpLocks/>
            <a:stCxn id="12" idx="2"/>
            <a:endCxn id="35" idx="0"/>
          </p:cNvCxnSpPr>
          <p:nvPr/>
        </p:nvCxnSpPr>
        <p:spPr>
          <a:xfrm flipH="1">
            <a:off x="8493370" y="3695332"/>
            <a:ext cx="621322" cy="599159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024FA19-AF1D-E349-A330-D6E98B64DC28}"/>
              </a:ext>
            </a:extLst>
          </p:cNvPr>
          <p:cNvCxnSpPr>
            <a:cxnSpLocks/>
            <a:stCxn id="12" idx="2"/>
            <a:endCxn id="36" idx="0"/>
          </p:cNvCxnSpPr>
          <p:nvPr/>
        </p:nvCxnSpPr>
        <p:spPr>
          <a:xfrm>
            <a:off x="9114692" y="3695332"/>
            <a:ext cx="627183" cy="609601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5497263-023D-8840-BF36-022516754839}"/>
              </a:ext>
            </a:extLst>
          </p:cNvPr>
          <p:cNvCxnSpPr>
            <a:cxnSpLocks/>
            <a:stCxn id="29" idx="2"/>
            <a:endCxn id="37" idx="0"/>
          </p:cNvCxnSpPr>
          <p:nvPr/>
        </p:nvCxnSpPr>
        <p:spPr>
          <a:xfrm>
            <a:off x="785446" y="4665785"/>
            <a:ext cx="0" cy="893517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F059A5B-2681-7948-9846-5E7CA974F7BF}"/>
              </a:ext>
            </a:extLst>
          </p:cNvPr>
          <p:cNvCxnSpPr>
            <a:cxnSpLocks/>
          </p:cNvCxnSpPr>
          <p:nvPr/>
        </p:nvCxnSpPr>
        <p:spPr>
          <a:xfrm>
            <a:off x="1981202" y="4665785"/>
            <a:ext cx="0" cy="893517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EAA7A28-26F6-1F46-8CFE-200A9ACDBE7E}"/>
              </a:ext>
            </a:extLst>
          </p:cNvPr>
          <p:cNvCxnSpPr>
            <a:cxnSpLocks/>
          </p:cNvCxnSpPr>
          <p:nvPr/>
        </p:nvCxnSpPr>
        <p:spPr>
          <a:xfrm>
            <a:off x="3346937" y="4665785"/>
            <a:ext cx="0" cy="893517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2831F98-100D-DD45-8FF8-F428B73D1CF3}"/>
              </a:ext>
            </a:extLst>
          </p:cNvPr>
          <p:cNvCxnSpPr>
            <a:cxnSpLocks/>
          </p:cNvCxnSpPr>
          <p:nvPr/>
        </p:nvCxnSpPr>
        <p:spPr>
          <a:xfrm>
            <a:off x="4607167" y="4665785"/>
            <a:ext cx="0" cy="893517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6667AE7-1234-D542-A753-4857984CE4EE}"/>
              </a:ext>
            </a:extLst>
          </p:cNvPr>
          <p:cNvCxnSpPr>
            <a:cxnSpLocks/>
          </p:cNvCxnSpPr>
          <p:nvPr/>
        </p:nvCxnSpPr>
        <p:spPr>
          <a:xfrm>
            <a:off x="5843951" y="4665785"/>
            <a:ext cx="0" cy="893517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2621185-A78E-7149-830D-614111D97A13}"/>
              </a:ext>
            </a:extLst>
          </p:cNvPr>
          <p:cNvCxnSpPr>
            <a:cxnSpLocks/>
          </p:cNvCxnSpPr>
          <p:nvPr/>
        </p:nvCxnSpPr>
        <p:spPr>
          <a:xfrm>
            <a:off x="7174521" y="4665785"/>
            <a:ext cx="0" cy="893517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C71570F-3934-D441-9423-9A0738E6E2DD}"/>
              </a:ext>
            </a:extLst>
          </p:cNvPr>
          <p:cNvCxnSpPr>
            <a:cxnSpLocks/>
          </p:cNvCxnSpPr>
          <p:nvPr/>
        </p:nvCxnSpPr>
        <p:spPr>
          <a:xfrm>
            <a:off x="8493370" y="4665785"/>
            <a:ext cx="0" cy="893517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DFCADCD-50A2-7A42-8F90-1EE8F6531882}"/>
              </a:ext>
            </a:extLst>
          </p:cNvPr>
          <p:cNvCxnSpPr>
            <a:cxnSpLocks/>
          </p:cNvCxnSpPr>
          <p:nvPr/>
        </p:nvCxnSpPr>
        <p:spPr>
          <a:xfrm>
            <a:off x="9741875" y="4665785"/>
            <a:ext cx="0" cy="893517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640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28" grpId="0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Table Partitioning – Managed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26262" cy="231210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Store different data (based on columns) in different locations.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Separate data directory is created for each distinct value combination in the partition columns.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Faster queries by partition pruning. 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WHERE clause should contain the partition column. Partition Filters.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95BF8-D1EF-3E45-84E9-EC620EF8DA9D}"/>
              </a:ext>
            </a:extLst>
          </p:cNvPr>
          <p:cNvSpPr txBox="1"/>
          <p:nvPr/>
        </p:nvSpPr>
        <p:spPr>
          <a:xfrm>
            <a:off x="838200" y="4137733"/>
            <a:ext cx="1051560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 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 ... )</a:t>
            </a: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PARTITIONED BY (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col_name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data_type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col_name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data_type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... );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0FEF39-75B2-974A-84AA-DB2B31973FC9}"/>
              </a:ext>
            </a:extLst>
          </p:cNvPr>
          <p:cNvSpPr txBox="1"/>
          <p:nvPr/>
        </p:nvSpPr>
        <p:spPr>
          <a:xfrm>
            <a:off x="838200" y="4988071"/>
            <a:ext cx="1061524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TABLE 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ADD PARTITION (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part_col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value, 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part_col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value, … );</a:t>
            </a: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PARTITIONS 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DESCRIBE EXTENDED 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047862-4E6A-1740-B47D-43C7E8881118}"/>
              </a:ext>
            </a:extLst>
          </p:cNvPr>
          <p:cNvSpPr txBox="1"/>
          <p:nvPr/>
        </p:nvSpPr>
        <p:spPr>
          <a:xfrm>
            <a:off x="838200" y="6161574"/>
            <a:ext cx="106152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 err="1">
                <a:solidFill>
                  <a:srgbClr val="FF9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hive.mapred.mode</a:t>
            </a:r>
            <a:r>
              <a:rPr lang="en-US" sz="1600" b="1" dirty="0">
                <a:solidFill>
                  <a:srgbClr val="FF9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b="1" dirty="0" err="1">
                <a:solidFill>
                  <a:srgbClr val="FF9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strict|nonstrict</a:t>
            </a:r>
            <a:endParaRPr lang="en-US" sz="1600" b="1" dirty="0">
              <a:solidFill>
                <a:srgbClr val="FF93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614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Table Partitioning – External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8023" y="2907283"/>
            <a:ext cx="10826262" cy="154137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LOCATION clause is not needed while defining the table. 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ALTER TABLE statement is used to add each partition separately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Value for each partition key must be specified.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95BF8-D1EF-3E45-84E9-EC620EF8DA9D}"/>
              </a:ext>
            </a:extLst>
          </p:cNvPr>
          <p:cNvSpPr txBox="1"/>
          <p:nvPr/>
        </p:nvSpPr>
        <p:spPr>
          <a:xfrm>
            <a:off x="888023" y="1690688"/>
            <a:ext cx="1051560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EXTERNAL TABLE 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 ... )</a:t>
            </a: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PARTITIONED BY (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col_name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data_type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col_name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data_type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... );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0FEF39-75B2-974A-84AA-DB2B31973FC9}"/>
              </a:ext>
            </a:extLst>
          </p:cNvPr>
          <p:cNvSpPr txBox="1"/>
          <p:nvPr/>
        </p:nvSpPr>
        <p:spPr>
          <a:xfrm>
            <a:off x="838200" y="4886067"/>
            <a:ext cx="106152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TABLE 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ADD PARTITION (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part_col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value, 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part_col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value, … ) LOCATION ‘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dir_location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’;</a:t>
            </a:r>
          </a:p>
        </p:txBody>
      </p:sp>
    </p:spTree>
    <p:extLst>
      <p:ext uri="{BB962C8B-B14F-4D97-AF65-F5344CB8AC3E}">
        <p14:creationId xmlns:p14="http://schemas.microsoft.com/office/powerpoint/2010/main" val="1915622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Table Partitioning - Static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7"/>
            <a:ext cx="4964723" cy="4824413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Static partitioning.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Manual partitioning.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Data files are loaded individually for each partition.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Correct data has to be loaded in correct partition. &lt;file&gt; should contain data corresponding to that partition.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Takes less time to load.</a:t>
            </a:r>
          </a:p>
          <a:p>
            <a:pPr>
              <a:spcAft>
                <a:spcPts val="600"/>
              </a:spcAft>
            </a:pP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hive.mapred.mode</a:t>
            </a:r>
            <a:r>
              <a:rPr lang="en-US" sz="1800" b="1" dirty="0">
                <a:solidFill>
                  <a:schemeClr val="bg1"/>
                </a:solidFill>
                <a:latin typeface="Avenir Roman" panose="02000503020000020003" pitchFamily="2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has to be “strict”.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WHERE clause should be used to limit the partition.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3BDF9A-E083-2A4B-BF34-236D22B78674}"/>
              </a:ext>
            </a:extLst>
          </p:cNvPr>
          <p:cNvSpPr txBox="1"/>
          <p:nvPr/>
        </p:nvSpPr>
        <p:spPr>
          <a:xfrm>
            <a:off x="6588002" y="1690687"/>
            <a:ext cx="535158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EXTERNAL TABLE &lt;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( ... )</a:t>
            </a: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PARTITIONED BY (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model_yr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INT)</a:t>
            </a: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...;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E56E59-1C62-CD47-8498-CA78601515BA}"/>
              </a:ext>
            </a:extLst>
          </p:cNvPr>
          <p:cNvSpPr txBox="1"/>
          <p:nvPr/>
        </p:nvSpPr>
        <p:spPr>
          <a:xfrm>
            <a:off x="6588002" y="2996454"/>
            <a:ext cx="53515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 DATA ... &lt;file&gt; INTO TABLE 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car_sales_data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PARTITION (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model_yr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=2023);</a:t>
            </a:r>
          </a:p>
          <a:p>
            <a:pPr>
              <a:spcAft>
                <a:spcPts val="600"/>
              </a:spcAft>
            </a:pP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 DATA ... &lt;file&gt; INTO TABLE 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car_sales_data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PARTITION (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model_yr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=2022);</a:t>
            </a:r>
          </a:p>
        </p:txBody>
      </p:sp>
    </p:spTree>
    <p:extLst>
      <p:ext uri="{BB962C8B-B14F-4D97-AF65-F5344CB8AC3E}">
        <p14:creationId xmlns:p14="http://schemas.microsoft.com/office/powerpoint/2010/main" val="1640605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Table Partitioning - Dynamic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5591176" cy="439578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set </a:t>
            </a:r>
            <a:r>
              <a:rPr lang="en-IN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hive.exec.dynamic.partition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=true;</a:t>
            </a:r>
          </a:p>
          <a:p>
            <a:pPr>
              <a:spcAft>
                <a:spcPts val="600"/>
              </a:spcAft>
            </a:pP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set </a:t>
            </a:r>
            <a:r>
              <a:rPr lang="en-IN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hive.exec.dynamic.partition.mode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=</a:t>
            </a:r>
            <a:r>
              <a:rPr lang="en-IN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nonstrict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;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Partitions are created on the fly.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INSERT command can be used to load data, which will be put into their corresponding partition automatically.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Takes more time to load.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3BDF9A-E083-2A4B-BF34-236D22B78674}"/>
              </a:ext>
            </a:extLst>
          </p:cNvPr>
          <p:cNvSpPr txBox="1"/>
          <p:nvPr/>
        </p:nvSpPr>
        <p:spPr>
          <a:xfrm>
            <a:off x="6716590" y="1690687"/>
            <a:ext cx="535158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EXTERNAL TABLE &lt;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( ... )</a:t>
            </a: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PARTITIONED BY (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model_yr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INT)</a:t>
            </a: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52C21F-5C11-D44F-8DB1-AFE1AA367142}"/>
              </a:ext>
            </a:extLst>
          </p:cNvPr>
          <p:cNvSpPr txBox="1"/>
          <p:nvPr/>
        </p:nvSpPr>
        <p:spPr>
          <a:xfrm>
            <a:off x="6716590" y="3057525"/>
            <a:ext cx="53515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INTO table PARTITION (column) ...</a:t>
            </a:r>
          </a:p>
        </p:txBody>
      </p:sp>
    </p:spTree>
    <p:extLst>
      <p:ext uri="{BB962C8B-B14F-4D97-AF65-F5344CB8AC3E}">
        <p14:creationId xmlns:p14="http://schemas.microsoft.com/office/powerpoint/2010/main" val="3573225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Table Partitioning - Dynamic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DC4AFA-9111-BD40-B32B-CDA881BD3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7"/>
            <a:ext cx="10802815" cy="439578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000" dirty="0" err="1">
                <a:solidFill>
                  <a:srgbClr val="FFD57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hive.exec.dynamic.partition</a:t>
            </a:r>
            <a:r>
              <a:rPr lang="en-US" sz="2000" dirty="0">
                <a:solidFill>
                  <a:srgbClr val="FFD57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true </a:t>
            </a:r>
          </a:p>
          <a:p>
            <a:pPr lvl="1">
              <a:spcAft>
                <a:spcPts val="600"/>
              </a:spcAft>
            </a:pPr>
            <a:r>
              <a:rPr lang="en-IN" sz="1800" dirty="0">
                <a:solidFill>
                  <a:schemeClr val="bg1"/>
                </a:solidFill>
                <a:latin typeface="Avenir Roman" panose="02000503020000020003" pitchFamily="2" charset="0"/>
              </a:rPr>
              <a:t>Needs to be set to true to enable dynamic partition inserts.</a:t>
            </a:r>
          </a:p>
          <a:p>
            <a:pPr>
              <a:spcAft>
                <a:spcPts val="600"/>
              </a:spcAft>
            </a:pPr>
            <a:r>
              <a:rPr lang="en-IN" sz="2000" dirty="0" err="1">
                <a:solidFill>
                  <a:srgbClr val="FFD57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hive.exec.dynamic.partition.mode</a:t>
            </a:r>
            <a:r>
              <a:rPr lang="en-IN" sz="2000" dirty="0">
                <a:solidFill>
                  <a:srgbClr val="FFD57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2000" dirty="0" err="1">
                <a:solidFill>
                  <a:srgbClr val="FFD57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strict|nonstrict</a:t>
            </a:r>
            <a:r>
              <a:rPr lang="en-IN" sz="2000" dirty="0">
                <a:solidFill>
                  <a:srgbClr val="FFD57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lvl="1">
              <a:spcAft>
                <a:spcPts val="600"/>
              </a:spcAft>
            </a:pPr>
            <a:r>
              <a:rPr lang="en-IN" sz="1800" dirty="0">
                <a:solidFill>
                  <a:schemeClr val="bg1"/>
                </a:solidFill>
                <a:latin typeface="Avenir Roman" panose="02000503020000020003" pitchFamily="2" charset="0"/>
              </a:rPr>
              <a:t>In strict mode, the user must specify at least one static partition in case the user accidentally overwrites all partitions, in </a:t>
            </a:r>
            <a:r>
              <a:rPr lang="en-IN" sz="1800" dirty="0" err="1">
                <a:solidFill>
                  <a:schemeClr val="bg1"/>
                </a:solidFill>
                <a:latin typeface="Avenir Roman" panose="02000503020000020003" pitchFamily="2" charset="0"/>
              </a:rPr>
              <a:t>nonstrict</a:t>
            </a:r>
            <a:r>
              <a:rPr lang="en-IN" sz="1800" dirty="0">
                <a:solidFill>
                  <a:schemeClr val="bg1"/>
                </a:solidFill>
                <a:latin typeface="Avenir Roman" panose="02000503020000020003" pitchFamily="2" charset="0"/>
              </a:rPr>
              <a:t> mode all partitions are allowed to be dynamic.</a:t>
            </a:r>
            <a:endParaRPr lang="en-IN" sz="16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>
              <a:spcAft>
                <a:spcPts val="600"/>
              </a:spcAft>
            </a:pPr>
            <a:r>
              <a:rPr lang="en-IN" sz="2000" dirty="0" err="1">
                <a:solidFill>
                  <a:srgbClr val="FFD57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hive.exec.max.dynamic.partitions</a:t>
            </a:r>
            <a:r>
              <a:rPr lang="en-IN" sz="2000" dirty="0">
                <a:solidFill>
                  <a:srgbClr val="FFD57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 </a:t>
            </a:r>
          </a:p>
          <a:p>
            <a:pPr lvl="1">
              <a:spcAft>
                <a:spcPts val="600"/>
              </a:spcAft>
            </a:pPr>
            <a:r>
              <a:rPr lang="en-IN" sz="1800" dirty="0">
                <a:solidFill>
                  <a:schemeClr val="bg1"/>
                </a:solidFill>
                <a:latin typeface="Avenir Roman" panose="02000503020000020003" pitchFamily="2" charset="0"/>
              </a:rPr>
              <a:t>Maximum number of dynamic partitions allowed to be created in total.</a:t>
            </a:r>
          </a:p>
          <a:p>
            <a:pPr>
              <a:spcAft>
                <a:spcPts val="600"/>
              </a:spcAft>
            </a:pPr>
            <a:r>
              <a:rPr lang="en-IN" sz="2000" dirty="0" err="1">
                <a:solidFill>
                  <a:srgbClr val="FFD57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hive.error.on.empty.partition</a:t>
            </a:r>
            <a:r>
              <a:rPr lang="en-IN" sz="2000" dirty="0">
                <a:solidFill>
                  <a:srgbClr val="FFD57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2000" dirty="0" err="1">
                <a:solidFill>
                  <a:srgbClr val="FFD57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true|false</a:t>
            </a:r>
            <a:endParaRPr lang="en-IN" sz="2000" dirty="0">
              <a:solidFill>
                <a:srgbClr val="FFD57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Aft>
                <a:spcPts val="600"/>
              </a:spcAft>
            </a:pPr>
            <a:r>
              <a:rPr lang="en-IN" sz="1800" dirty="0">
                <a:solidFill>
                  <a:schemeClr val="bg1"/>
                </a:solidFill>
                <a:latin typeface="Avenir Roman" panose="02000503020000020003" pitchFamily="2" charset="0"/>
              </a:rPr>
              <a:t>Whether to throw an exception if dynamic partition insert generates empty results.</a:t>
            </a:r>
          </a:p>
          <a:p>
            <a:pPr lvl="1">
              <a:spcAft>
                <a:spcPts val="600"/>
              </a:spcAft>
            </a:pPr>
            <a:endParaRPr lang="en-US" sz="1600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885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Bucketing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2449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Buckets divides tables or partitions into further sub-divisions.</a:t>
            </a:r>
          </a:p>
          <a:p>
            <a:pPr>
              <a:spcAft>
                <a:spcPts val="600"/>
              </a:spcAft>
            </a:pPr>
            <a:endParaRPr lang="en-US" sz="2400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C2CEB5-DC31-B642-97FC-EE1B937D4F85}"/>
              </a:ext>
            </a:extLst>
          </p:cNvPr>
          <p:cNvSpPr txBox="1"/>
          <p:nvPr/>
        </p:nvSpPr>
        <p:spPr>
          <a:xfrm>
            <a:off x="838199" y="2756839"/>
            <a:ext cx="9794631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 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product_id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INT, </a:t>
            </a:r>
            <a:r>
              <a:rPr lang="en-IN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sales_person_id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STRING, ... )</a:t>
            </a: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CLUSTERED BY (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product_id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INTO 4 BUCKETS;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9193957-2063-9D44-9B4F-7A04771BD5E3}"/>
              </a:ext>
            </a:extLst>
          </p:cNvPr>
          <p:cNvSpPr txBox="1">
            <a:spLocks/>
          </p:cNvSpPr>
          <p:nvPr/>
        </p:nvSpPr>
        <p:spPr>
          <a:xfrm>
            <a:off x="709246" y="5354271"/>
            <a:ext cx="10515600" cy="10113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Bucket No. = hash(</a:t>
            </a:r>
            <a:r>
              <a:rPr lang="en-US" sz="2400" dirty="0" err="1">
                <a:solidFill>
                  <a:schemeClr val="bg1"/>
                </a:solidFill>
                <a:latin typeface="Avenir Roman" panose="02000503020000020003" pitchFamily="2" charset="0"/>
              </a:rPr>
              <a:t>clustered_col</a:t>
            </a: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) % No. of partitions.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Bucket No. = hash(</a:t>
            </a:r>
            <a:r>
              <a:rPr lang="en-US" sz="2400">
                <a:solidFill>
                  <a:schemeClr val="bg1"/>
                </a:solidFill>
                <a:latin typeface="Avenir Roman" panose="02000503020000020003" pitchFamily="2" charset="0"/>
              </a:rPr>
              <a:t>product_id</a:t>
            </a: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) % 4. </a:t>
            </a:r>
          </a:p>
          <a:p>
            <a:pPr>
              <a:spcAft>
                <a:spcPts val="600"/>
              </a:spcAft>
            </a:pPr>
            <a:endParaRPr lang="en-US" sz="2400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742AF7-771A-F241-98CE-51806132B9CE}"/>
              </a:ext>
            </a:extLst>
          </p:cNvPr>
          <p:cNvSpPr txBox="1"/>
          <p:nvPr/>
        </p:nvSpPr>
        <p:spPr>
          <a:xfrm>
            <a:off x="838199" y="3822990"/>
            <a:ext cx="979463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 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product_id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INT, </a:t>
            </a:r>
            <a:r>
              <a:rPr lang="en-IN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sales_person_id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STRING, ... )</a:t>
            </a: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PARTITIONED BY(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model_year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CLUSTERED BY (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product_id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INTO 4 BUCKETS; </a:t>
            </a:r>
          </a:p>
        </p:txBody>
      </p:sp>
    </p:spTree>
    <p:extLst>
      <p:ext uri="{BB962C8B-B14F-4D97-AF65-F5344CB8AC3E}">
        <p14:creationId xmlns:p14="http://schemas.microsoft.com/office/powerpoint/2010/main" val="3779083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Bucketing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9CA974-4B86-8A40-B812-A306E33EE53E}"/>
              </a:ext>
            </a:extLst>
          </p:cNvPr>
          <p:cNvSpPr/>
          <p:nvPr/>
        </p:nvSpPr>
        <p:spPr>
          <a:xfrm>
            <a:off x="2045676" y="2738638"/>
            <a:ext cx="1998786" cy="618758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venir Roman" panose="02000503020000020003" pitchFamily="2" charset="0"/>
              </a:rPr>
              <a:t>model_yr</a:t>
            </a:r>
            <a:r>
              <a:rPr lang="en-US" dirty="0">
                <a:latin typeface="Avenir Roman" panose="02000503020000020003" pitchFamily="2" charset="0"/>
              </a:rPr>
              <a:t> = 2021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56F9A8-A858-9747-889C-5A9D76558650}"/>
              </a:ext>
            </a:extLst>
          </p:cNvPr>
          <p:cNvSpPr/>
          <p:nvPr/>
        </p:nvSpPr>
        <p:spPr>
          <a:xfrm>
            <a:off x="7869848" y="3993781"/>
            <a:ext cx="2004645" cy="618758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venir Roman" panose="02000503020000020003" pitchFamily="2" charset="0"/>
              </a:rPr>
              <a:t>model_yr</a:t>
            </a:r>
            <a:r>
              <a:rPr lang="en-US" dirty="0">
                <a:latin typeface="Avenir Roman" panose="02000503020000020003" pitchFamily="2" charset="0"/>
              </a:rPr>
              <a:t> = 2022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4C572E-BD7B-4240-9631-0D3883C4D9CE}"/>
              </a:ext>
            </a:extLst>
          </p:cNvPr>
          <p:cNvSpPr txBox="1"/>
          <p:nvPr/>
        </p:nvSpPr>
        <p:spPr>
          <a:xfrm>
            <a:off x="838200" y="1680055"/>
            <a:ext cx="5785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CLUSTERED BY (</a:t>
            </a: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product_id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INTO 4 BUCKETS;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13E6F6-3201-1749-B7C9-16A78EC4FB5B}"/>
              </a:ext>
            </a:extLst>
          </p:cNvPr>
          <p:cNvSpPr/>
          <p:nvPr/>
        </p:nvSpPr>
        <p:spPr>
          <a:xfrm>
            <a:off x="396753" y="3831673"/>
            <a:ext cx="1160585" cy="47154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bucket1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33A454-3066-A44F-8D60-8B6DFE18CB0C}"/>
              </a:ext>
            </a:extLst>
          </p:cNvPr>
          <p:cNvSpPr/>
          <p:nvPr/>
        </p:nvSpPr>
        <p:spPr>
          <a:xfrm>
            <a:off x="1884484" y="3831673"/>
            <a:ext cx="1160585" cy="47154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bucket2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44C1D9-916F-054D-9F21-9C4E0303D1C8}"/>
              </a:ext>
            </a:extLst>
          </p:cNvPr>
          <p:cNvSpPr/>
          <p:nvPr/>
        </p:nvSpPr>
        <p:spPr>
          <a:xfrm>
            <a:off x="3372215" y="3831618"/>
            <a:ext cx="1160585" cy="47154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bucket3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74674F-FFF9-BE42-96C6-CBE56BF48B86}"/>
              </a:ext>
            </a:extLst>
          </p:cNvPr>
          <p:cNvSpPr/>
          <p:nvPr/>
        </p:nvSpPr>
        <p:spPr>
          <a:xfrm>
            <a:off x="4859946" y="3831618"/>
            <a:ext cx="1160585" cy="47154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bucket4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9DF8F9-2132-854E-ACFB-26E78C544D94}"/>
              </a:ext>
            </a:extLst>
          </p:cNvPr>
          <p:cNvSpPr/>
          <p:nvPr/>
        </p:nvSpPr>
        <p:spPr>
          <a:xfrm>
            <a:off x="6020531" y="5057721"/>
            <a:ext cx="1160585" cy="47154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bucket1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99CE84-D9E5-4A4C-A927-6BEF20158A8F}"/>
              </a:ext>
            </a:extLst>
          </p:cNvPr>
          <p:cNvSpPr/>
          <p:nvPr/>
        </p:nvSpPr>
        <p:spPr>
          <a:xfrm>
            <a:off x="7508262" y="5057721"/>
            <a:ext cx="1160585" cy="47154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bucket2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78441C-7EF9-7C45-A054-731C5669991F}"/>
              </a:ext>
            </a:extLst>
          </p:cNvPr>
          <p:cNvSpPr/>
          <p:nvPr/>
        </p:nvSpPr>
        <p:spPr>
          <a:xfrm>
            <a:off x="8995993" y="5057666"/>
            <a:ext cx="1160585" cy="47154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bucket3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8F0460-CC76-984E-A3E4-CD4AAE29DBBE}"/>
              </a:ext>
            </a:extLst>
          </p:cNvPr>
          <p:cNvSpPr/>
          <p:nvPr/>
        </p:nvSpPr>
        <p:spPr>
          <a:xfrm>
            <a:off x="10483724" y="5057666"/>
            <a:ext cx="1160585" cy="47154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bucket4</a:t>
            </a:r>
          </a:p>
        </p:txBody>
      </p:sp>
    </p:spTree>
    <p:extLst>
      <p:ext uri="{BB962C8B-B14F-4D97-AF65-F5344CB8AC3E}">
        <p14:creationId xmlns:p14="http://schemas.microsoft.com/office/powerpoint/2010/main" val="4025454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121" y="2726226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Partitioning &amp; Bucketing hands-on </a:t>
            </a:r>
          </a:p>
        </p:txBody>
      </p:sp>
    </p:spTree>
    <p:extLst>
      <p:ext uri="{BB962C8B-B14F-4D97-AF65-F5344CB8AC3E}">
        <p14:creationId xmlns:p14="http://schemas.microsoft.com/office/powerpoint/2010/main" val="42812532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LOAD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A4EDC2-C923-BD46-858D-998CF1FC5293}"/>
              </a:ext>
            </a:extLst>
          </p:cNvPr>
          <p:cNvSpPr/>
          <p:nvPr/>
        </p:nvSpPr>
        <p:spPr>
          <a:xfrm>
            <a:off x="1026866" y="3443852"/>
            <a:ext cx="1248509" cy="154028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File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88E395-02D9-704D-B879-F9AD48947CD1}"/>
              </a:ext>
            </a:extLst>
          </p:cNvPr>
          <p:cNvSpPr/>
          <p:nvPr/>
        </p:nvSpPr>
        <p:spPr>
          <a:xfrm>
            <a:off x="1026866" y="1950461"/>
            <a:ext cx="1248509" cy="536664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LOAD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2BB74A-293E-644F-9B48-E541262E92AE}"/>
              </a:ext>
            </a:extLst>
          </p:cNvPr>
          <p:cNvSpPr/>
          <p:nvPr/>
        </p:nvSpPr>
        <p:spPr>
          <a:xfrm>
            <a:off x="6313974" y="1950461"/>
            <a:ext cx="1248509" cy="536664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24B316-5558-D947-B47D-427528A8C65C}"/>
              </a:ext>
            </a:extLst>
          </p:cNvPr>
          <p:cNvSpPr txBox="1"/>
          <p:nvPr/>
        </p:nvSpPr>
        <p:spPr>
          <a:xfrm>
            <a:off x="176943" y="5195154"/>
            <a:ext cx="2948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Local Filesystem or HDFS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C761E4-891F-DC4C-8CBC-210A8E67BC7E}"/>
              </a:ext>
            </a:extLst>
          </p:cNvPr>
          <p:cNvSpPr/>
          <p:nvPr/>
        </p:nvSpPr>
        <p:spPr>
          <a:xfrm>
            <a:off x="5069861" y="3321903"/>
            <a:ext cx="3736733" cy="529461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latin typeface="Avenir Roman" panose="02000503020000020003" pitchFamily="2" charset="0"/>
              </a:rPr>
              <a:t>hive.metastore.warehouse.dir</a:t>
            </a:r>
            <a:endParaRPr lang="en-US" sz="2000" dirty="0">
              <a:latin typeface="Avenir Roman" panose="02000503020000020003" pitchFamily="2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F160032-643D-E34B-9455-86522E9C2E62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 flipV="1">
            <a:off x="1651121" y="2487125"/>
            <a:ext cx="0" cy="956727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357B69B-6933-A043-835C-AA17652FE2CE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2275375" y="2218793"/>
            <a:ext cx="4038599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7D8639-852F-6240-B2EE-3CC6BC49438F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6938229" y="2487125"/>
            <a:ext cx="0" cy="827575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16CFE42C-207A-FD43-86BB-9BF289145892}"/>
              </a:ext>
            </a:extLst>
          </p:cNvPr>
          <p:cNvCxnSpPr>
            <a:cxnSpLocks/>
            <a:stCxn id="6" idx="3"/>
            <a:endCxn id="10" idx="2"/>
          </p:cNvCxnSpPr>
          <p:nvPr/>
        </p:nvCxnSpPr>
        <p:spPr>
          <a:xfrm flipV="1">
            <a:off x="2275375" y="3851364"/>
            <a:ext cx="4662853" cy="362631"/>
          </a:xfrm>
          <a:prstGeom prst="bentConnector2">
            <a:avLst/>
          </a:prstGeom>
          <a:ln w="28575">
            <a:solidFill>
              <a:schemeClr val="bg1"/>
            </a:solidFill>
            <a:tailEnd type="triangle"/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1CEC628-A0C2-1248-93CD-34D3D8D56095}"/>
              </a:ext>
            </a:extLst>
          </p:cNvPr>
          <p:cNvSpPr txBox="1"/>
          <p:nvPr/>
        </p:nvSpPr>
        <p:spPr>
          <a:xfrm>
            <a:off x="3929062" y="4400550"/>
            <a:ext cx="1857375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Copy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B31504-93D8-064D-804F-C2DBCF175496}"/>
              </a:ext>
            </a:extLst>
          </p:cNvPr>
          <p:cNvSpPr txBox="1"/>
          <p:nvPr/>
        </p:nvSpPr>
        <p:spPr>
          <a:xfrm>
            <a:off x="7943849" y="5107951"/>
            <a:ext cx="3657601" cy="91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No Transformation</a:t>
            </a:r>
          </a:p>
          <a:p>
            <a:pPr marL="285750" indent="-28575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Direct Copy</a:t>
            </a:r>
          </a:p>
        </p:txBody>
      </p:sp>
    </p:spTree>
    <p:extLst>
      <p:ext uri="{BB962C8B-B14F-4D97-AF65-F5344CB8AC3E}">
        <p14:creationId xmlns:p14="http://schemas.microsoft.com/office/powerpoint/2010/main" val="1723332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/>
      <p:bldP spid="10" grpId="0" animBg="1"/>
      <p:bldP spid="25" grpId="0"/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INSERT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417E0D6-AA52-1C47-844D-6E737FE93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24656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INSERT INTO ... – Append to the table.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INSERT OVERWRITE … - Overwrite existing data.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Table or Partition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Transformation 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Read from CSV and insert into ORC, Parquet etc.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INSERT INTO … SELECT … FROM … </a:t>
            </a:r>
          </a:p>
          <a:p>
            <a:pPr>
              <a:spcAft>
                <a:spcPts val="600"/>
              </a:spcAft>
            </a:pPr>
            <a:endParaRPr lang="en-US" sz="2400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790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SELECT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B7ED4A-077D-5E41-B6FF-14D0BC1569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9593415"/>
              </p:ext>
            </p:extLst>
          </p:nvPr>
        </p:nvGraphicFramePr>
        <p:xfrm>
          <a:off x="838200" y="1462088"/>
          <a:ext cx="10906125" cy="3424237"/>
        </p:xfrm>
        <a:graphic>
          <a:graphicData uri="http://schemas.openxmlformats.org/drawingml/2006/table">
            <a:tbl>
              <a:tblPr/>
              <a:tblGrid>
                <a:gridCol w="10906125">
                  <a:extLst>
                    <a:ext uri="{9D8B030D-6E8A-4147-A177-3AD203B41FA5}">
                      <a16:colId xmlns:a16="http://schemas.microsoft.com/office/drawing/2014/main" val="3553668521"/>
                    </a:ext>
                  </a:extLst>
                </a:gridCol>
              </a:tblGrid>
              <a:tr h="3424237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000" b="1" i="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[WITH </a:t>
                      </a:r>
                      <a:r>
                        <a:rPr lang="en-IN" sz="2000" b="1" i="0" dirty="0" err="1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CommonTableExpression</a:t>
                      </a:r>
                      <a:r>
                        <a:rPr lang="en-IN" sz="2000" b="1" i="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(, </a:t>
                      </a:r>
                      <a:r>
                        <a:rPr lang="en-IN" sz="2000" b="1" i="0" dirty="0" err="1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CommonTableExpression</a:t>
                      </a:r>
                      <a:r>
                        <a:rPr lang="en-IN" sz="2000" b="1" i="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)] </a:t>
                      </a:r>
                    </a:p>
                    <a:p>
                      <a:pPr algn="l" fontAlgn="base"/>
                      <a:r>
                        <a:rPr lang="en-IN" sz="2000" b="1" i="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SELECT [ALL | DISTINCT] </a:t>
                      </a:r>
                      <a:r>
                        <a:rPr lang="en-IN" sz="2000" b="1" i="0" dirty="0" err="1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select_expr</a:t>
                      </a:r>
                      <a:r>
                        <a:rPr lang="en-IN" sz="2000" b="1" i="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IN" sz="2000" b="1" i="0" dirty="0" err="1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select_expr</a:t>
                      </a:r>
                      <a:r>
                        <a:rPr lang="en-IN" sz="2000" b="1" i="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...</a:t>
                      </a:r>
                    </a:p>
                    <a:p>
                      <a:pPr algn="l" fontAlgn="base"/>
                      <a:r>
                        <a:rPr lang="en-IN" sz="2000" b="1" i="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 FROM </a:t>
                      </a:r>
                      <a:r>
                        <a:rPr lang="en-IN" sz="2000" b="1" i="0" dirty="0" err="1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table_reference</a:t>
                      </a:r>
                      <a:endParaRPr lang="en-IN" sz="2000" b="1" i="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l" fontAlgn="base"/>
                      <a:r>
                        <a:rPr lang="en-IN" sz="2000" b="1" i="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 [WHERE </a:t>
                      </a:r>
                      <a:r>
                        <a:rPr lang="en-IN" sz="2000" b="1" i="0" dirty="0" err="1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where_condition</a:t>
                      </a:r>
                      <a:r>
                        <a:rPr lang="en-IN" sz="2000" b="1" i="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</a:p>
                    <a:p>
                      <a:pPr algn="l" fontAlgn="base"/>
                      <a:r>
                        <a:rPr lang="en-IN" sz="2000" b="1" i="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 [GROUP BY </a:t>
                      </a:r>
                      <a:r>
                        <a:rPr lang="en-IN" sz="2000" b="1" i="0" dirty="0" err="1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col_list</a:t>
                      </a:r>
                      <a:r>
                        <a:rPr lang="en-IN" sz="2000" b="1" i="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</a:p>
                    <a:p>
                      <a:pPr algn="l" fontAlgn="base"/>
                      <a:r>
                        <a:rPr lang="en-IN" sz="2000" b="1" i="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 [ORDER BY </a:t>
                      </a:r>
                      <a:r>
                        <a:rPr lang="en-IN" sz="2000" b="1" i="0" dirty="0" err="1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col_list</a:t>
                      </a:r>
                      <a:r>
                        <a:rPr lang="en-IN" sz="2000" b="1" i="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</a:p>
                    <a:p>
                      <a:pPr algn="l" fontAlgn="base"/>
                      <a:r>
                        <a:rPr lang="en-IN" sz="2000" b="1" i="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 [CLUSTER BY </a:t>
                      </a:r>
                      <a:r>
                        <a:rPr lang="en-IN" sz="2000" b="1" i="0" dirty="0" err="1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col_list</a:t>
                      </a:r>
                      <a:endParaRPr lang="en-IN" sz="2000" b="1" i="0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l" fontAlgn="base"/>
                      <a:r>
                        <a:rPr lang="en-IN" sz="2000" b="1" i="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   | [DISTRIBUTE BY </a:t>
                      </a:r>
                      <a:r>
                        <a:rPr lang="en-IN" sz="2000" b="1" i="0" dirty="0" err="1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col_list</a:t>
                      </a:r>
                      <a:r>
                        <a:rPr lang="en-IN" sz="2000" b="1" i="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[SORT BY </a:t>
                      </a:r>
                      <a:r>
                        <a:rPr lang="en-IN" sz="2000" b="1" i="0" dirty="0" err="1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col_list</a:t>
                      </a:r>
                      <a:r>
                        <a:rPr lang="en-IN" sz="2000" b="1" i="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</a:p>
                    <a:p>
                      <a:pPr algn="l" fontAlgn="base"/>
                      <a:r>
                        <a:rPr lang="en-IN" sz="2000" b="1" i="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 ]</a:t>
                      </a:r>
                    </a:p>
                    <a:p>
                      <a:pPr algn="l" fontAlgn="base"/>
                      <a:r>
                        <a:rPr lang="en-IN" sz="2000" b="1" i="0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[LIMIT [offset,] rows]</a:t>
                      </a:r>
                    </a:p>
                  </a:txBody>
                  <a:tcPr marL="142875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345357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23FBA7A-F998-7B48-8D3C-CD2458A1A930}"/>
              </a:ext>
            </a:extLst>
          </p:cNvPr>
          <p:cNvSpPr txBox="1"/>
          <p:nvPr/>
        </p:nvSpPr>
        <p:spPr>
          <a:xfrm>
            <a:off x="838200" y="5070218"/>
            <a:ext cx="9458325" cy="1426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ORDER BY – Order is maintained for the entire result set. </a:t>
            </a:r>
          </a:p>
          <a:p>
            <a:pPr marL="285750" indent="-28575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SORT BY – Ordering rows within a reducer. Partially ordered dataset.</a:t>
            </a:r>
          </a:p>
          <a:p>
            <a:pPr marL="285750" indent="-28575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Local Mode – Read from files directly.</a:t>
            </a:r>
          </a:p>
        </p:txBody>
      </p:sp>
    </p:spTree>
    <p:extLst>
      <p:ext uri="{BB962C8B-B14F-4D97-AF65-F5344CB8AC3E}">
        <p14:creationId xmlns:p14="http://schemas.microsoft.com/office/powerpoint/2010/main" val="3099277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ACID Transactions - UPDATE,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34738" cy="43513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UPDATE &amp; DELETE statements.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BEGIN, COMMIT and ROLLBACK are not supported.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Only ORC file format is supported.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Must be bucketed.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Have to set Hive transaction manager.</a:t>
            </a:r>
          </a:p>
          <a:p>
            <a:pPr lvl="1">
              <a:spcAft>
                <a:spcPts val="600"/>
              </a:spcAft>
            </a:pPr>
            <a:r>
              <a:rPr lang="en-IN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  <a:r>
              <a:rPr lang="en-IN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hive.txn.manager</a:t>
            </a:r>
            <a:r>
              <a:rPr lang="en-IN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org.apache.hadoop.hive.ql.lockmgr.DbTxnManager</a:t>
            </a:r>
            <a:r>
              <a:rPr lang="en-IN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>
              <a:spcAft>
                <a:spcPts val="600"/>
              </a:spcAft>
            </a:pPr>
            <a:r>
              <a:rPr lang="en-IN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  <a:r>
              <a:rPr lang="en-IN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hive.support.concurrency</a:t>
            </a:r>
            <a:r>
              <a:rPr lang="en-IN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true;</a:t>
            </a:r>
          </a:p>
          <a:p>
            <a:pPr lvl="1">
              <a:spcAft>
                <a:spcPts val="600"/>
              </a:spcAft>
            </a:pPr>
            <a:r>
              <a:rPr lang="en-IN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  <a:r>
              <a:rPr lang="en-IN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hive.enforce.bucketing</a:t>
            </a:r>
            <a:r>
              <a:rPr lang="en-IN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true;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 … TBLPROPERTIES (“transactional”=“true”);</a:t>
            </a:r>
          </a:p>
        </p:txBody>
      </p:sp>
    </p:spTree>
    <p:extLst>
      <p:ext uri="{BB962C8B-B14F-4D97-AF65-F5344CB8AC3E}">
        <p14:creationId xmlns:p14="http://schemas.microsoft.com/office/powerpoint/2010/main" val="1182316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ACID Transactions, UPDATE,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321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Base Files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Delta Files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Compaction</a:t>
            </a: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Minor compaction – T</a:t>
            </a:r>
            <a:r>
              <a:rPr lang="en-IN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akes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 a set of existing delta files and rewrites them to a single delta file per bucket.</a:t>
            </a:r>
          </a:p>
          <a:p>
            <a:pPr lvl="1">
              <a:spcAft>
                <a:spcPts val="600"/>
              </a:spcAft>
            </a:pP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Major compaction – Takes one or more delta files and the base file for the bucket and rewrites them into a new base file per bucket. </a:t>
            </a:r>
            <a:endParaRPr lang="en-US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377A1F-58EF-8142-8BA0-58F604C809D5}"/>
              </a:ext>
            </a:extLst>
          </p:cNvPr>
          <p:cNvSpPr/>
          <p:nvPr/>
        </p:nvSpPr>
        <p:spPr>
          <a:xfrm>
            <a:off x="1143000" y="5186363"/>
            <a:ext cx="2043113" cy="125730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Bucket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B322E9-E105-2E4A-BD20-C3EDB4E318B9}"/>
              </a:ext>
            </a:extLst>
          </p:cNvPr>
          <p:cNvSpPr/>
          <p:nvPr/>
        </p:nvSpPr>
        <p:spPr>
          <a:xfrm>
            <a:off x="3409950" y="5186363"/>
            <a:ext cx="2043113" cy="614362"/>
          </a:xfrm>
          <a:prstGeom prst="rect">
            <a:avLst/>
          </a:prstGeom>
          <a:solidFill>
            <a:srgbClr val="0096FF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Delta file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5EB020-BA64-6848-B147-279278F1DE02}"/>
              </a:ext>
            </a:extLst>
          </p:cNvPr>
          <p:cNvSpPr/>
          <p:nvPr/>
        </p:nvSpPr>
        <p:spPr>
          <a:xfrm>
            <a:off x="6424612" y="5186363"/>
            <a:ext cx="2043113" cy="125730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Bucket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C465C5-610B-1346-BBA0-310251ADE4AA}"/>
              </a:ext>
            </a:extLst>
          </p:cNvPr>
          <p:cNvSpPr/>
          <p:nvPr/>
        </p:nvSpPr>
        <p:spPr>
          <a:xfrm>
            <a:off x="8691562" y="5200651"/>
            <a:ext cx="2043113" cy="614362"/>
          </a:xfrm>
          <a:prstGeom prst="rect">
            <a:avLst/>
          </a:prstGeom>
          <a:solidFill>
            <a:srgbClr val="0096FF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Delta file 2</a:t>
            </a:r>
          </a:p>
        </p:txBody>
      </p:sp>
    </p:spTree>
    <p:extLst>
      <p:ext uri="{BB962C8B-B14F-4D97-AF65-F5344CB8AC3E}">
        <p14:creationId xmlns:p14="http://schemas.microsoft.com/office/powerpoint/2010/main" val="1081693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  <a:latin typeface="Avenir Roman" panose="02000503020000020003" pitchFamily="2" charset="0"/>
              </a:rPr>
              <a:t>Materialized View</a:t>
            </a:r>
            <a:endParaRPr lang="en-US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33988" cy="43513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Similar to a table.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Stores results of a query.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Refresh the content of MV to keep it up-to-date with the changes in the table.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Refresh is incremental by default, falls back to rebuild if not possible.</a:t>
            </a: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INSERT – Incremental</a:t>
            </a: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UPDATE – Full rebuild</a:t>
            </a: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DELETE – Full rebuild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08882B-926F-8143-97F3-DC74EAC391DC}"/>
              </a:ext>
            </a:extLst>
          </p:cNvPr>
          <p:cNvSpPr txBox="1">
            <a:spLocks/>
          </p:cNvSpPr>
          <p:nvPr/>
        </p:nvSpPr>
        <p:spPr>
          <a:xfrm>
            <a:off x="6577013" y="1690688"/>
            <a:ext cx="5233988" cy="2409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4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MATERIALIZED VIEW &lt;name&gt; …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PARTITIONED ON 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col_name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...)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CLUSTERED ON 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col_name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...)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 FORMAT &lt;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row_format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 FORMAT &lt;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file_format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LOCATION &lt;location&gt;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 &lt;query&gt;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0E1E59-3CEF-7E46-952A-24F612C087D7}"/>
              </a:ext>
            </a:extLst>
          </p:cNvPr>
          <p:cNvSpPr txBox="1"/>
          <p:nvPr/>
        </p:nvSpPr>
        <p:spPr>
          <a:xfrm>
            <a:off x="5829300" y="5426076"/>
            <a:ext cx="64674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MATERIALIZED VIEW &lt;name&gt; REBUILD;</a:t>
            </a:r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240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Indexes are removed since 3.0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BC4365-320F-FC48-9213-5158CA423312}"/>
              </a:ext>
            </a:extLst>
          </p:cNvPr>
          <p:cNvSpPr txBox="1">
            <a:spLocks/>
          </p:cNvSpPr>
          <p:nvPr/>
        </p:nvSpPr>
        <p:spPr>
          <a:xfrm>
            <a:off x="838200" y="26757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View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7787BC4-8419-4D4E-896C-05A005B5B342}"/>
              </a:ext>
            </a:extLst>
          </p:cNvPr>
          <p:cNvSpPr txBox="1">
            <a:spLocks/>
          </p:cNvSpPr>
          <p:nvPr/>
        </p:nvSpPr>
        <p:spPr>
          <a:xfrm>
            <a:off x="838200" y="400129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Similar to view in RDBMS.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CREATE VIEW AS SELECT …</a:t>
            </a:r>
          </a:p>
        </p:txBody>
      </p:sp>
    </p:spTree>
    <p:extLst>
      <p:ext uri="{BB962C8B-B14F-4D97-AF65-F5344CB8AC3E}">
        <p14:creationId xmlns:p14="http://schemas.microsoft.com/office/powerpoint/2010/main" val="26592074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JOINs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INNER JOIN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LEFT | RIGHT OUTER JOIN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endParaRPr lang="en-IN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a.* 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a JOIN b ON (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a.id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b.id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a.department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b.department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Aft>
                <a:spcPts val="600"/>
              </a:spcAft>
              <a:buNone/>
            </a:pPr>
            <a:b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a.* FROM a LEFT OUTER JOIN b ON (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a.id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b.id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endParaRPr lang="en-IN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a.val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b.val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c.val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  a JOIN b ON (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a.key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b.key1) 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JOIN c ON (</a:t>
            </a:r>
            <a:r>
              <a:rPr lang="en-IN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c.key</a:t>
            </a:r>
            <a:r>
              <a:rPr lang="en-IN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b.key2)</a:t>
            </a: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563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Hive Configuration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07615" cy="43513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hive.mapred.mode</a:t>
            </a:r>
            <a:r>
              <a:rPr lang="en-IN" sz="2000" dirty="0">
                <a:solidFill>
                  <a:srgbClr val="FF9300"/>
                </a:solidFill>
                <a:latin typeface="Avenir Roman" panose="02000503020000020003" pitchFamily="2" charset="0"/>
              </a:rPr>
              <a:t>=strict 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- Full table scans are rejected and ORDER BY needs a LIMIT clause.</a:t>
            </a:r>
          </a:p>
          <a:p>
            <a:pPr>
              <a:spcAft>
                <a:spcPts val="600"/>
              </a:spcAft>
            </a:pPr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hive.exec.parallel</a:t>
            </a:r>
            <a:r>
              <a:rPr lang="en-IN" sz="2000" dirty="0">
                <a:solidFill>
                  <a:srgbClr val="FF9300"/>
                </a:solidFill>
                <a:latin typeface="Avenir Roman" panose="02000503020000020003" pitchFamily="2" charset="0"/>
              </a:rPr>
              <a:t>=</a:t>
            </a:r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true|false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 - Whether to execute jobs in parallel.  Applies to MapReduce jobs that can run in parallel.</a:t>
            </a:r>
          </a:p>
          <a:p>
            <a:pPr>
              <a:spcAft>
                <a:spcPts val="600"/>
              </a:spcAft>
            </a:pPr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hive.exec.parallel.thread.number</a:t>
            </a:r>
            <a:r>
              <a:rPr lang="en-IN" sz="2000" dirty="0">
                <a:solidFill>
                  <a:srgbClr val="FF9300"/>
                </a:solidFill>
                <a:latin typeface="Avenir Roman" panose="02000503020000020003" pitchFamily="2" charset="0"/>
              </a:rPr>
              <a:t>=8 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- How many jobs at most can be executed in parallel.</a:t>
            </a:r>
          </a:p>
          <a:p>
            <a:pPr>
              <a:spcAft>
                <a:spcPts val="600"/>
              </a:spcAft>
            </a:pPr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hive.enforce.bucketing</a:t>
            </a:r>
            <a:r>
              <a:rPr lang="en-IN" sz="2000" dirty="0">
                <a:solidFill>
                  <a:srgbClr val="FF9300"/>
                </a:solidFill>
                <a:latin typeface="Avenir Roman" panose="02000503020000020003" pitchFamily="2" charset="0"/>
              </a:rPr>
              <a:t>=true 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- While inserting into the table, bucketing is enforced.</a:t>
            </a:r>
          </a:p>
          <a:p>
            <a:pPr>
              <a:spcAft>
                <a:spcPts val="600"/>
              </a:spcAft>
            </a:pPr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hive.enforce.sorting</a:t>
            </a:r>
            <a:r>
              <a:rPr lang="en-IN" sz="2000" dirty="0">
                <a:solidFill>
                  <a:srgbClr val="FF9300"/>
                </a:solidFill>
                <a:latin typeface="Avenir Roman" panose="02000503020000020003" pitchFamily="2" charset="0"/>
              </a:rPr>
              <a:t>=true 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- while inserting into the table, sorting is enforced.</a:t>
            </a:r>
          </a:p>
          <a:p>
            <a:pPr>
              <a:spcAft>
                <a:spcPts val="600"/>
              </a:spcAft>
            </a:pPr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hive.exec.dynamic.partition</a:t>
            </a:r>
            <a:r>
              <a:rPr lang="en-IN" sz="2000" dirty="0">
                <a:solidFill>
                  <a:srgbClr val="FF9300"/>
                </a:solidFill>
                <a:latin typeface="Avenir Roman" panose="02000503020000020003" pitchFamily="2" charset="0"/>
              </a:rPr>
              <a:t>=true 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– Enable dynamic partitioning. </a:t>
            </a:r>
          </a:p>
          <a:p>
            <a:pPr>
              <a:spcAft>
                <a:spcPts val="600"/>
              </a:spcAft>
            </a:pPr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hive.exec.dynamic.partition.mode</a:t>
            </a:r>
            <a:r>
              <a:rPr lang="en-IN" sz="2000" dirty="0">
                <a:solidFill>
                  <a:srgbClr val="FF9300"/>
                </a:solidFill>
                <a:latin typeface="Avenir Roman" panose="02000503020000020003" pitchFamily="2" charset="0"/>
              </a:rPr>
              <a:t>=strict </a:t>
            </a:r>
          </a:p>
          <a:p>
            <a:pPr>
              <a:spcAft>
                <a:spcPts val="600"/>
              </a:spcAft>
            </a:pPr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hive.exec.mode.local.auto</a:t>
            </a:r>
            <a:r>
              <a:rPr lang="en-IN" sz="2000" dirty="0">
                <a:solidFill>
                  <a:srgbClr val="FF9300"/>
                </a:solidFill>
                <a:latin typeface="Avenir Roman" panose="02000503020000020003" pitchFamily="2" charset="0"/>
              </a:rPr>
              <a:t>=true 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– Whether local mode should be used in SELECT.</a:t>
            </a:r>
          </a:p>
          <a:p>
            <a:pPr>
              <a:spcAft>
                <a:spcPts val="600"/>
              </a:spcAft>
            </a:pPr>
            <a:endParaRPr lang="en-IN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>
              <a:spcAft>
                <a:spcPts val="600"/>
              </a:spcAft>
            </a:pPr>
            <a:endParaRPr lang="en-IN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>
              <a:spcAft>
                <a:spcPts val="600"/>
              </a:spcAft>
            </a:pPr>
            <a:endParaRPr lang="en-IN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>
              <a:spcAft>
                <a:spcPts val="600"/>
              </a:spcAft>
            </a:pPr>
            <a:endParaRPr lang="en-US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4268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Hive Configuration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82098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hive.exec.temporary.table.storage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 - Define the storage policy for temporary tables.</a:t>
            </a:r>
          </a:p>
          <a:p>
            <a:pPr>
              <a:spcAft>
                <a:spcPts val="600"/>
              </a:spcAft>
            </a:pPr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hive.default.serde</a:t>
            </a:r>
            <a:r>
              <a:rPr lang="en-IN" sz="2000" dirty="0">
                <a:solidFill>
                  <a:srgbClr val="FF9300"/>
                </a:solidFill>
                <a:latin typeface="Avenir Roman" panose="02000503020000020003" pitchFamily="2" charset="0"/>
              </a:rPr>
              <a:t>=org.apache.hadoop.hive.serde2.lazy.LazySimpleSerDe 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- The default </a:t>
            </a:r>
            <a:r>
              <a:rPr lang="en-IN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SerDe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 Hive will use for storage formats that do not specify a </a:t>
            </a:r>
            <a:r>
              <a:rPr lang="en-IN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SerDe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 (</a:t>
            </a:r>
            <a:r>
              <a:rPr lang="en-IN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TextFile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, </a:t>
            </a:r>
            <a:r>
              <a:rPr lang="en-IN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RCFile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).</a:t>
            </a:r>
          </a:p>
          <a:p>
            <a:pPr>
              <a:spcAft>
                <a:spcPts val="600"/>
              </a:spcAft>
            </a:pPr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hive.default.fileformat</a:t>
            </a:r>
            <a:r>
              <a:rPr lang="en-IN" sz="2000" dirty="0">
                <a:solidFill>
                  <a:srgbClr val="FF9300"/>
                </a:solidFill>
                <a:latin typeface="Avenir Roman" panose="02000503020000020003" pitchFamily="2" charset="0"/>
              </a:rPr>
              <a:t>=</a:t>
            </a:r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TextFile</a:t>
            </a:r>
            <a:r>
              <a:rPr lang="en-IN" sz="2000" dirty="0">
                <a:solidFill>
                  <a:srgbClr val="FF9300"/>
                </a:solidFill>
                <a:latin typeface="Avenir Roman" panose="02000503020000020003" pitchFamily="2" charset="0"/>
              </a:rPr>
              <a:t> 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- Default file format for CREATE TABLE statement. Options are </a:t>
            </a:r>
            <a:r>
              <a:rPr lang="en-IN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TextFile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, </a:t>
            </a:r>
            <a:r>
              <a:rPr lang="en-IN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SequenceFile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, </a:t>
            </a:r>
            <a:r>
              <a:rPr lang="en-IN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RCfile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, ORC, and Parquet.</a:t>
            </a:r>
          </a:p>
          <a:p>
            <a:pPr>
              <a:spcAft>
                <a:spcPts val="600"/>
              </a:spcAft>
            </a:pPr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hive.metastore.warehouse.dir</a:t>
            </a:r>
            <a:r>
              <a:rPr lang="en-IN" sz="2000" dirty="0">
                <a:solidFill>
                  <a:srgbClr val="FF9300"/>
                </a:solidFill>
                <a:latin typeface="Avenir Roman" panose="02000503020000020003" pitchFamily="2" charset="0"/>
              </a:rPr>
              <a:t>=/user/hive/warehouse 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- Location of default database for the warehouse.</a:t>
            </a:r>
          </a:p>
          <a:p>
            <a:pPr>
              <a:spcAft>
                <a:spcPts val="600"/>
              </a:spcAft>
            </a:pPr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hive.execution.engine</a:t>
            </a:r>
            <a:r>
              <a:rPr lang="en-IN" sz="2000" dirty="0">
                <a:solidFill>
                  <a:srgbClr val="FF9300"/>
                </a:solidFill>
                <a:latin typeface="Avenir Roman" panose="02000503020000020003" pitchFamily="2" charset="0"/>
              </a:rPr>
              <a:t>=</a:t>
            </a:r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mr</a:t>
            </a:r>
            <a:r>
              <a:rPr lang="en-IN" sz="2000" dirty="0">
                <a:solidFill>
                  <a:srgbClr val="FF9300"/>
                </a:solidFill>
                <a:latin typeface="Avenir Roman" panose="02000503020000020003" pitchFamily="2" charset="0"/>
              </a:rPr>
              <a:t> | </a:t>
            </a:r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tez</a:t>
            </a:r>
            <a:r>
              <a:rPr lang="en-IN" sz="2000" dirty="0">
                <a:solidFill>
                  <a:srgbClr val="FF9300"/>
                </a:solidFill>
                <a:latin typeface="Avenir Roman" panose="02000503020000020003" pitchFamily="2" charset="0"/>
              </a:rPr>
              <a:t> | spark</a:t>
            </a:r>
          </a:p>
          <a:p>
            <a:pPr>
              <a:spcAft>
                <a:spcPts val="600"/>
              </a:spcAft>
            </a:pPr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mapred.reduce.tasks</a:t>
            </a:r>
            <a:r>
              <a:rPr lang="en-IN" sz="2000" dirty="0">
                <a:solidFill>
                  <a:srgbClr val="FF9300"/>
                </a:solidFill>
                <a:latin typeface="Avenir Roman" panose="02000503020000020003" pitchFamily="2" charset="0"/>
              </a:rPr>
              <a:t> 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- The default number of reduce tasks per job.</a:t>
            </a:r>
          </a:p>
          <a:p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hive.merge.tezfiles</a:t>
            </a:r>
            <a:r>
              <a:rPr lang="en-IN" sz="2000" dirty="0">
                <a:solidFill>
                  <a:srgbClr val="FF9300"/>
                </a:solidFill>
                <a:latin typeface="Avenir Roman" panose="02000503020000020003" pitchFamily="2" charset="0"/>
              </a:rPr>
              <a:t>=true 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- Merge small files at the end of a </a:t>
            </a:r>
            <a:r>
              <a:rPr lang="en-IN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Tez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 DAG.</a:t>
            </a:r>
            <a:b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</a:br>
            <a:endParaRPr lang="en-IN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>
              <a:spcAft>
                <a:spcPts val="600"/>
              </a:spcAft>
            </a:pPr>
            <a:endParaRPr lang="en-IN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>
              <a:spcAft>
                <a:spcPts val="600"/>
              </a:spcAft>
            </a:pPr>
            <a:endParaRPr lang="en-IN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>
              <a:spcAft>
                <a:spcPts val="600"/>
              </a:spcAft>
            </a:pPr>
            <a:endParaRPr lang="en-US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9528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Hive Configuration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691" y="1849071"/>
            <a:ext cx="11353801" cy="4282098"/>
          </a:xfrm>
        </p:spPr>
        <p:txBody>
          <a:bodyPr>
            <a:noAutofit/>
          </a:bodyPr>
          <a:lstStyle/>
          <a:p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hive.txn.manager</a:t>
            </a:r>
            <a:r>
              <a:rPr lang="en-IN" sz="2000" dirty="0">
                <a:solidFill>
                  <a:srgbClr val="FF9300"/>
                </a:solidFill>
                <a:latin typeface="Avenir Roman" panose="02000503020000020003" pitchFamily="2" charset="0"/>
              </a:rPr>
              <a:t>=</a:t>
            </a:r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org.apache.hadoop.hive.ql.lockmgr.DbTxnManager</a:t>
            </a:r>
            <a:r>
              <a:rPr lang="en-IN" sz="2000" dirty="0">
                <a:solidFill>
                  <a:srgbClr val="FF9300"/>
                </a:solidFill>
                <a:latin typeface="Avenir Roman" panose="02000503020000020003" pitchFamily="2" charset="0"/>
              </a:rPr>
              <a:t> 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- Turns on Hive transactions.</a:t>
            </a:r>
          </a:p>
          <a:p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hive.compactor.initiator.on</a:t>
            </a:r>
            <a:r>
              <a:rPr lang="en-IN" sz="2000" dirty="0">
                <a:solidFill>
                  <a:srgbClr val="FF9300"/>
                </a:solidFill>
                <a:latin typeface="Avenir Roman" panose="02000503020000020003" pitchFamily="2" charset="0"/>
              </a:rPr>
              <a:t>=true</a:t>
            </a:r>
          </a:p>
          <a:p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hive.compactor.cleaner.on</a:t>
            </a:r>
            <a:r>
              <a:rPr lang="en-IN" sz="2000" dirty="0">
                <a:solidFill>
                  <a:srgbClr val="FF9300"/>
                </a:solidFill>
                <a:latin typeface="Avenir Roman" panose="02000503020000020003" pitchFamily="2" charset="0"/>
              </a:rPr>
              <a:t>=true</a:t>
            </a:r>
          </a:p>
          <a:p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hive.compactor.worker.threads</a:t>
            </a:r>
            <a:r>
              <a:rPr lang="en-IN" sz="2000" dirty="0">
                <a:solidFill>
                  <a:srgbClr val="FF9300"/>
                </a:solidFill>
                <a:latin typeface="Avenir Roman" panose="02000503020000020003" pitchFamily="2" charset="0"/>
              </a:rPr>
              <a:t>=4 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- How many compactor worker threads to run on this </a:t>
            </a:r>
            <a:r>
              <a:rPr lang="en-IN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metastore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 instance.</a:t>
            </a:r>
          </a:p>
          <a:p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hive.support.concurrency</a:t>
            </a:r>
            <a:r>
              <a:rPr lang="en-IN" sz="2000" dirty="0">
                <a:solidFill>
                  <a:srgbClr val="FF9300"/>
                </a:solidFill>
                <a:latin typeface="Avenir Roman" panose="02000503020000020003" pitchFamily="2" charset="0"/>
              </a:rPr>
              <a:t>=true 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- Whether Hive supports concurrency or not. A ZooKeeper instance must be up and running for the default Hive lock manager to support read-write locks.</a:t>
            </a:r>
          </a:p>
          <a:p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hive.enforce.bucketing</a:t>
            </a:r>
            <a:r>
              <a:rPr lang="en-IN" sz="2000" dirty="0">
                <a:solidFill>
                  <a:srgbClr val="FF9300"/>
                </a:solidFill>
                <a:latin typeface="Avenir Roman" panose="02000503020000020003" pitchFamily="2" charset="0"/>
              </a:rPr>
              <a:t>=true </a:t>
            </a:r>
          </a:p>
          <a:p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hive.exec.dynamic.partition.mode</a:t>
            </a:r>
            <a:r>
              <a:rPr lang="en-IN" sz="2000" dirty="0">
                <a:solidFill>
                  <a:srgbClr val="FF9300"/>
                </a:solidFill>
                <a:latin typeface="Avenir Roman" panose="02000503020000020003" pitchFamily="2" charset="0"/>
              </a:rPr>
              <a:t>=</a:t>
            </a:r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nonstrict</a:t>
            </a:r>
            <a:endParaRPr lang="en-IN" sz="2000" dirty="0">
              <a:solidFill>
                <a:srgbClr val="FF9300"/>
              </a:solidFill>
              <a:latin typeface="Avenir Roman" panose="02000503020000020003" pitchFamily="2" charset="0"/>
            </a:endParaRPr>
          </a:p>
          <a:p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hive.lock.manager</a:t>
            </a:r>
            <a:r>
              <a:rPr lang="en-IN" sz="2000" dirty="0">
                <a:solidFill>
                  <a:srgbClr val="FF9300"/>
                </a:solidFill>
                <a:latin typeface="Avenir Roman" panose="02000503020000020003" pitchFamily="2" charset="0"/>
              </a:rPr>
              <a:t>=org.apache.hadoop.hive.ql.lockmgr.zookeeper.ZooKeeperHiveLockManager</a:t>
            </a:r>
          </a:p>
          <a:p>
            <a:pPr>
              <a:spcAft>
                <a:spcPts val="600"/>
              </a:spcAft>
            </a:pPr>
            <a:endParaRPr lang="en-IN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>
              <a:spcAft>
                <a:spcPts val="600"/>
              </a:spcAft>
            </a:pPr>
            <a:endParaRPr lang="en-IN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>
              <a:spcAft>
                <a:spcPts val="600"/>
              </a:spcAft>
            </a:pPr>
            <a:endParaRPr lang="en-US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9310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Hive Configuration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691" y="1849071"/>
            <a:ext cx="11353801" cy="4282098"/>
          </a:xfrm>
        </p:spPr>
        <p:txBody>
          <a:bodyPr>
            <a:noAutofit/>
          </a:bodyPr>
          <a:lstStyle/>
          <a:p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hive.hwi.war.file</a:t>
            </a:r>
            <a:endParaRPr lang="en-IN" sz="2000" dirty="0">
              <a:solidFill>
                <a:srgbClr val="FF9300"/>
              </a:solidFill>
              <a:latin typeface="Avenir Roman" panose="02000503020000020003" pitchFamily="2" charset="0"/>
            </a:endParaRPr>
          </a:p>
          <a:p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hive.hwi.listen.host</a:t>
            </a:r>
            <a:endParaRPr lang="en-IN" sz="2000" dirty="0">
              <a:solidFill>
                <a:srgbClr val="FF9300"/>
              </a:solidFill>
              <a:latin typeface="Avenir Roman" panose="02000503020000020003" pitchFamily="2" charset="0"/>
            </a:endParaRPr>
          </a:p>
          <a:p>
            <a:r>
              <a:rPr lang="en-IN" sz="2000" dirty="0" err="1">
                <a:solidFill>
                  <a:srgbClr val="FF9300"/>
                </a:solidFill>
                <a:latin typeface="Avenir Roman" panose="02000503020000020003" pitchFamily="2" charset="0"/>
              </a:rPr>
              <a:t>hive.hwi.listen.port</a:t>
            </a:r>
            <a:b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</a:br>
            <a:endParaRPr lang="en-IN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>
              <a:spcAft>
                <a:spcPts val="600"/>
              </a:spcAft>
            </a:pP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File where configuration parameters are stored – hive-</a:t>
            </a:r>
            <a:r>
              <a:rPr lang="en-IN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site.xml</a:t>
            </a:r>
            <a:endParaRPr lang="en-IN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>
              <a:spcAft>
                <a:spcPts val="600"/>
              </a:spcAft>
            </a:pPr>
            <a:endParaRPr lang="en-IN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>
              <a:spcAft>
                <a:spcPts val="600"/>
              </a:spcAft>
            </a:pPr>
            <a:endParaRPr lang="en-US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34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Configuration on EMR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70231" cy="43513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By supplying configuration object (JSON file).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Classification and properties.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Classification maps to application specific configuration file. </a:t>
            </a:r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“hive-site” classification maps to “hive-</a:t>
            </a:r>
            <a:r>
              <a:rPr lang="en-US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site.xml</a:t>
            </a:r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” configuration file.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A5A64D-69BE-7B42-BAC4-051BF0DF4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90688"/>
            <a:ext cx="5697415" cy="403061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1C46A8A-A9BE-4F49-B7EC-246A9CF33F0C}"/>
              </a:ext>
            </a:extLst>
          </p:cNvPr>
          <p:cNvSpPr/>
          <p:nvPr/>
        </p:nvSpPr>
        <p:spPr>
          <a:xfrm>
            <a:off x="6482862" y="3622431"/>
            <a:ext cx="3247292" cy="3788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E93784-D4A7-5448-BEF1-EFBE52CE5AEF}"/>
              </a:ext>
            </a:extLst>
          </p:cNvPr>
          <p:cNvSpPr/>
          <p:nvPr/>
        </p:nvSpPr>
        <p:spPr>
          <a:xfrm>
            <a:off x="6778137" y="4241389"/>
            <a:ext cx="4737588" cy="7020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622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EXPLAIN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91863" cy="43513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2400" dirty="0">
                <a:solidFill>
                  <a:schemeClr val="bg1"/>
                </a:solidFill>
                <a:latin typeface="Avenir Roman" panose="02000503020000020003" pitchFamily="2" charset="0"/>
              </a:rPr>
              <a:t>Check how Hive will execute a query.</a:t>
            </a:r>
          </a:p>
          <a:p>
            <a:pPr>
              <a:spcAft>
                <a:spcPts val="600"/>
              </a:spcAft>
            </a:pPr>
            <a:r>
              <a:rPr lang="en-IN" sz="2400" dirty="0">
                <a:solidFill>
                  <a:schemeClr val="bg1"/>
                </a:solidFill>
                <a:latin typeface="Avenir Roman" panose="02000503020000020003" pitchFamily="2" charset="0"/>
              </a:rPr>
              <a:t>EXPLAIN [EXTENDED | CBO | AST | DEPENDENCY | AUTHORIZATION | LOCKS | VECTORIZATION | ANALYZE] &lt;query&gt;</a:t>
            </a:r>
          </a:p>
          <a:p>
            <a:pPr>
              <a:spcAft>
                <a:spcPts val="600"/>
              </a:spcAft>
            </a:pPr>
            <a:r>
              <a:rPr lang="en-IN" sz="2400" dirty="0">
                <a:solidFill>
                  <a:schemeClr val="bg1"/>
                </a:solidFill>
                <a:latin typeface="Avenir Roman" panose="02000503020000020003" pitchFamily="2" charset="0"/>
              </a:rPr>
              <a:t>Query gets converted into a sequence of stages. </a:t>
            </a:r>
          </a:p>
          <a:p>
            <a:pPr lvl="1">
              <a:spcAft>
                <a:spcPts val="600"/>
              </a:spcAft>
            </a:pP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Map/Reduce stages</a:t>
            </a:r>
          </a:p>
          <a:p>
            <a:pPr lvl="1">
              <a:spcAft>
                <a:spcPts val="600"/>
              </a:spcAft>
            </a:pPr>
            <a:r>
              <a:rPr lang="en-IN" sz="2000" dirty="0" err="1">
                <a:solidFill>
                  <a:schemeClr val="bg1"/>
                </a:solidFill>
                <a:latin typeface="Avenir Roman" panose="02000503020000020003" pitchFamily="2" charset="0"/>
              </a:rPr>
              <a:t>Metastore</a:t>
            </a: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 operations</a:t>
            </a:r>
          </a:p>
          <a:p>
            <a:pPr lvl="1">
              <a:spcAft>
                <a:spcPts val="600"/>
              </a:spcAft>
            </a:pPr>
            <a:r>
              <a:rPr lang="en-IN" sz="2000" dirty="0">
                <a:solidFill>
                  <a:schemeClr val="bg1"/>
                </a:solidFill>
                <a:latin typeface="Avenir Roman" panose="02000503020000020003" pitchFamily="2" charset="0"/>
              </a:rPr>
              <a:t>Filesystem operations</a:t>
            </a:r>
          </a:p>
          <a:p>
            <a:pPr>
              <a:spcAft>
                <a:spcPts val="600"/>
              </a:spcAft>
            </a:pPr>
            <a:r>
              <a:rPr lang="en-IN" sz="2400" dirty="0">
                <a:solidFill>
                  <a:schemeClr val="bg1"/>
                </a:solidFill>
                <a:latin typeface="Avenir Roman" panose="02000503020000020003" pitchFamily="2" charset="0"/>
              </a:rPr>
              <a:t>There are dependencies between different stages of the plan. </a:t>
            </a:r>
          </a:p>
        </p:txBody>
      </p:sp>
    </p:spTree>
    <p:extLst>
      <p:ext uri="{BB962C8B-B14F-4D97-AF65-F5344CB8AC3E}">
        <p14:creationId xmlns:p14="http://schemas.microsoft.com/office/powerpoint/2010/main" val="2544498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Lock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91863" cy="43513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sz="2400" dirty="0">
                <a:solidFill>
                  <a:schemeClr val="bg1"/>
                </a:solidFill>
                <a:latin typeface="Avenir Roman" panose="02000503020000020003" pitchFamily="2" charset="0"/>
              </a:rPr>
              <a:t>Shared – While reading</a:t>
            </a:r>
          </a:p>
          <a:p>
            <a:pPr>
              <a:spcAft>
                <a:spcPts val="600"/>
              </a:spcAft>
            </a:pPr>
            <a:r>
              <a:rPr lang="en-IN" sz="2400" dirty="0">
                <a:solidFill>
                  <a:schemeClr val="bg1"/>
                </a:solidFill>
                <a:latin typeface="Avenir Roman" panose="02000503020000020003" pitchFamily="2" charset="0"/>
              </a:rPr>
              <a:t>Exclusive – All other operations</a:t>
            </a:r>
          </a:p>
          <a:p>
            <a:pPr lvl="1">
              <a:spcAft>
                <a:spcPts val="600"/>
              </a:spcAft>
            </a:pPr>
            <a:endParaRPr lang="en-IN" sz="2000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9567B8-F618-4344-B391-E8132BB89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672" y="480646"/>
            <a:ext cx="6253390" cy="59670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D6498D-A528-804B-99B4-B909ABEE9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862" y="3092277"/>
            <a:ext cx="4379913" cy="308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798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Storage Handlers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6275" y="1825625"/>
            <a:ext cx="7215188" cy="43513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Used to connect to NoSQL databases like HBase, Cassandra, DynamoDB etc.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STORED BY </a:t>
            </a:r>
            <a:r>
              <a:rPr lang="en-US" sz="2400" dirty="0" err="1">
                <a:solidFill>
                  <a:schemeClr val="bg1"/>
                </a:solidFill>
                <a:latin typeface="Avenir Roman" panose="02000503020000020003" pitchFamily="2" charset="0"/>
              </a:rPr>
              <a:t>HBaseStorageHandler</a:t>
            </a: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. TBLPROPERTIES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External Table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STORED BY </a:t>
            </a:r>
            <a:r>
              <a:rPr lang="en-US" sz="2400" dirty="0" err="1">
                <a:solidFill>
                  <a:schemeClr val="bg1"/>
                </a:solidFill>
                <a:latin typeface="Avenir Roman" panose="02000503020000020003" pitchFamily="2" charset="0"/>
              </a:rPr>
              <a:t>CassandraStorageHandler</a:t>
            </a:r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. SERDEPROPERTIES (column mappings).</a:t>
            </a:r>
          </a:p>
          <a:p>
            <a:pPr>
              <a:spcAft>
                <a:spcPts val="600"/>
              </a:spcAft>
            </a:pPr>
            <a:r>
              <a:rPr lang="en-IN" sz="2400" dirty="0">
                <a:solidFill>
                  <a:schemeClr val="bg1"/>
                </a:solidFill>
                <a:latin typeface="Avenir Roman" panose="02000503020000020003" pitchFamily="2" charset="0"/>
              </a:rPr>
              <a:t>STORED BY </a:t>
            </a:r>
            <a:r>
              <a:rPr lang="en-IN" sz="2400" dirty="0" err="1">
                <a:solidFill>
                  <a:schemeClr val="bg1"/>
                </a:solidFill>
                <a:latin typeface="Avenir Roman" panose="02000503020000020003" pitchFamily="2" charset="0"/>
              </a:rPr>
              <a:t>DynamoDBStorageHandler</a:t>
            </a:r>
            <a:r>
              <a:rPr lang="en-IN" sz="2400" dirty="0">
                <a:solidFill>
                  <a:schemeClr val="bg1"/>
                </a:solidFill>
                <a:latin typeface="Avenir Roman" panose="02000503020000020003" pitchFamily="2" charset="0"/>
              </a:rPr>
              <a:t>. Column mapping is done is TBLPROPERTIES.</a:t>
            </a:r>
            <a:endParaRPr lang="en-US" sz="2400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>
              <a:spcAft>
                <a:spcPts val="600"/>
              </a:spcAft>
            </a:pPr>
            <a:endParaRPr lang="en-US" sz="2400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0300E0-37F6-CA46-91FA-FB2E3637D8D8}"/>
              </a:ext>
            </a:extLst>
          </p:cNvPr>
          <p:cNvSpPr/>
          <p:nvPr/>
        </p:nvSpPr>
        <p:spPr>
          <a:xfrm>
            <a:off x="838200" y="1482716"/>
            <a:ext cx="3162300" cy="287497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err="1">
                <a:latin typeface="Avenir Roman" panose="02000503020000020003" pitchFamily="2" charset="0"/>
              </a:rPr>
              <a:t>HiveStorageHandler</a:t>
            </a:r>
            <a:endParaRPr lang="en-US" dirty="0">
              <a:latin typeface="Avenir Roman" panose="02000503020000020003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3CF461-25B7-2B40-9F30-AC90A263D55A}"/>
              </a:ext>
            </a:extLst>
          </p:cNvPr>
          <p:cNvSpPr/>
          <p:nvPr/>
        </p:nvSpPr>
        <p:spPr>
          <a:xfrm>
            <a:off x="1138232" y="2043103"/>
            <a:ext cx="2557463" cy="557213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Custom </a:t>
            </a:r>
            <a:r>
              <a:rPr lang="en-US" dirty="0" err="1">
                <a:latin typeface="Avenir Roman" panose="02000503020000020003" pitchFamily="2" charset="0"/>
              </a:rPr>
              <a:t>InputFormat</a:t>
            </a:r>
            <a:endParaRPr lang="en-US" dirty="0">
              <a:latin typeface="Avenir Roman" panose="02000503020000020003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E12C16-0B11-EB41-BC54-0080F50ACF7F}"/>
              </a:ext>
            </a:extLst>
          </p:cNvPr>
          <p:cNvSpPr/>
          <p:nvPr/>
        </p:nvSpPr>
        <p:spPr>
          <a:xfrm>
            <a:off x="1140616" y="2789228"/>
            <a:ext cx="2557463" cy="557213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Custom </a:t>
            </a:r>
            <a:r>
              <a:rPr lang="en-US" dirty="0" err="1">
                <a:latin typeface="Avenir Roman" panose="02000503020000020003" pitchFamily="2" charset="0"/>
              </a:rPr>
              <a:t>SerDe</a:t>
            </a:r>
            <a:endParaRPr lang="en-US" dirty="0">
              <a:latin typeface="Avenir Roman" panose="02000503020000020003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9CAFD2-04FF-6140-A48C-72F4FCDA98BE}"/>
              </a:ext>
            </a:extLst>
          </p:cNvPr>
          <p:cNvSpPr/>
          <p:nvPr/>
        </p:nvSpPr>
        <p:spPr>
          <a:xfrm>
            <a:off x="1140616" y="3535353"/>
            <a:ext cx="2557463" cy="557213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Custom </a:t>
            </a:r>
            <a:r>
              <a:rPr lang="en-US" dirty="0" err="1">
                <a:latin typeface="Avenir Roman" panose="02000503020000020003" pitchFamily="2" charset="0"/>
              </a:rPr>
              <a:t>OutputFormat</a:t>
            </a:r>
            <a:endParaRPr lang="en-US" dirty="0">
              <a:latin typeface="Avenir Roman" panose="02000503020000020003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2C2F3B-DB36-484E-B9E1-4CBA426AC475}"/>
              </a:ext>
            </a:extLst>
          </p:cNvPr>
          <p:cNvSpPr/>
          <p:nvPr/>
        </p:nvSpPr>
        <p:spPr>
          <a:xfrm>
            <a:off x="1138231" y="4679160"/>
            <a:ext cx="2557463" cy="777068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NoSQL database storage system</a:t>
            </a:r>
          </a:p>
        </p:txBody>
      </p:sp>
      <p:sp>
        <p:nvSpPr>
          <p:cNvPr id="9" name="Can 8">
            <a:extLst>
              <a:ext uri="{FF2B5EF4-FFF2-40B4-BE49-F238E27FC236}">
                <a16:creationId xmlns:a16="http://schemas.microsoft.com/office/drawing/2014/main" id="{67A01300-B662-6E4F-A127-8B1A6BA2AA24}"/>
              </a:ext>
            </a:extLst>
          </p:cNvPr>
          <p:cNvSpPr/>
          <p:nvPr/>
        </p:nvSpPr>
        <p:spPr>
          <a:xfrm>
            <a:off x="1183468" y="5876925"/>
            <a:ext cx="2512226" cy="600075"/>
          </a:xfrm>
          <a:prstGeom prst="can">
            <a:avLst>
              <a:gd name="adj" fmla="val 25000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NoSQL database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4534DA7-667E-1D4B-8709-0C46692F3014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flipH="1">
            <a:off x="2416963" y="4357688"/>
            <a:ext cx="2387" cy="321472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4BA4A8C-4055-A14E-8956-29C9B0F67DF2}"/>
              </a:ext>
            </a:extLst>
          </p:cNvPr>
          <p:cNvCxnSpPr>
            <a:cxnSpLocks/>
          </p:cNvCxnSpPr>
          <p:nvPr/>
        </p:nvCxnSpPr>
        <p:spPr>
          <a:xfrm flipH="1">
            <a:off x="2414575" y="5475279"/>
            <a:ext cx="2387" cy="321472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5050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Hive Integrations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HBase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Cassandra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DynamoDB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Druid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Kudu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Spark</a:t>
            </a:r>
          </a:p>
        </p:txBody>
      </p:sp>
    </p:spTree>
    <p:extLst>
      <p:ext uri="{BB962C8B-B14F-4D97-AF65-F5344CB8AC3E}">
        <p14:creationId xmlns:p14="http://schemas.microsoft.com/office/powerpoint/2010/main" val="16396215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50" y="267970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59474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3451</TotalTime>
  <Words>3236</Words>
  <Application>Microsoft Macintosh PowerPoint</Application>
  <PresentationFormat>Widescreen</PresentationFormat>
  <Paragraphs>511</Paragraphs>
  <Slides>52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Arial</vt:lpstr>
      <vt:lpstr>Avenir Roman</vt:lpstr>
      <vt:lpstr>Calibri</vt:lpstr>
      <vt:lpstr>Calibri Light</vt:lpstr>
      <vt:lpstr>Courier New</vt:lpstr>
      <vt:lpstr>Office Theme</vt:lpstr>
      <vt:lpstr>Hive</vt:lpstr>
      <vt:lpstr>Agenda</vt:lpstr>
      <vt:lpstr>Agenda</vt:lpstr>
      <vt:lpstr>Introduction</vt:lpstr>
      <vt:lpstr>Introduction</vt:lpstr>
      <vt:lpstr>Tez</vt:lpstr>
      <vt:lpstr>Tez</vt:lpstr>
      <vt:lpstr>Hive Architecture</vt:lpstr>
      <vt:lpstr>Hive Components</vt:lpstr>
      <vt:lpstr>Hive Metastore (HMS)</vt:lpstr>
      <vt:lpstr>Hive Metastore (HMS)</vt:lpstr>
      <vt:lpstr>Schema on Read</vt:lpstr>
      <vt:lpstr>Hive CLI on EMR</vt:lpstr>
      <vt:lpstr>Data Types</vt:lpstr>
      <vt:lpstr>Data Types</vt:lpstr>
      <vt:lpstr>Databases &amp; Tables </vt:lpstr>
      <vt:lpstr>File/Storage Format</vt:lpstr>
      <vt:lpstr>File/Storage Format</vt:lpstr>
      <vt:lpstr>Record/Row Format (SerDe)</vt:lpstr>
      <vt:lpstr>Record/Row Format (SerDe)</vt:lpstr>
      <vt:lpstr>Record/Row Format (SerDe)</vt:lpstr>
      <vt:lpstr>Create Table</vt:lpstr>
      <vt:lpstr>Hive Write Path – Service view</vt:lpstr>
      <vt:lpstr>Hive Read Path – Service view</vt:lpstr>
      <vt:lpstr>Hive hands-on </vt:lpstr>
      <vt:lpstr>Table Partitioning</vt:lpstr>
      <vt:lpstr>Table Partitioning – Managed Tables</vt:lpstr>
      <vt:lpstr>Table Partitioning – External Tables</vt:lpstr>
      <vt:lpstr>Table Partitioning - Static</vt:lpstr>
      <vt:lpstr>Table Partitioning - Dynamic</vt:lpstr>
      <vt:lpstr>Table Partitioning - Dynamic</vt:lpstr>
      <vt:lpstr>Bucketing</vt:lpstr>
      <vt:lpstr>Bucketing</vt:lpstr>
      <vt:lpstr>Partitioning &amp; Bucketing hands-on </vt:lpstr>
      <vt:lpstr>LOAD</vt:lpstr>
      <vt:lpstr>INSERT</vt:lpstr>
      <vt:lpstr>SELECT</vt:lpstr>
      <vt:lpstr>ACID Transactions - UPDATE, DELETE</vt:lpstr>
      <vt:lpstr>ACID Transactions, UPDATE, DELETE</vt:lpstr>
      <vt:lpstr>Materialized View</vt:lpstr>
      <vt:lpstr>Index</vt:lpstr>
      <vt:lpstr>JOINs</vt:lpstr>
      <vt:lpstr>Hive Configuration Parameters</vt:lpstr>
      <vt:lpstr>Hive Configuration Parameters</vt:lpstr>
      <vt:lpstr>Hive Configuration Parameters</vt:lpstr>
      <vt:lpstr>Hive Configuration Parameters</vt:lpstr>
      <vt:lpstr>Configuration on EMR</vt:lpstr>
      <vt:lpstr>EXPLAIN Statement</vt:lpstr>
      <vt:lpstr>Lock Modes</vt:lpstr>
      <vt:lpstr>Storage Handlers</vt:lpstr>
      <vt:lpstr>Hive Integrations</vt:lpstr>
      <vt:lpstr>Thank You!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Engineering Foundation</dc:title>
  <dc:creator>Soumyadeep Dey</dc:creator>
  <cp:lastModifiedBy>Soumyadeep Dey</cp:lastModifiedBy>
  <cp:revision>200</cp:revision>
  <dcterms:created xsi:type="dcterms:W3CDTF">2023-08-18T15:58:59Z</dcterms:created>
  <dcterms:modified xsi:type="dcterms:W3CDTF">2023-09-05T18:26:59Z</dcterms:modified>
</cp:coreProperties>
</file>